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8288000" cy="10287000"/>
  <p:notesSz cx="6858000" cy="9144000"/>
  <p:embeddedFontLst>
    <p:embeddedFont>
      <p:font typeface="Arial Bold" panose="020B0704020202020204" pitchFamily="34" charset="0"/>
      <p:regular r:id="rId34"/>
      <p:bold r:id="rId35"/>
    </p:embeddedFont>
    <p:embeddedFont>
      <p:font typeface="Arial Bold Italics" panose="020B0604020202020204" charset="0"/>
      <p:regular r:id="rId36"/>
      <p:bold r:id="rId37"/>
      <p:italic r:id="rId38"/>
      <p:boldItalic r:id="rId39"/>
    </p:embeddedFont>
    <p:embeddedFont>
      <p:font typeface="Arial Italics" panose="020B0604020202020204" charset="0"/>
      <p:regular r:id="rId40"/>
      <p: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57" autoAdjust="0"/>
  </p:normalViewPr>
  <p:slideViewPr>
    <p:cSldViewPr>
      <p:cViewPr varScale="1">
        <p:scale>
          <a:sx n="70" d="100"/>
          <a:sy n="70" d="100"/>
        </p:scale>
        <p:origin x="74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2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069" y="831813"/>
            <a:ext cx="18301840" cy="3694891"/>
            <a:chOff x="0" y="0"/>
            <a:chExt cx="24402453" cy="4926522"/>
          </a:xfrm>
        </p:grpSpPr>
        <p:sp>
          <p:nvSpPr>
            <p:cNvPr id="3" name="Freeform 3" descr="/mnt/data/Бланка проект_Образование без граници 2025_2026.docx_image2.png"/>
            <p:cNvSpPr/>
            <p:nvPr/>
          </p:nvSpPr>
          <p:spPr>
            <a:xfrm>
              <a:off x="0" y="0"/>
              <a:ext cx="24402414" cy="4926488"/>
            </a:xfrm>
            <a:custGeom>
              <a:avLst/>
              <a:gdLst/>
              <a:ahLst/>
              <a:cxnLst/>
              <a:rect l="l" t="t" r="r" b="b"/>
              <a:pathLst>
                <a:path w="24402414" h="4926488">
                  <a:moveTo>
                    <a:pt x="0" y="0"/>
                  </a:moveTo>
                  <a:lnTo>
                    <a:pt x="24402414" y="0"/>
                  </a:lnTo>
                  <a:lnTo>
                    <a:pt x="24402414" y="4926488"/>
                  </a:lnTo>
                  <a:lnTo>
                    <a:pt x="0" y="4926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2430" r="-1" b="-32431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535" y="4655587"/>
            <a:ext cx="18320909" cy="5648996"/>
            <a:chOff x="0" y="0"/>
            <a:chExt cx="24427878" cy="753199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27814" cy="7531960"/>
            </a:xfrm>
            <a:custGeom>
              <a:avLst/>
              <a:gdLst/>
              <a:ahLst/>
              <a:cxnLst/>
              <a:rect l="l" t="t" r="r" b="b"/>
              <a:pathLst>
                <a:path w="24427814" h="7531960">
                  <a:moveTo>
                    <a:pt x="0" y="0"/>
                  </a:moveTo>
                  <a:lnTo>
                    <a:pt x="24427814" y="0"/>
                  </a:lnTo>
                  <a:lnTo>
                    <a:pt x="24427814" y="7531960"/>
                  </a:lnTo>
                  <a:lnTo>
                    <a:pt x="0" y="7531960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4526704"/>
            <a:ext cx="18320909" cy="128883"/>
            <a:chOff x="0" y="0"/>
            <a:chExt cx="24427878" cy="1718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27814" cy="171831"/>
            </a:xfrm>
            <a:custGeom>
              <a:avLst/>
              <a:gdLst/>
              <a:ahLst/>
              <a:cxnLst/>
              <a:rect l="l" t="t" r="r" b="b"/>
              <a:pathLst>
                <a:path w="24427814" h="171831">
                  <a:moveTo>
                    <a:pt x="0" y="0"/>
                  </a:moveTo>
                  <a:lnTo>
                    <a:pt x="24427814" y="0"/>
                  </a:lnTo>
                  <a:lnTo>
                    <a:pt x="24427814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2235" y="4831804"/>
            <a:ext cx="10295039" cy="823608"/>
            <a:chOff x="0" y="0"/>
            <a:chExt cx="13726719" cy="10981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26723" cy="1098138"/>
            </a:xfrm>
            <a:custGeom>
              <a:avLst/>
              <a:gdLst/>
              <a:ahLst/>
              <a:cxnLst/>
              <a:rect l="l" t="t" r="r" b="b"/>
              <a:pathLst>
                <a:path w="13726723" h="1098138">
                  <a:moveTo>
                    <a:pt x="0" y="0"/>
                  </a:moveTo>
                  <a:lnTo>
                    <a:pt x="13726723" y="0"/>
                  </a:lnTo>
                  <a:lnTo>
                    <a:pt x="13726723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93562" b="-1935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3726719" cy="11171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565"/>
                </a:lnSpc>
              </a:pPr>
              <a:r>
                <a:rPr lang="en-US" sz="630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ОТЧЕТНА СРЕЩА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3421" y="5960212"/>
            <a:ext cx="16334804" cy="1511322"/>
            <a:chOff x="0" y="0"/>
            <a:chExt cx="21779738" cy="20150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79736" cy="2015099"/>
            </a:xfrm>
            <a:custGeom>
              <a:avLst/>
              <a:gdLst/>
              <a:ahLst/>
              <a:cxnLst/>
              <a:rect l="l" t="t" r="r" b="b"/>
              <a:pathLst>
                <a:path w="21779736" h="2015099">
                  <a:moveTo>
                    <a:pt x="0" y="0"/>
                  </a:moveTo>
                  <a:lnTo>
                    <a:pt x="21779736" y="0"/>
                  </a:lnTo>
                  <a:lnTo>
                    <a:pt x="21779736" y="2015099"/>
                  </a:lnTo>
                  <a:lnTo>
                    <a:pt x="0" y="201509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81081" b="-14011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21779738" cy="20436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3"/>
                </a:lnSpc>
              </a:pPr>
              <a:r>
                <a:rPr lang="en-US" sz="3602" b="1" i="1">
                  <a:solidFill>
                    <a:srgbClr val="DCEBFF"/>
                  </a:solidFill>
                  <a:latin typeface="Arial Bold Italics"/>
                  <a:ea typeface="Arial Bold Italics"/>
                  <a:cs typeface="Arial Bold Italics"/>
                  <a:sym typeface="Arial Bold Italics"/>
                </a:rPr>
                <a:t>„Образование без граници – стратегии и умения за учители на новото време“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3887" y="7471534"/>
            <a:ext cx="6607893" cy="705402"/>
            <a:chOff x="0" y="0"/>
            <a:chExt cx="8810523" cy="940537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10498" cy="940562"/>
            </a:xfrm>
            <a:custGeom>
              <a:avLst/>
              <a:gdLst/>
              <a:ahLst/>
              <a:cxnLst/>
              <a:rect l="l" t="t" r="r" b="b"/>
              <a:pathLst>
                <a:path w="8810498" h="940562">
                  <a:moveTo>
                    <a:pt x="0" y="0"/>
                  </a:moveTo>
                  <a:lnTo>
                    <a:pt x="8810498" y="0"/>
                  </a:lnTo>
                  <a:lnTo>
                    <a:pt x="8810498" y="940562"/>
                  </a:lnTo>
                  <a:lnTo>
                    <a:pt x="0" y="940562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0500" y="7659510"/>
            <a:ext cx="6108392" cy="219627"/>
            <a:chOff x="0" y="0"/>
            <a:chExt cx="8144523" cy="29283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44523" cy="292837"/>
            </a:xfrm>
            <a:custGeom>
              <a:avLst/>
              <a:gdLst/>
              <a:ahLst/>
              <a:cxnLst/>
              <a:rect l="l" t="t" r="r" b="b"/>
              <a:pathLst>
                <a:path w="8144523" h="292837">
                  <a:moveTo>
                    <a:pt x="0" y="0"/>
                  </a:moveTo>
                  <a:lnTo>
                    <a:pt x="8144523" y="0"/>
                  </a:lnTo>
                  <a:lnTo>
                    <a:pt x="8144523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91927" b="-49192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28575"/>
              <a:ext cx="8144523" cy="3214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ПРОЕКТ 2025-1-BG01-KA121-SCH-000334641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3421" y="8812559"/>
            <a:ext cx="13314921" cy="329441"/>
            <a:chOff x="0" y="0"/>
            <a:chExt cx="17753228" cy="4392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753230" cy="439255"/>
            </a:xfrm>
            <a:custGeom>
              <a:avLst/>
              <a:gdLst/>
              <a:ahLst/>
              <a:cxnLst/>
              <a:rect l="l" t="t" r="r" b="b"/>
              <a:pathLst>
                <a:path w="17753230" h="439255">
                  <a:moveTo>
                    <a:pt x="0" y="0"/>
                  </a:moveTo>
                  <a:lnTo>
                    <a:pt x="17753230" y="0"/>
                  </a:lnTo>
                  <a:lnTo>
                    <a:pt x="17753230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37520" b="-73752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17753228" cy="44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1"/>
                </a:lnSpc>
              </a:pPr>
              <a:r>
                <a:rPr lang="en-US" sz="2026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Програма „Еразъм+“, КД1 – „Образователна мобилност на граждани“ · сектор „Училищно образование“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-9535" y="0"/>
            <a:ext cx="18297535" cy="1886931"/>
          </a:xfrm>
          <a:custGeom>
            <a:avLst/>
            <a:gdLst/>
            <a:ahLst/>
            <a:cxnLst/>
            <a:rect l="l" t="t" r="r" b="b"/>
            <a:pathLst>
              <a:path w="18297535" h="1886931">
                <a:moveTo>
                  <a:pt x="0" y="0"/>
                </a:moveTo>
                <a:lnTo>
                  <a:pt x="18297535" y="0"/>
                </a:lnTo>
                <a:lnTo>
                  <a:pt x="18297535" y="1886931"/>
                </a:lnTo>
                <a:lnTo>
                  <a:pt x="0" y="18869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19800" b="-103230"/>
            </a:stretch>
          </a:blipFill>
        </p:spPr>
        <p:txBody>
          <a:bodyPr/>
          <a:lstStyle/>
          <a:p>
            <a:endParaRPr lang="en-BG"/>
          </a:p>
        </p:txBody>
      </p:sp>
      <p:sp>
        <p:nvSpPr>
          <p:cNvPr id="23" name="TextBox 23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5989" y="240491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66765" y="2647801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КРАТКО ПРЕДСТАВЯНЕ НА ПРОЕКТА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66765" y="3398861"/>
            <a:ext cx="15648470" cy="1536370"/>
            <a:chOff x="0" y="0"/>
            <a:chExt cx="20864627" cy="204849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864621" cy="2048495"/>
            </a:xfrm>
            <a:custGeom>
              <a:avLst/>
              <a:gdLst/>
              <a:ahLst/>
              <a:cxnLst/>
              <a:rect l="l" t="t" r="r" b="b"/>
              <a:pathLst>
                <a:path w="20864621" h="2048495">
                  <a:moveTo>
                    <a:pt x="0" y="0"/>
                  </a:moveTo>
                  <a:lnTo>
                    <a:pt x="20864621" y="0"/>
                  </a:lnTo>
                  <a:lnTo>
                    <a:pt x="20864621" y="2048495"/>
                  </a:lnTo>
                  <a:lnTo>
                    <a:pt x="0" y="20484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9424" b="-1274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864627" cy="206754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2"/>
                </a:lnSpc>
              </a:pPr>
              <a:r>
                <a:rPr lang="en-US" sz="3002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Проектът е насочен към повишаване квалификацията на учителите чрез международни обучения и към прилагане на придобитите знания в училищната практика.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96410" y="5621217"/>
            <a:ext cx="4407808" cy="2005632"/>
            <a:chOff x="0" y="0"/>
            <a:chExt cx="5877077" cy="26741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77052" cy="2674239"/>
            </a:xfrm>
            <a:custGeom>
              <a:avLst/>
              <a:gdLst/>
              <a:ahLst/>
              <a:cxnLst/>
              <a:rect l="l" t="t" r="r" b="b"/>
              <a:pathLst>
                <a:path w="5877052" h="2674239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5729478" y="0"/>
                  </a:lnTo>
                  <a:cubicBezTo>
                    <a:pt x="5811012" y="0"/>
                    <a:pt x="5877052" y="66040"/>
                    <a:pt x="5877052" y="147574"/>
                  </a:cubicBezTo>
                  <a:lnTo>
                    <a:pt x="5877052" y="2526665"/>
                  </a:lnTo>
                  <a:cubicBezTo>
                    <a:pt x="5877052" y="2608199"/>
                    <a:pt x="5811012" y="2674239"/>
                    <a:pt x="5729478" y="2674239"/>
                  </a:cubicBezTo>
                  <a:lnTo>
                    <a:pt x="147574" y="2674239"/>
                  </a:lnTo>
                  <a:cubicBezTo>
                    <a:pt x="66040" y="2674112"/>
                    <a:pt x="0" y="2608072"/>
                    <a:pt x="0" y="252666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94505" y="5619312"/>
            <a:ext cx="4411618" cy="128883"/>
            <a:chOff x="0" y="0"/>
            <a:chExt cx="5882157" cy="1718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882132" cy="171831"/>
            </a:xfrm>
            <a:custGeom>
              <a:avLst/>
              <a:gdLst/>
              <a:ahLst/>
              <a:cxnLst/>
              <a:rect l="l" t="t" r="r" b="b"/>
              <a:pathLst>
                <a:path w="5882132" h="171831">
                  <a:moveTo>
                    <a:pt x="0" y="0"/>
                  </a:moveTo>
                  <a:lnTo>
                    <a:pt x="5882132" y="0"/>
                  </a:lnTo>
                  <a:lnTo>
                    <a:pt x="5882132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51118" y="5875925"/>
            <a:ext cx="3898392" cy="329441"/>
            <a:chOff x="0" y="0"/>
            <a:chExt cx="5197856" cy="43925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97853" cy="439255"/>
            </a:xfrm>
            <a:custGeom>
              <a:avLst/>
              <a:gdLst/>
              <a:ahLst/>
              <a:cxnLst/>
              <a:rect l="l" t="t" r="r" b="b"/>
              <a:pathLst>
                <a:path w="5197853" h="439255">
                  <a:moveTo>
                    <a:pt x="0" y="0"/>
                  </a:moveTo>
                  <a:lnTo>
                    <a:pt x="5197853" y="0"/>
                  </a:lnTo>
                  <a:lnTo>
                    <a:pt x="519785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3" b="-1805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5197856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Международни обучения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51118" y="6424994"/>
            <a:ext cx="3898392" cy="960872"/>
            <a:chOff x="0" y="0"/>
            <a:chExt cx="5197856" cy="128116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197853" cy="1281161"/>
            </a:xfrm>
            <a:custGeom>
              <a:avLst/>
              <a:gdLst/>
              <a:ahLst/>
              <a:cxnLst/>
              <a:rect l="l" t="t" r="r" b="b"/>
              <a:pathLst>
                <a:path w="5197853" h="1281161">
                  <a:moveTo>
                    <a:pt x="0" y="0"/>
                  </a:moveTo>
                  <a:lnTo>
                    <a:pt x="5197853" y="0"/>
                  </a:lnTo>
                  <a:lnTo>
                    <a:pt x="5197853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53" b="-2905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197856" cy="13002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участие в квалификационни курсове по програма „Еразъм+“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924361" y="5621217"/>
            <a:ext cx="4407808" cy="2005632"/>
            <a:chOff x="0" y="0"/>
            <a:chExt cx="5877077" cy="267417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77052" cy="2674239"/>
            </a:xfrm>
            <a:custGeom>
              <a:avLst/>
              <a:gdLst/>
              <a:ahLst/>
              <a:cxnLst/>
              <a:rect l="l" t="t" r="r" b="b"/>
              <a:pathLst>
                <a:path w="5877052" h="2674239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5729478" y="0"/>
                  </a:lnTo>
                  <a:cubicBezTo>
                    <a:pt x="5811012" y="0"/>
                    <a:pt x="5877052" y="66040"/>
                    <a:pt x="5877052" y="147574"/>
                  </a:cubicBezTo>
                  <a:lnTo>
                    <a:pt x="5877052" y="2526665"/>
                  </a:lnTo>
                  <a:cubicBezTo>
                    <a:pt x="5877052" y="2608199"/>
                    <a:pt x="5811012" y="2674239"/>
                    <a:pt x="5729478" y="2674239"/>
                  </a:cubicBezTo>
                  <a:lnTo>
                    <a:pt x="147574" y="2674239"/>
                  </a:lnTo>
                  <a:cubicBezTo>
                    <a:pt x="66040" y="2674112"/>
                    <a:pt x="0" y="2608072"/>
                    <a:pt x="0" y="252666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22456" y="5619312"/>
            <a:ext cx="4411618" cy="128883"/>
            <a:chOff x="0" y="0"/>
            <a:chExt cx="5882157" cy="1718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82132" cy="171831"/>
            </a:xfrm>
            <a:custGeom>
              <a:avLst/>
              <a:gdLst/>
              <a:ahLst/>
              <a:cxnLst/>
              <a:rect l="l" t="t" r="r" b="b"/>
              <a:pathLst>
                <a:path w="5882132" h="171831">
                  <a:moveTo>
                    <a:pt x="0" y="0"/>
                  </a:moveTo>
                  <a:lnTo>
                    <a:pt x="5882132" y="0"/>
                  </a:lnTo>
                  <a:lnTo>
                    <a:pt x="5882132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79069" y="5875925"/>
            <a:ext cx="3898392" cy="329441"/>
            <a:chOff x="0" y="0"/>
            <a:chExt cx="5197856" cy="43925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197853" cy="439255"/>
            </a:xfrm>
            <a:custGeom>
              <a:avLst/>
              <a:gdLst/>
              <a:ahLst/>
              <a:cxnLst/>
              <a:rect l="l" t="t" r="r" b="b"/>
              <a:pathLst>
                <a:path w="5197853" h="439255">
                  <a:moveTo>
                    <a:pt x="0" y="0"/>
                  </a:moveTo>
                  <a:lnTo>
                    <a:pt x="5197853" y="0"/>
                  </a:lnTo>
                  <a:lnTo>
                    <a:pt x="519785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3" b="-1805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5197856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Нови компетентности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179069" y="6424994"/>
            <a:ext cx="3898392" cy="960872"/>
            <a:chOff x="0" y="0"/>
            <a:chExt cx="5197856" cy="128116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197853" cy="1281161"/>
            </a:xfrm>
            <a:custGeom>
              <a:avLst/>
              <a:gdLst/>
              <a:ahLst/>
              <a:cxnLst/>
              <a:rect l="l" t="t" r="r" b="b"/>
              <a:pathLst>
                <a:path w="5197853" h="1281161">
                  <a:moveTo>
                    <a:pt x="0" y="0"/>
                  </a:moveTo>
                  <a:lnTo>
                    <a:pt x="5197853" y="0"/>
                  </a:lnTo>
                  <a:lnTo>
                    <a:pt x="5197853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53" b="-2905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197856" cy="13002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дигитални, комуникационни, креативни и социални умения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552321" y="5621217"/>
            <a:ext cx="4407808" cy="2005632"/>
            <a:chOff x="0" y="0"/>
            <a:chExt cx="5877077" cy="267417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77052" cy="2674239"/>
            </a:xfrm>
            <a:custGeom>
              <a:avLst/>
              <a:gdLst/>
              <a:ahLst/>
              <a:cxnLst/>
              <a:rect l="l" t="t" r="r" b="b"/>
              <a:pathLst>
                <a:path w="5877052" h="2674239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5729478" y="0"/>
                  </a:lnTo>
                  <a:cubicBezTo>
                    <a:pt x="5811012" y="0"/>
                    <a:pt x="5877052" y="66040"/>
                    <a:pt x="5877052" y="147574"/>
                  </a:cubicBezTo>
                  <a:lnTo>
                    <a:pt x="5877052" y="2526665"/>
                  </a:lnTo>
                  <a:cubicBezTo>
                    <a:pt x="5877052" y="2608199"/>
                    <a:pt x="5811012" y="2674239"/>
                    <a:pt x="5729478" y="2674239"/>
                  </a:cubicBezTo>
                  <a:lnTo>
                    <a:pt x="147574" y="2674239"/>
                  </a:lnTo>
                  <a:cubicBezTo>
                    <a:pt x="66040" y="2674112"/>
                    <a:pt x="0" y="2608072"/>
                    <a:pt x="0" y="252666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550416" y="5619312"/>
            <a:ext cx="4411618" cy="128883"/>
            <a:chOff x="0" y="0"/>
            <a:chExt cx="5882157" cy="1718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882132" cy="171831"/>
            </a:xfrm>
            <a:custGeom>
              <a:avLst/>
              <a:gdLst/>
              <a:ahLst/>
              <a:cxnLst/>
              <a:rect l="l" t="t" r="r" b="b"/>
              <a:pathLst>
                <a:path w="5882132" h="171831">
                  <a:moveTo>
                    <a:pt x="0" y="0"/>
                  </a:moveTo>
                  <a:lnTo>
                    <a:pt x="5882132" y="0"/>
                  </a:lnTo>
                  <a:lnTo>
                    <a:pt x="5882132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807029" y="5875925"/>
            <a:ext cx="3898392" cy="329441"/>
            <a:chOff x="0" y="0"/>
            <a:chExt cx="5197856" cy="43925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197853" cy="439255"/>
            </a:xfrm>
            <a:custGeom>
              <a:avLst/>
              <a:gdLst/>
              <a:ahLst/>
              <a:cxnLst/>
              <a:rect l="l" t="t" r="r" b="b"/>
              <a:pathLst>
                <a:path w="5197853" h="439255">
                  <a:moveTo>
                    <a:pt x="0" y="0"/>
                  </a:moveTo>
                  <a:lnTo>
                    <a:pt x="5197853" y="0"/>
                  </a:lnTo>
                  <a:lnTo>
                    <a:pt x="5197853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573" b="-1805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197856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Училищна практика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807029" y="6424994"/>
            <a:ext cx="3898392" cy="960872"/>
            <a:chOff x="0" y="0"/>
            <a:chExt cx="5197856" cy="128116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197853" cy="1281161"/>
            </a:xfrm>
            <a:custGeom>
              <a:avLst/>
              <a:gdLst/>
              <a:ahLst/>
              <a:cxnLst/>
              <a:rect l="l" t="t" r="r" b="b"/>
              <a:pathLst>
                <a:path w="5197853" h="1281161">
                  <a:moveTo>
                    <a:pt x="0" y="0"/>
                  </a:moveTo>
                  <a:lnTo>
                    <a:pt x="5197853" y="0"/>
                  </a:lnTo>
                  <a:lnTo>
                    <a:pt x="5197853" y="1281161"/>
                  </a:lnTo>
                  <a:lnTo>
                    <a:pt x="0" y="128116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053" b="-2905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197856" cy="13002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интегриране на иновативни методи в образователния процес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865495" y="6278194"/>
            <a:ext cx="760305" cy="705402"/>
            <a:chOff x="0" y="0"/>
            <a:chExt cx="1013739" cy="940537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13714" cy="940562"/>
            </a:xfrm>
            <a:custGeom>
              <a:avLst/>
              <a:gdLst/>
              <a:ahLst/>
              <a:cxnLst/>
              <a:rect l="l" t="t" r="r" b="b"/>
              <a:pathLst>
                <a:path w="1013714" h="940562">
                  <a:moveTo>
                    <a:pt x="0" y="0"/>
                  </a:moveTo>
                  <a:lnTo>
                    <a:pt x="543433" y="0"/>
                  </a:lnTo>
                  <a:lnTo>
                    <a:pt x="1013714" y="470281"/>
                  </a:lnTo>
                  <a:lnTo>
                    <a:pt x="543433" y="940562"/>
                  </a:lnTo>
                  <a:lnTo>
                    <a:pt x="0" y="940562"/>
                  </a:lnTo>
                  <a:lnTo>
                    <a:pt x="470281" y="470281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493456" y="6278194"/>
            <a:ext cx="760305" cy="705402"/>
            <a:chOff x="0" y="0"/>
            <a:chExt cx="1013739" cy="94053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013714" cy="940562"/>
            </a:xfrm>
            <a:custGeom>
              <a:avLst/>
              <a:gdLst/>
              <a:ahLst/>
              <a:cxnLst/>
              <a:rect l="l" t="t" r="r" b="b"/>
              <a:pathLst>
                <a:path w="1013714" h="940562">
                  <a:moveTo>
                    <a:pt x="0" y="0"/>
                  </a:moveTo>
                  <a:lnTo>
                    <a:pt x="543433" y="0"/>
                  </a:lnTo>
                  <a:lnTo>
                    <a:pt x="1013714" y="470281"/>
                  </a:lnTo>
                  <a:lnTo>
                    <a:pt x="543433" y="940562"/>
                  </a:lnTo>
                  <a:lnTo>
                    <a:pt x="0" y="940562"/>
                  </a:lnTo>
                  <a:lnTo>
                    <a:pt x="470281" y="470281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41304" y="8188823"/>
            <a:ext cx="15373931" cy="1160441"/>
            <a:chOff x="0" y="0"/>
            <a:chExt cx="20498575" cy="154725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0498575" cy="1547255"/>
            </a:xfrm>
            <a:custGeom>
              <a:avLst/>
              <a:gdLst/>
              <a:ahLst/>
              <a:cxnLst/>
              <a:rect l="l" t="t" r="r" b="b"/>
              <a:pathLst>
                <a:path w="20498575" h="1547255">
                  <a:moveTo>
                    <a:pt x="0" y="0"/>
                  </a:moveTo>
                  <a:lnTo>
                    <a:pt x="20498575" y="0"/>
                  </a:lnTo>
                  <a:lnTo>
                    <a:pt x="20498575" y="1547255"/>
                  </a:lnTo>
                  <a:lnTo>
                    <a:pt x="0" y="1547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4486" b="-18180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0498575" cy="15663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52"/>
                </a:lnSpc>
              </a:pPr>
              <a:r>
                <a:rPr lang="en-US" sz="2627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Фокус: обмен на добри европейски практики и устойчиво развитие на професионалния капацитет на училището.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53" name="Freeform 53"/>
          <p:cNvSpPr/>
          <p:nvPr/>
        </p:nvSpPr>
        <p:spPr>
          <a:xfrm>
            <a:off x="13840" y="0"/>
            <a:ext cx="18297535" cy="2185843"/>
          </a:xfrm>
          <a:custGeom>
            <a:avLst/>
            <a:gdLst/>
            <a:ahLst/>
            <a:cxnLst/>
            <a:rect l="l" t="t" r="r" b="b"/>
            <a:pathLst>
              <a:path w="18297535" h="2185843">
                <a:moveTo>
                  <a:pt x="0" y="0"/>
                </a:moveTo>
                <a:lnTo>
                  <a:pt x="18297534" y="0"/>
                </a:lnTo>
                <a:lnTo>
                  <a:pt x="18297534" y="2185843"/>
                </a:lnTo>
                <a:lnTo>
                  <a:pt x="0" y="2185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9742" b="-89113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9" y="1935520"/>
            <a:ext cx="18320909" cy="1383709"/>
            <a:chOff x="0" y="0"/>
            <a:chExt cx="24427878" cy="184494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844925"/>
            </a:xfrm>
            <a:custGeom>
              <a:avLst/>
              <a:gdLst/>
              <a:ahLst/>
              <a:cxnLst/>
              <a:rect l="l" t="t" r="r" b="b"/>
              <a:pathLst>
                <a:path w="24427814" h="1844925">
                  <a:moveTo>
                    <a:pt x="0" y="0"/>
                  </a:moveTo>
                  <a:lnTo>
                    <a:pt x="24427814" y="0"/>
                  </a:lnTo>
                  <a:lnTo>
                    <a:pt x="24427814" y="1844925"/>
                  </a:lnTo>
                  <a:lnTo>
                    <a:pt x="0" y="184492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59163" y="2164967"/>
            <a:ext cx="16472068" cy="707300"/>
            <a:chOff x="0" y="0"/>
            <a:chExt cx="21962758" cy="9430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943056"/>
            </a:xfrm>
            <a:custGeom>
              <a:avLst/>
              <a:gdLst/>
              <a:ahLst/>
              <a:cxnLst/>
              <a:rect l="l" t="t" r="r" b="b"/>
              <a:pathLst>
                <a:path w="21962759" h="943056">
                  <a:moveTo>
                    <a:pt x="0" y="0"/>
                  </a:moveTo>
                  <a:lnTo>
                    <a:pt x="21962759" y="0"/>
                  </a:lnTo>
                  <a:lnTo>
                    <a:pt x="21962759" y="943056"/>
                  </a:lnTo>
                  <a:lnTo>
                    <a:pt x="0" y="943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8780" b="-33703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9716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ОСНОВНИ ПАРАМЕТРИ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9163" y="3624029"/>
            <a:ext cx="4754785" cy="3038942"/>
            <a:chOff x="0" y="0"/>
            <a:chExt cx="6339713" cy="405192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39713" cy="4051935"/>
            </a:xfrm>
            <a:custGeom>
              <a:avLst/>
              <a:gdLst/>
              <a:ahLst/>
              <a:cxnLst/>
              <a:rect l="l" t="t" r="r" b="b"/>
              <a:pathLst>
                <a:path w="6339713" h="4051935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192393" y="0"/>
                  </a:lnTo>
                  <a:cubicBezTo>
                    <a:pt x="6273800" y="0"/>
                    <a:pt x="6339713" y="65913"/>
                    <a:pt x="6339713" y="147320"/>
                  </a:cubicBezTo>
                  <a:lnTo>
                    <a:pt x="6339713" y="3904615"/>
                  </a:lnTo>
                  <a:cubicBezTo>
                    <a:pt x="6339713" y="3986022"/>
                    <a:pt x="6273800" y="4051935"/>
                    <a:pt x="6192393" y="4051935"/>
                  </a:cubicBezTo>
                  <a:lnTo>
                    <a:pt x="147320" y="4051935"/>
                  </a:lnTo>
                  <a:cubicBezTo>
                    <a:pt x="65913" y="4051935"/>
                    <a:pt x="0" y="3986022"/>
                    <a:pt x="0" y="390461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6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59163" y="3624029"/>
            <a:ext cx="4754785" cy="183785"/>
            <a:chOff x="0" y="0"/>
            <a:chExt cx="6339713" cy="24504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39713" cy="245110"/>
            </a:xfrm>
            <a:custGeom>
              <a:avLst/>
              <a:gdLst/>
              <a:ahLst/>
              <a:cxnLst/>
              <a:rect l="l" t="t" r="r" b="b"/>
              <a:pathLst>
                <a:path w="6339713" h="245110">
                  <a:moveTo>
                    <a:pt x="0" y="0"/>
                  </a:moveTo>
                  <a:lnTo>
                    <a:pt x="6339713" y="0"/>
                  </a:lnTo>
                  <a:lnTo>
                    <a:pt x="6339713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11864" y="4113995"/>
            <a:ext cx="4049382" cy="343167"/>
            <a:chOff x="0" y="0"/>
            <a:chExt cx="5399176" cy="4575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399178" cy="457557"/>
            </a:xfrm>
            <a:custGeom>
              <a:avLst/>
              <a:gdLst/>
              <a:ahLst/>
              <a:cxnLst/>
              <a:rect l="l" t="t" r="r" b="b"/>
              <a:pathLst>
                <a:path w="5399178" h="457557">
                  <a:moveTo>
                    <a:pt x="0" y="0"/>
                  </a:moveTo>
                  <a:lnTo>
                    <a:pt x="5399178" y="0"/>
                  </a:lnTo>
                  <a:lnTo>
                    <a:pt x="539917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9923" b="-17992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399176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Срок на проекта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11864" y="4761962"/>
            <a:ext cx="4049382" cy="1348962"/>
            <a:chOff x="0" y="0"/>
            <a:chExt cx="5399176" cy="17986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399178" cy="1798615"/>
            </a:xfrm>
            <a:custGeom>
              <a:avLst/>
              <a:gdLst/>
              <a:ahLst/>
              <a:cxnLst/>
              <a:rect l="l" t="t" r="r" b="b"/>
              <a:pathLst>
                <a:path w="5399178" h="1798615">
                  <a:moveTo>
                    <a:pt x="0" y="0"/>
                  </a:moveTo>
                  <a:lnTo>
                    <a:pt x="5399178" y="0"/>
                  </a:lnTo>
                  <a:lnTo>
                    <a:pt x="5399178" y="1798615"/>
                  </a:lnTo>
                  <a:lnTo>
                    <a:pt x="0" y="1798615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0507" b="1352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399176" cy="1836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3"/>
                </a:lnSpc>
              </a:pPr>
              <a:r>
                <a:rPr lang="en-US" sz="3752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01.06.2025 – 31.08.2026 г.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655751" y="3624029"/>
            <a:ext cx="4754785" cy="3038942"/>
            <a:chOff x="0" y="0"/>
            <a:chExt cx="6339713" cy="405192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339713" cy="4051935"/>
            </a:xfrm>
            <a:custGeom>
              <a:avLst/>
              <a:gdLst/>
              <a:ahLst/>
              <a:cxnLst/>
              <a:rect l="l" t="t" r="r" b="b"/>
              <a:pathLst>
                <a:path w="6339713" h="4051935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192393" y="0"/>
                  </a:lnTo>
                  <a:cubicBezTo>
                    <a:pt x="6273800" y="0"/>
                    <a:pt x="6339713" y="65913"/>
                    <a:pt x="6339713" y="147320"/>
                  </a:cubicBezTo>
                  <a:lnTo>
                    <a:pt x="6339713" y="3904615"/>
                  </a:lnTo>
                  <a:cubicBezTo>
                    <a:pt x="6339713" y="3986022"/>
                    <a:pt x="6273800" y="4051935"/>
                    <a:pt x="6192393" y="4051935"/>
                  </a:cubicBezTo>
                  <a:lnTo>
                    <a:pt x="147320" y="4051935"/>
                  </a:lnTo>
                  <a:cubicBezTo>
                    <a:pt x="65913" y="4051935"/>
                    <a:pt x="0" y="3986022"/>
                    <a:pt x="0" y="390461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6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655751" y="3624029"/>
            <a:ext cx="4754785" cy="183785"/>
            <a:chOff x="0" y="0"/>
            <a:chExt cx="6339713" cy="24504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339713" cy="245110"/>
            </a:xfrm>
            <a:custGeom>
              <a:avLst/>
              <a:gdLst/>
              <a:ahLst/>
              <a:cxnLst/>
              <a:rect l="l" t="t" r="r" b="b"/>
              <a:pathLst>
                <a:path w="6339713" h="245110">
                  <a:moveTo>
                    <a:pt x="0" y="0"/>
                  </a:moveTo>
                  <a:lnTo>
                    <a:pt x="6339713" y="0"/>
                  </a:lnTo>
                  <a:lnTo>
                    <a:pt x="6339713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08452" y="4113995"/>
            <a:ext cx="4049382" cy="343167"/>
            <a:chOff x="0" y="0"/>
            <a:chExt cx="5399176" cy="457556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399178" cy="457557"/>
            </a:xfrm>
            <a:custGeom>
              <a:avLst/>
              <a:gdLst/>
              <a:ahLst/>
              <a:cxnLst/>
              <a:rect l="l" t="t" r="r" b="b"/>
              <a:pathLst>
                <a:path w="5399178" h="457557">
                  <a:moveTo>
                    <a:pt x="0" y="0"/>
                  </a:moveTo>
                  <a:lnTo>
                    <a:pt x="5399178" y="0"/>
                  </a:lnTo>
                  <a:lnTo>
                    <a:pt x="539917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9923" b="-17992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399176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Финансиране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08452" y="5006230"/>
            <a:ext cx="4049382" cy="754971"/>
            <a:chOff x="0" y="0"/>
            <a:chExt cx="5399176" cy="100662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399178" cy="1006626"/>
            </a:xfrm>
            <a:custGeom>
              <a:avLst/>
              <a:gdLst/>
              <a:ahLst/>
              <a:cxnLst/>
              <a:rect l="l" t="t" r="r" b="b"/>
              <a:pathLst>
                <a:path w="5399178" h="1006626">
                  <a:moveTo>
                    <a:pt x="0" y="0"/>
                  </a:moveTo>
                  <a:lnTo>
                    <a:pt x="5399178" y="0"/>
                  </a:lnTo>
                  <a:lnTo>
                    <a:pt x="539917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510" b="-5451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5399176" cy="10447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3"/>
                </a:lnSpc>
              </a:pPr>
              <a:r>
                <a:rPr lang="en-US" sz="3752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20 000 EUR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52339" y="3624029"/>
            <a:ext cx="4754785" cy="3038942"/>
            <a:chOff x="0" y="0"/>
            <a:chExt cx="6339713" cy="405192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339713" cy="4051935"/>
            </a:xfrm>
            <a:custGeom>
              <a:avLst/>
              <a:gdLst/>
              <a:ahLst/>
              <a:cxnLst/>
              <a:rect l="l" t="t" r="r" b="b"/>
              <a:pathLst>
                <a:path w="6339713" h="4051935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6192393" y="0"/>
                  </a:lnTo>
                  <a:cubicBezTo>
                    <a:pt x="6273800" y="0"/>
                    <a:pt x="6339713" y="65913"/>
                    <a:pt x="6339713" y="147320"/>
                  </a:cubicBezTo>
                  <a:lnTo>
                    <a:pt x="6339713" y="3904615"/>
                  </a:lnTo>
                  <a:cubicBezTo>
                    <a:pt x="6339713" y="3986022"/>
                    <a:pt x="6273800" y="4051935"/>
                    <a:pt x="6192393" y="4051935"/>
                  </a:cubicBezTo>
                  <a:lnTo>
                    <a:pt x="147320" y="4051935"/>
                  </a:lnTo>
                  <a:cubicBezTo>
                    <a:pt x="65913" y="4051935"/>
                    <a:pt x="0" y="3986022"/>
                    <a:pt x="0" y="3904615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8E6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352339" y="3624029"/>
            <a:ext cx="4754785" cy="183785"/>
            <a:chOff x="0" y="0"/>
            <a:chExt cx="6339713" cy="245047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339713" cy="245110"/>
            </a:xfrm>
            <a:custGeom>
              <a:avLst/>
              <a:gdLst/>
              <a:ahLst/>
              <a:cxnLst/>
              <a:rect l="l" t="t" r="r" b="b"/>
              <a:pathLst>
                <a:path w="6339713" h="245110">
                  <a:moveTo>
                    <a:pt x="0" y="0"/>
                  </a:moveTo>
                  <a:lnTo>
                    <a:pt x="6339713" y="0"/>
                  </a:lnTo>
                  <a:lnTo>
                    <a:pt x="6339713" y="245110"/>
                  </a:lnTo>
                  <a:lnTo>
                    <a:pt x="0" y="245110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705041" y="4113995"/>
            <a:ext cx="4049382" cy="343167"/>
            <a:chOff x="0" y="0"/>
            <a:chExt cx="5399176" cy="45755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399178" cy="457557"/>
            </a:xfrm>
            <a:custGeom>
              <a:avLst/>
              <a:gdLst/>
              <a:ahLst/>
              <a:cxnLst/>
              <a:rect l="l" t="t" r="r" b="b"/>
              <a:pathLst>
                <a:path w="5399178" h="457557">
                  <a:moveTo>
                    <a:pt x="0" y="0"/>
                  </a:moveTo>
                  <a:lnTo>
                    <a:pt x="5399178" y="0"/>
                  </a:lnTo>
                  <a:lnTo>
                    <a:pt x="539917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9923" b="-17992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5399176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Участници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705041" y="5006230"/>
            <a:ext cx="4049382" cy="754971"/>
            <a:chOff x="0" y="0"/>
            <a:chExt cx="5399176" cy="1006627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399178" cy="1006626"/>
            </a:xfrm>
            <a:custGeom>
              <a:avLst/>
              <a:gdLst/>
              <a:ahLst/>
              <a:cxnLst/>
              <a:rect l="l" t="t" r="r" b="b"/>
              <a:pathLst>
                <a:path w="5399178" h="1006626">
                  <a:moveTo>
                    <a:pt x="0" y="0"/>
                  </a:moveTo>
                  <a:lnTo>
                    <a:pt x="5399178" y="0"/>
                  </a:lnTo>
                  <a:lnTo>
                    <a:pt x="539917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4510" b="-5451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5399176" cy="10447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3"/>
                </a:lnSpc>
              </a:pPr>
              <a:r>
                <a:rPr lang="en-US" sz="3752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 учители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029505" y="7715772"/>
            <a:ext cx="2745343" cy="557868"/>
            <a:chOff x="0" y="0"/>
            <a:chExt cx="3660458" cy="74382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60460" cy="743826"/>
            </a:xfrm>
            <a:custGeom>
              <a:avLst/>
              <a:gdLst/>
              <a:ahLst/>
              <a:cxnLst/>
              <a:rect l="l" t="t" r="r" b="b"/>
              <a:pathLst>
                <a:path w="3660460" h="743826">
                  <a:moveTo>
                    <a:pt x="0" y="0"/>
                  </a:moveTo>
                  <a:lnTo>
                    <a:pt x="3660460" y="0"/>
                  </a:lnTo>
                  <a:lnTo>
                    <a:pt x="3660460" y="743826"/>
                  </a:lnTo>
                  <a:lnTo>
                    <a:pt x="0" y="7438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65131" b="-2664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3660458" cy="762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42"/>
                </a:lnSpc>
              </a:pPr>
              <a:r>
                <a:rPr lang="en-US" sz="2702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Насоченост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3774848" y="7596421"/>
            <a:ext cx="13452186" cy="952344"/>
            <a:chOff x="0" y="0"/>
            <a:chExt cx="17936248" cy="126979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7936252" cy="1269786"/>
            </a:xfrm>
            <a:custGeom>
              <a:avLst/>
              <a:gdLst/>
              <a:ahLst/>
              <a:cxnLst/>
              <a:rect l="l" t="t" r="r" b="b"/>
              <a:pathLst>
                <a:path w="17936252" h="1269786">
                  <a:moveTo>
                    <a:pt x="0" y="0"/>
                  </a:moveTo>
                  <a:lnTo>
                    <a:pt x="17936252" y="0"/>
                  </a:lnTo>
                  <a:lnTo>
                    <a:pt x="17936252" y="1269786"/>
                  </a:lnTo>
                  <a:lnTo>
                    <a:pt x="0" y="126978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42803" b="-20766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7936248" cy="12793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72"/>
                </a:lnSpc>
              </a:pPr>
              <a:r>
                <a:rPr lang="en-US" sz="24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Учители по общообразователна и професионална подготовка, мотивирани за развитие на иновативен опит в учебната работа.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49" name="Freeform 49"/>
          <p:cNvSpPr/>
          <p:nvPr/>
        </p:nvSpPr>
        <p:spPr>
          <a:xfrm>
            <a:off x="13840" y="0"/>
            <a:ext cx="18297535" cy="2185843"/>
          </a:xfrm>
          <a:custGeom>
            <a:avLst/>
            <a:gdLst/>
            <a:ahLst/>
            <a:cxnLst/>
            <a:rect l="l" t="t" r="r" b="b"/>
            <a:pathLst>
              <a:path w="18297535" h="2185843">
                <a:moveTo>
                  <a:pt x="0" y="0"/>
                </a:moveTo>
                <a:lnTo>
                  <a:pt x="18297534" y="0"/>
                </a:lnTo>
                <a:lnTo>
                  <a:pt x="18297534" y="2185843"/>
                </a:lnTo>
                <a:lnTo>
                  <a:pt x="0" y="21858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89742" b="-89113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178659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1770" y="2366635"/>
            <a:ext cx="16472068" cy="676547"/>
            <a:chOff x="0" y="0"/>
            <a:chExt cx="21962758" cy="902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902052"/>
            </a:xfrm>
            <a:custGeom>
              <a:avLst/>
              <a:gdLst/>
              <a:ahLst/>
              <a:cxnLst/>
              <a:rect l="l" t="t" r="r" b="b"/>
              <a:pathLst>
                <a:path w="21962759" h="902052">
                  <a:moveTo>
                    <a:pt x="0" y="0"/>
                  </a:moveTo>
                  <a:lnTo>
                    <a:pt x="21962759" y="0"/>
                  </a:lnTo>
                  <a:lnTo>
                    <a:pt x="21962759" y="902052"/>
                  </a:lnTo>
                  <a:lnTo>
                    <a:pt x="0" y="902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007" b="-40281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930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ОСНОВНИ ЦЕЛИ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396064"/>
            <a:ext cx="7561136" cy="1631194"/>
            <a:chOff x="0" y="0"/>
            <a:chExt cx="10081514" cy="217492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81513" cy="2174875"/>
            </a:xfrm>
            <a:custGeom>
              <a:avLst/>
              <a:gdLst/>
              <a:ahLst/>
              <a:cxnLst/>
              <a:rect l="l" t="t" r="r" b="b"/>
              <a:pathLst>
                <a:path w="10081513" h="2174875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9934067" y="0"/>
                  </a:lnTo>
                  <a:cubicBezTo>
                    <a:pt x="10015474" y="0"/>
                    <a:pt x="10081513" y="66040"/>
                    <a:pt x="10081513" y="147447"/>
                  </a:cubicBezTo>
                  <a:lnTo>
                    <a:pt x="10081513" y="2027428"/>
                  </a:lnTo>
                  <a:cubicBezTo>
                    <a:pt x="10081513" y="2108835"/>
                    <a:pt x="10015474" y="2174875"/>
                    <a:pt x="9934067" y="2174875"/>
                  </a:cubicBezTo>
                  <a:lnTo>
                    <a:pt x="147447" y="2174875"/>
                  </a:lnTo>
                  <a:cubicBezTo>
                    <a:pt x="66040" y="2174875"/>
                    <a:pt x="0" y="2108962"/>
                    <a:pt x="0" y="2027428"/>
                  </a:cubicBez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7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1969" y="3762882"/>
            <a:ext cx="870118" cy="870118"/>
            <a:chOff x="0" y="0"/>
            <a:chExt cx="1160158" cy="11601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160145" cy="1160145"/>
            </a:xfrm>
            <a:custGeom>
              <a:avLst/>
              <a:gdLst/>
              <a:ahLst/>
              <a:cxnLst/>
              <a:rect l="l" t="t" r="r" b="b"/>
              <a:pathLst>
                <a:path w="1160145" h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81503" y="3978309"/>
            <a:ext cx="851059" cy="471040"/>
            <a:chOff x="0" y="0"/>
            <a:chExt cx="1134745" cy="62805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34743" cy="628035"/>
            </a:xfrm>
            <a:custGeom>
              <a:avLst/>
              <a:gdLst/>
              <a:ahLst/>
              <a:cxnLst/>
              <a:rect l="l" t="t" r="r" b="b"/>
              <a:pathLst>
                <a:path w="1134743" h="628035">
                  <a:moveTo>
                    <a:pt x="0" y="0"/>
                  </a:moveTo>
                  <a:lnTo>
                    <a:pt x="1134743" y="0"/>
                  </a:lnTo>
                  <a:lnTo>
                    <a:pt x="1134743" y="628035"/>
                  </a:lnTo>
                  <a:lnTo>
                    <a:pt x="0" y="628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20" b="4730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134745" cy="64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379640" y="3676318"/>
            <a:ext cx="5627961" cy="301990"/>
            <a:chOff x="0" y="0"/>
            <a:chExt cx="7503947" cy="4026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503943" cy="402651"/>
            </a:xfrm>
            <a:custGeom>
              <a:avLst/>
              <a:gdLst/>
              <a:ahLst/>
              <a:cxnLst/>
              <a:rect l="l" t="t" r="r" b="b"/>
              <a:pathLst>
                <a:path w="7503943" h="402651">
                  <a:moveTo>
                    <a:pt x="0" y="0"/>
                  </a:moveTo>
                  <a:lnTo>
                    <a:pt x="7503943" y="0"/>
                  </a:lnTo>
                  <a:lnTo>
                    <a:pt x="750394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130" b="-313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7503947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Квалификация на учителите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2379640" y="4197936"/>
            <a:ext cx="5696588" cy="674747"/>
            <a:chOff x="0" y="0"/>
            <a:chExt cx="7595451" cy="8996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595454" cy="899668"/>
            </a:xfrm>
            <a:custGeom>
              <a:avLst/>
              <a:gdLst/>
              <a:ahLst/>
              <a:cxnLst/>
              <a:rect l="l" t="t" r="r" b="b"/>
              <a:pathLst>
                <a:path w="7595454" h="899668">
                  <a:moveTo>
                    <a:pt x="0" y="0"/>
                  </a:moveTo>
                  <a:lnTo>
                    <a:pt x="7595454" y="0"/>
                  </a:lnTo>
                  <a:lnTo>
                    <a:pt x="7595454" y="899668"/>
                  </a:lnTo>
                  <a:lnTo>
                    <a:pt x="0" y="899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901" b="-10010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7595451" cy="9187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7"/>
                </a:lnSpc>
              </a:pPr>
              <a:r>
                <a:rPr lang="en-US" sz="188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повишаване на професионалната подготовка чрез международни обучения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333367" y="3396064"/>
            <a:ext cx="7561136" cy="1631194"/>
            <a:chOff x="0" y="0"/>
            <a:chExt cx="10081514" cy="217492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81513" cy="2174875"/>
            </a:xfrm>
            <a:custGeom>
              <a:avLst/>
              <a:gdLst/>
              <a:ahLst/>
              <a:cxnLst/>
              <a:rect l="l" t="t" r="r" b="b"/>
              <a:pathLst>
                <a:path w="10081513" h="2174875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9934067" y="0"/>
                  </a:lnTo>
                  <a:cubicBezTo>
                    <a:pt x="10015474" y="0"/>
                    <a:pt x="10081513" y="66040"/>
                    <a:pt x="10081513" y="147447"/>
                  </a:cubicBezTo>
                  <a:lnTo>
                    <a:pt x="10081513" y="2027428"/>
                  </a:lnTo>
                  <a:cubicBezTo>
                    <a:pt x="10081513" y="2108835"/>
                    <a:pt x="10015474" y="2174875"/>
                    <a:pt x="9934067" y="2174875"/>
                  </a:cubicBezTo>
                  <a:lnTo>
                    <a:pt x="147447" y="2174875"/>
                  </a:lnTo>
                  <a:cubicBezTo>
                    <a:pt x="66040" y="2174875"/>
                    <a:pt x="0" y="2108962"/>
                    <a:pt x="0" y="2027428"/>
                  </a:cubicBez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7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576635" y="3762882"/>
            <a:ext cx="870118" cy="870118"/>
            <a:chOff x="0" y="0"/>
            <a:chExt cx="1160158" cy="116015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60145" cy="1160145"/>
            </a:xfrm>
            <a:custGeom>
              <a:avLst/>
              <a:gdLst/>
              <a:ahLst/>
              <a:cxnLst/>
              <a:rect l="l" t="t" r="r" b="b"/>
              <a:pathLst>
                <a:path w="1160145" h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586170" y="3978309"/>
            <a:ext cx="851059" cy="471040"/>
            <a:chOff x="0" y="0"/>
            <a:chExt cx="1134745" cy="6280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34743" cy="628035"/>
            </a:xfrm>
            <a:custGeom>
              <a:avLst/>
              <a:gdLst/>
              <a:ahLst/>
              <a:cxnLst/>
              <a:rect l="l" t="t" r="r" b="b"/>
              <a:pathLst>
                <a:path w="1134743" h="628035">
                  <a:moveTo>
                    <a:pt x="0" y="0"/>
                  </a:moveTo>
                  <a:lnTo>
                    <a:pt x="1134743" y="0"/>
                  </a:lnTo>
                  <a:lnTo>
                    <a:pt x="1134743" y="628035"/>
                  </a:lnTo>
                  <a:lnTo>
                    <a:pt x="0" y="6280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20" b="4730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134745" cy="64710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0684307" y="3676318"/>
            <a:ext cx="5627961" cy="301990"/>
            <a:chOff x="0" y="0"/>
            <a:chExt cx="7503947" cy="40265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503943" cy="402651"/>
            </a:xfrm>
            <a:custGeom>
              <a:avLst/>
              <a:gdLst/>
              <a:ahLst/>
              <a:cxnLst/>
              <a:rect l="l" t="t" r="r" b="b"/>
              <a:pathLst>
                <a:path w="7503943" h="402651">
                  <a:moveTo>
                    <a:pt x="0" y="0"/>
                  </a:moveTo>
                  <a:lnTo>
                    <a:pt x="7503943" y="0"/>
                  </a:lnTo>
                  <a:lnTo>
                    <a:pt x="750394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130" b="-313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7503947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Дигитални компетентности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684307" y="4197936"/>
            <a:ext cx="5696588" cy="674747"/>
            <a:chOff x="0" y="0"/>
            <a:chExt cx="7595451" cy="89966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595454" cy="899668"/>
            </a:xfrm>
            <a:custGeom>
              <a:avLst/>
              <a:gdLst/>
              <a:ahLst/>
              <a:cxnLst/>
              <a:rect l="l" t="t" r="r" b="b"/>
              <a:pathLst>
                <a:path w="7595454" h="899668">
                  <a:moveTo>
                    <a:pt x="0" y="0"/>
                  </a:moveTo>
                  <a:lnTo>
                    <a:pt x="7595454" y="0"/>
                  </a:lnTo>
                  <a:lnTo>
                    <a:pt x="7595454" y="899668"/>
                  </a:lnTo>
                  <a:lnTo>
                    <a:pt x="0" y="899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901" b="-10010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7595451" cy="9187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7"/>
                </a:lnSpc>
              </a:pPr>
              <a:r>
                <a:rPr lang="en-US" sz="188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развитие на умения за работа с нови технологии и AI инструменти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28700" y="5592348"/>
            <a:ext cx="7561136" cy="1631194"/>
            <a:chOff x="0" y="0"/>
            <a:chExt cx="10081514" cy="217492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0081513" cy="2174875"/>
            </a:xfrm>
            <a:custGeom>
              <a:avLst/>
              <a:gdLst/>
              <a:ahLst/>
              <a:cxnLst/>
              <a:rect l="l" t="t" r="r" b="b"/>
              <a:pathLst>
                <a:path w="10081513" h="2174875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9934067" y="0"/>
                  </a:lnTo>
                  <a:cubicBezTo>
                    <a:pt x="10015474" y="0"/>
                    <a:pt x="10081513" y="66040"/>
                    <a:pt x="10081513" y="147447"/>
                  </a:cubicBezTo>
                  <a:lnTo>
                    <a:pt x="10081513" y="2027428"/>
                  </a:lnTo>
                  <a:cubicBezTo>
                    <a:pt x="10081513" y="2108835"/>
                    <a:pt x="10015474" y="2174875"/>
                    <a:pt x="9934067" y="2174875"/>
                  </a:cubicBezTo>
                  <a:lnTo>
                    <a:pt x="147447" y="2174875"/>
                  </a:lnTo>
                  <a:cubicBezTo>
                    <a:pt x="66040" y="2174875"/>
                    <a:pt x="0" y="2108962"/>
                    <a:pt x="0" y="2027428"/>
                  </a:cubicBez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7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71969" y="5959156"/>
            <a:ext cx="870118" cy="870118"/>
            <a:chOff x="0" y="0"/>
            <a:chExt cx="1160158" cy="116015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160145" cy="1160145"/>
            </a:xfrm>
            <a:custGeom>
              <a:avLst/>
              <a:gdLst/>
              <a:ahLst/>
              <a:cxnLst/>
              <a:rect l="l" t="t" r="r" b="b"/>
              <a:pathLst>
                <a:path w="1160145" h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81503" y="6174583"/>
            <a:ext cx="851059" cy="402375"/>
            <a:chOff x="0" y="0"/>
            <a:chExt cx="1134745" cy="53650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34743" cy="536485"/>
            </a:xfrm>
            <a:custGeom>
              <a:avLst/>
              <a:gdLst/>
              <a:ahLst/>
              <a:cxnLst/>
              <a:rect l="l" t="t" r="r" b="b"/>
              <a:pathLst>
                <a:path w="1134743" h="536485">
                  <a:moveTo>
                    <a:pt x="0" y="0"/>
                  </a:moveTo>
                  <a:lnTo>
                    <a:pt x="1134743" y="0"/>
                  </a:lnTo>
                  <a:lnTo>
                    <a:pt x="1134743" y="536485"/>
                  </a:lnTo>
                  <a:lnTo>
                    <a:pt x="0" y="536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" b="3831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134745" cy="555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2379640" y="5872602"/>
            <a:ext cx="5627961" cy="301990"/>
            <a:chOff x="0" y="0"/>
            <a:chExt cx="7503947" cy="40265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7503943" cy="402651"/>
            </a:xfrm>
            <a:custGeom>
              <a:avLst/>
              <a:gdLst/>
              <a:ahLst/>
              <a:cxnLst/>
              <a:rect l="l" t="t" r="r" b="b"/>
              <a:pathLst>
                <a:path w="7503943" h="402651">
                  <a:moveTo>
                    <a:pt x="0" y="0"/>
                  </a:moveTo>
                  <a:lnTo>
                    <a:pt x="7503943" y="0"/>
                  </a:lnTo>
                  <a:lnTo>
                    <a:pt x="750394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130" b="-313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7503947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Иновативно преподаване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2379640" y="6394210"/>
            <a:ext cx="5696588" cy="674747"/>
            <a:chOff x="0" y="0"/>
            <a:chExt cx="7595451" cy="89966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595454" cy="899668"/>
            </a:xfrm>
            <a:custGeom>
              <a:avLst/>
              <a:gdLst/>
              <a:ahLst/>
              <a:cxnLst/>
              <a:rect l="l" t="t" r="r" b="b"/>
              <a:pathLst>
                <a:path w="7595454" h="899668">
                  <a:moveTo>
                    <a:pt x="0" y="0"/>
                  </a:moveTo>
                  <a:lnTo>
                    <a:pt x="7595454" y="0"/>
                  </a:lnTo>
                  <a:lnTo>
                    <a:pt x="7595454" y="899668"/>
                  </a:lnTo>
                  <a:lnTo>
                    <a:pt x="0" y="899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901" b="-10010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7595451" cy="9187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7"/>
                </a:lnSpc>
              </a:pPr>
              <a:r>
                <a:rPr lang="en-US" sz="188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въвеждане на модерни методи и активни форми на обучение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333367" y="5592348"/>
            <a:ext cx="7561136" cy="1631194"/>
            <a:chOff x="0" y="0"/>
            <a:chExt cx="10081514" cy="2174926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0081513" cy="2174875"/>
            </a:xfrm>
            <a:custGeom>
              <a:avLst/>
              <a:gdLst/>
              <a:ahLst/>
              <a:cxnLst/>
              <a:rect l="l" t="t" r="r" b="b"/>
              <a:pathLst>
                <a:path w="10081513" h="2174875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9934067" y="0"/>
                  </a:lnTo>
                  <a:cubicBezTo>
                    <a:pt x="10015474" y="0"/>
                    <a:pt x="10081513" y="66040"/>
                    <a:pt x="10081513" y="147447"/>
                  </a:cubicBezTo>
                  <a:lnTo>
                    <a:pt x="10081513" y="2027428"/>
                  </a:lnTo>
                  <a:cubicBezTo>
                    <a:pt x="10081513" y="2108835"/>
                    <a:pt x="10015474" y="2174875"/>
                    <a:pt x="9934067" y="2174875"/>
                  </a:cubicBezTo>
                  <a:lnTo>
                    <a:pt x="147447" y="2174875"/>
                  </a:lnTo>
                  <a:cubicBezTo>
                    <a:pt x="66040" y="2174875"/>
                    <a:pt x="0" y="2108962"/>
                    <a:pt x="0" y="2027428"/>
                  </a:cubicBez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7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576635" y="5959156"/>
            <a:ext cx="870118" cy="870118"/>
            <a:chOff x="0" y="0"/>
            <a:chExt cx="1160158" cy="116015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60145" cy="1160145"/>
            </a:xfrm>
            <a:custGeom>
              <a:avLst/>
              <a:gdLst/>
              <a:ahLst/>
              <a:cxnLst/>
              <a:rect l="l" t="t" r="r" b="b"/>
              <a:pathLst>
                <a:path w="1160145" h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586170" y="6174583"/>
            <a:ext cx="851059" cy="402375"/>
            <a:chOff x="0" y="0"/>
            <a:chExt cx="1134745" cy="53650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34743" cy="536485"/>
            </a:xfrm>
            <a:custGeom>
              <a:avLst/>
              <a:gdLst/>
              <a:ahLst/>
              <a:cxnLst/>
              <a:rect l="l" t="t" r="r" b="b"/>
              <a:pathLst>
                <a:path w="1134743" h="536485">
                  <a:moveTo>
                    <a:pt x="0" y="0"/>
                  </a:moveTo>
                  <a:lnTo>
                    <a:pt x="1134743" y="0"/>
                  </a:lnTo>
                  <a:lnTo>
                    <a:pt x="1134743" y="536485"/>
                  </a:lnTo>
                  <a:lnTo>
                    <a:pt x="0" y="536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44" b="3831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1134745" cy="555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0684307" y="5872602"/>
            <a:ext cx="5627961" cy="301990"/>
            <a:chOff x="0" y="0"/>
            <a:chExt cx="7503947" cy="40265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7503943" cy="402651"/>
            </a:xfrm>
            <a:custGeom>
              <a:avLst/>
              <a:gdLst/>
              <a:ahLst/>
              <a:cxnLst/>
              <a:rect l="l" t="t" r="r" b="b"/>
              <a:pathLst>
                <a:path w="7503943" h="402651">
                  <a:moveTo>
                    <a:pt x="0" y="0"/>
                  </a:moveTo>
                  <a:lnTo>
                    <a:pt x="7503943" y="0"/>
                  </a:lnTo>
                  <a:lnTo>
                    <a:pt x="750394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130" b="-313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7503947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Комуникация и екипност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0684307" y="6394210"/>
            <a:ext cx="5696588" cy="674747"/>
            <a:chOff x="0" y="0"/>
            <a:chExt cx="7595451" cy="89966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595454" cy="899668"/>
            </a:xfrm>
            <a:custGeom>
              <a:avLst/>
              <a:gdLst/>
              <a:ahLst/>
              <a:cxnLst/>
              <a:rect l="l" t="t" r="r" b="b"/>
              <a:pathLst>
                <a:path w="7595454" h="899668">
                  <a:moveTo>
                    <a:pt x="0" y="0"/>
                  </a:moveTo>
                  <a:lnTo>
                    <a:pt x="7595454" y="0"/>
                  </a:lnTo>
                  <a:lnTo>
                    <a:pt x="7595454" y="899668"/>
                  </a:lnTo>
                  <a:lnTo>
                    <a:pt x="0" y="899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901" b="-10010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7595451" cy="9187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7"/>
                </a:lnSpc>
              </a:pPr>
              <a:r>
                <a:rPr lang="en-US" sz="188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развитие на умения за сътрудничество и ефективна комуникация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028700" y="7788623"/>
            <a:ext cx="7561136" cy="1631194"/>
            <a:chOff x="0" y="0"/>
            <a:chExt cx="10081514" cy="2174926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0081513" cy="2174875"/>
            </a:xfrm>
            <a:custGeom>
              <a:avLst/>
              <a:gdLst/>
              <a:ahLst/>
              <a:cxnLst/>
              <a:rect l="l" t="t" r="r" b="b"/>
              <a:pathLst>
                <a:path w="10081513" h="2174875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9934067" y="0"/>
                  </a:lnTo>
                  <a:cubicBezTo>
                    <a:pt x="10015474" y="0"/>
                    <a:pt x="10081513" y="66040"/>
                    <a:pt x="10081513" y="147447"/>
                  </a:cubicBezTo>
                  <a:lnTo>
                    <a:pt x="10081513" y="2027428"/>
                  </a:lnTo>
                  <a:cubicBezTo>
                    <a:pt x="10081513" y="2108835"/>
                    <a:pt x="10015474" y="2174875"/>
                    <a:pt x="9934067" y="2174875"/>
                  </a:cubicBezTo>
                  <a:lnTo>
                    <a:pt x="147447" y="2174875"/>
                  </a:lnTo>
                  <a:cubicBezTo>
                    <a:pt x="66040" y="2174875"/>
                    <a:pt x="0" y="2108962"/>
                    <a:pt x="0" y="2027428"/>
                  </a:cubicBez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7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71969" y="8155431"/>
            <a:ext cx="870118" cy="870118"/>
            <a:chOff x="0" y="0"/>
            <a:chExt cx="1160158" cy="116015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160145" cy="1160145"/>
            </a:xfrm>
            <a:custGeom>
              <a:avLst/>
              <a:gdLst/>
              <a:ahLst/>
              <a:cxnLst/>
              <a:rect l="l" t="t" r="r" b="b"/>
              <a:pathLst>
                <a:path w="1160145" h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D93682"/>
            </a:solidFill>
            <a:ln w="19065" cap="sq">
              <a:solidFill>
                <a:srgbClr val="D9368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281503" y="8370858"/>
            <a:ext cx="851059" cy="459843"/>
            <a:chOff x="0" y="0"/>
            <a:chExt cx="1134745" cy="613124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34743" cy="613107"/>
            </a:xfrm>
            <a:custGeom>
              <a:avLst/>
              <a:gdLst/>
              <a:ahLst/>
              <a:cxnLst/>
              <a:rect l="l" t="t" r="r" b="b"/>
              <a:pathLst>
                <a:path w="1134743" h="613107">
                  <a:moveTo>
                    <a:pt x="0" y="0"/>
                  </a:moveTo>
                  <a:lnTo>
                    <a:pt x="1134743" y="0"/>
                  </a:lnTo>
                  <a:lnTo>
                    <a:pt x="1134743" y="613107"/>
                  </a:lnTo>
                  <a:lnTo>
                    <a:pt x="0" y="613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51" b="4602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1134745" cy="632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2379640" y="8068877"/>
            <a:ext cx="5627961" cy="301990"/>
            <a:chOff x="0" y="0"/>
            <a:chExt cx="7503947" cy="40265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503943" cy="402651"/>
            </a:xfrm>
            <a:custGeom>
              <a:avLst/>
              <a:gdLst/>
              <a:ahLst/>
              <a:cxnLst/>
              <a:rect l="l" t="t" r="r" b="b"/>
              <a:pathLst>
                <a:path w="7503943" h="402651">
                  <a:moveTo>
                    <a:pt x="0" y="0"/>
                  </a:moveTo>
                  <a:lnTo>
                    <a:pt x="7503943" y="0"/>
                  </a:lnTo>
                  <a:lnTo>
                    <a:pt x="750394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130" b="-313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7503947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Креативност и критично мислене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379640" y="8590485"/>
            <a:ext cx="5696588" cy="674747"/>
            <a:chOff x="0" y="0"/>
            <a:chExt cx="7595451" cy="89966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7595454" cy="899668"/>
            </a:xfrm>
            <a:custGeom>
              <a:avLst/>
              <a:gdLst/>
              <a:ahLst/>
              <a:cxnLst/>
              <a:rect l="l" t="t" r="r" b="b"/>
              <a:pathLst>
                <a:path w="7595454" h="899668">
                  <a:moveTo>
                    <a:pt x="0" y="0"/>
                  </a:moveTo>
                  <a:lnTo>
                    <a:pt x="7595454" y="0"/>
                  </a:lnTo>
                  <a:lnTo>
                    <a:pt x="7595454" y="899668"/>
                  </a:lnTo>
                  <a:lnTo>
                    <a:pt x="0" y="899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901" b="-10010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7595451" cy="9187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7"/>
                </a:lnSpc>
              </a:pPr>
              <a:r>
                <a:rPr lang="en-US" sz="188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насърчаване на уменията на XXI век в класната стая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9333367" y="7788623"/>
            <a:ext cx="7561136" cy="1631194"/>
            <a:chOff x="0" y="0"/>
            <a:chExt cx="10081514" cy="2174926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0081513" cy="2174875"/>
            </a:xfrm>
            <a:custGeom>
              <a:avLst/>
              <a:gdLst/>
              <a:ahLst/>
              <a:cxnLst/>
              <a:rect l="l" t="t" r="r" b="b"/>
              <a:pathLst>
                <a:path w="10081513" h="2174875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9934067" y="0"/>
                  </a:lnTo>
                  <a:cubicBezTo>
                    <a:pt x="10015474" y="0"/>
                    <a:pt x="10081513" y="66040"/>
                    <a:pt x="10081513" y="147447"/>
                  </a:cubicBezTo>
                  <a:lnTo>
                    <a:pt x="10081513" y="2027428"/>
                  </a:lnTo>
                  <a:cubicBezTo>
                    <a:pt x="10081513" y="2108835"/>
                    <a:pt x="10015474" y="2174875"/>
                    <a:pt x="9934067" y="2174875"/>
                  </a:cubicBezTo>
                  <a:lnTo>
                    <a:pt x="147447" y="2174875"/>
                  </a:lnTo>
                  <a:cubicBezTo>
                    <a:pt x="66040" y="2174875"/>
                    <a:pt x="0" y="2108962"/>
                    <a:pt x="0" y="2027428"/>
                  </a:cubicBezTo>
                  <a:close/>
                </a:path>
              </a:pathLst>
            </a:custGeom>
            <a:solidFill>
              <a:srgbClr val="FFFFFF"/>
            </a:solidFill>
            <a:ln w="11439" cap="sq">
              <a:solidFill>
                <a:srgbClr val="D7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9576635" y="8155431"/>
            <a:ext cx="870118" cy="870118"/>
            <a:chOff x="0" y="0"/>
            <a:chExt cx="1160158" cy="116015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160145" cy="1160145"/>
            </a:xfrm>
            <a:custGeom>
              <a:avLst/>
              <a:gdLst/>
              <a:ahLst/>
              <a:cxnLst/>
              <a:rect l="l" t="t" r="r" b="b"/>
              <a:pathLst>
                <a:path w="1160145" h="1160145">
                  <a:moveTo>
                    <a:pt x="0" y="580136"/>
                  </a:moveTo>
                  <a:cubicBezTo>
                    <a:pt x="0" y="259715"/>
                    <a:pt x="259715" y="0"/>
                    <a:pt x="580136" y="0"/>
                  </a:cubicBezTo>
                  <a:cubicBezTo>
                    <a:pt x="900557" y="0"/>
                    <a:pt x="1160145" y="259715"/>
                    <a:pt x="1160145" y="580136"/>
                  </a:cubicBezTo>
                  <a:cubicBezTo>
                    <a:pt x="1160145" y="900557"/>
                    <a:pt x="900430" y="1160145"/>
                    <a:pt x="580136" y="1160145"/>
                  </a:cubicBezTo>
                  <a:cubicBezTo>
                    <a:pt x="259842" y="1160145"/>
                    <a:pt x="0" y="900430"/>
                    <a:pt x="0" y="580136"/>
                  </a:cubicBezTo>
                  <a:close/>
                </a:path>
              </a:pathLst>
            </a:custGeom>
            <a:solidFill>
              <a:srgbClr val="2F6B2F"/>
            </a:solidFill>
            <a:ln w="19065" cap="sq">
              <a:solidFill>
                <a:srgbClr val="2F6B2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586170" y="8370858"/>
            <a:ext cx="851059" cy="459843"/>
            <a:chOff x="0" y="0"/>
            <a:chExt cx="1134745" cy="61312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34743" cy="613107"/>
            </a:xfrm>
            <a:custGeom>
              <a:avLst/>
              <a:gdLst/>
              <a:ahLst/>
              <a:cxnLst/>
              <a:rect l="l" t="t" r="r" b="b"/>
              <a:pathLst>
                <a:path w="1134743" h="613107">
                  <a:moveTo>
                    <a:pt x="0" y="0"/>
                  </a:moveTo>
                  <a:lnTo>
                    <a:pt x="1134743" y="0"/>
                  </a:lnTo>
                  <a:lnTo>
                    <a:pt x="1134743" y="613107"/>
                  </a:lnTo>
                  <a:lnTo>
                    <a:pt x="0" y="613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151" b="4602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1134745" cy="6321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0684307" y="8068877"/>
            <a:ext cx="5627961" cy="301990"/>
            <a:chOff x="0" y="0"/>
            <a:chExt cx="7503947" cy="402654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7503943" cy="402651"/>
            </a:xfrm>
            <a:custGeom>
              <a:avLst/>
              <a:gdLst/>
              <a:ahLst/>
              <a:cxnLst/>
              <a:rect l="l" t="t" r="r" b="b"/>
              <a:pathLst>
                <a:path w="7503943" h="402651">
                  <a:moveTo>
                    <a:pt x="0" y="0"/>
                  </a:moveTo>
                  <a:lnTo>
                    <a:pt x="7503943" y="0"/>
                  </a:lnTo>
                  <a:lnTo>
                    <a:pt x="750394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3130" b="-313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7503947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12"/>
                </a:lnSpc>
              </a:pPr>
              <a:r>
                <a:rPr lang="en-US" sz="21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Устойчивост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0684307" y="8590485"/>
            <a:ext cx="5696588" cy="674747"/>
            <a:chOff x="0" y="0"/>
            <a:chExt cx="7595451" cy="89966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7595454" cy="899668"/>
            </a:xfrm>
            <a:custGeom>
              <a:avLst/>
              <a:gdLst/>
              <a:ahLst/>
              <a:cxnLst/>
              <a:rect l="l" t="t" r="r" b="b"/>
              <a:pathLst>
                <a:path w="7595454" h="899668">
                  <a:moveTo>
                    <a:pt x="0" y="0"/>
                  </a:moveTo>
                  <a:lnTo>
                    <a:pt x="7595454" y="0"/>
                  </a:lnTo>
                  <a:lnTo>
                    <a:pt x="7595454" y="899668"/>
                  </a:lnTo>
                  <a:lnTo>
                    <a:pt x="0" y="8996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8901" b="-10010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7595451" cy="9187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7"/>
                </a:lnSpc>
              </a:pPr>
              <a:r>
                <a:rPr lang="en-US" sz="188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прилагане на придобитите знания в училищната практика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90" name="Freeform 90"/>
          <p:cNvSpPr/>
          <p:nvPr/>
        </p:nvSpPr>
        <p:spPr>
          <a:xfrm>
            <a:off x="13840" y="0"/>
            <a:ext cx="18297535" cy="2185843"/>
          </a:xfrm>
          <a:custGeom>
            <a:avLst/>
            <a:gdLst/>
            <a:ahLst/>
            <a:cxnLst/>
            <a:rect l="l" t="t" r="r" b="b"/>
            <a:pathLst>
              <a:path w="18297535" h="2185843">
                <a:moveTo>
                  <a:pt x="0" y="0"/>
                </a:moveTo>
                <a:lnTo>
                  <a:pt x="18297534" y="0"/>
                </a:lnTo>
                <a:lnTo>
                  <a:pt x="18297534" y="2185843"/>
                </a:lnTo>
                <a:lnTo>
                  <a:pt x="0" y="2185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9742" b="-89113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" y="2336987"/>
            <a:ext cx="18320909" cy="1499025"/>
            <a:chOff x="0" y="0"/>
            <a:chExt cx="24427878" cy="199870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998679"/>
            </a:xfrm>
            <a:custGeom>
              <a:avLst/>
              <a:gdLst/>
              <a:ahLst/>
              <a:cxnLst/>
              <a:rect l="l" t="t" r="r" b="b"/>
              <a:pathLst>
                <a:path w="24427814" h="1998679">
                  <a:moveTo>
                    <a:pt x="0" y="0"/>
                  </a:moveTo>
                  <a:lnTo>
                    <a:pt x="24427814" y="0"/>
                  </a:lnTo>
                  <a:lnTo>
                    <a:pt x="24427814" y="1998679"/>
                  </a:lnTo>
                  <a:lnTo>
                    <a:pt x="0" y="1998679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1846" y="2646439"/>
            <a:ext cx="16472068" cy="676547"/>
            <a:chOff x="0" y="0"/>
            <a:chExt cx="21962758" cy="902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902052"/>
            </a:xfrm>
            <a:custGeom>
              <a:avLst/>
              <a:gdLst/>
              <a:ahLst/>
              <a:cxnLst/>
              <a:rect l="l" t="t" r="r" b="b"/>
              <a:pathLst>
                <a:path w="21962759" h="902052">
                  <a:moveTo>
                    <a:pt x="0" y="0"/>
                  </a:moveTo>
                  <a:lnTo>
                    <a:pt x="21962759" y="0"/>
                  </a:lnTo>
                  <a:lnTo>
                    <a:pt x="21962759" y="902052"/>
                  </a:lnTo>
                  <a:lnTo>
                    <a:pt x="0" y="902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007" b="-40281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930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РАБОТНА ПРОГРАМА И ЕТАПИ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61761" y="3471501"/>
            <a:ext cx="16197539" cy="1671999"/>
            <a:chOff x="0" y="0"/>
            <a:chExt cx="21596718" cy="222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96713" cy="2229338"/>
            </a:xfrm>
            <a:custGeom>
              <a:avLst/>
              <a:gdLst/>
              <a:ahLst/>
              <a:cxnLst/>
              <a:rect l="l" t="t" r="r" b="b"/>
              <a:pathLst>
                <a:path w="21596713" h="2229338">
                  <a:moveTo>
                    <a:pt x="0" y="0"/>
                  </a:moveTo>
                  <a:lnTo>
                    <a:pt x="21596713" y="0"/>
                  </a:lnTo>
                  <a:lnTo>
                    <a:pt x="21596713" y="2229338"/>
                  </a:lnTo>
                  <a:lnTo>
                    <a:pt x="0" y="22293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4394" b="-10312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596718" cy="22388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46"/>
                </a:lnSpc>
              </a:pPr>
              <a:r>
                <a:rPr lang="en-US" sz="237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Основните дейности са подредени по етапи от информиране и подбор до реализиране на мобилностите, разпространение и отчет.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27884" y="5928217"/>
            <a:ext cx="544497" cy="544497"/>
            <a:chOff x="0" y="0"/>
            <a:chExt cx="725996" cy="7259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004494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03980" y="5143500"/>
            <a:ext cx="1592304" cy="467541"/>
            <a:chOff x="0" y="0"/>
            <a:chExt cx="2123072" cy="62338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123067" cy="623391"/>
            </a:xfrm>
            <a:custGeom>
              <a:avLst/>
              <a:gdLst/>
              <a:ahLst/>
              <a:cxnLst/>
              <a:rect l="l" t="t" r="r" b="b"/>
              <a:pathLst>
                <a:path w="2123067" h="623391">
                  <a:moveTo>
                    <a:pt x="0" y="0"/>
                  </a:moveTo>
                  <a:lnTo>
                    <a:pt x="2123067" y="0"/>
                  </a:lnTo>
                  <a:lnTo>
                    <a:pt x="2123067" y="623391"/>
                  </a:lnTo>
                  <a:lnTo>
                    <a:pt x="0" y="62339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93" b="-452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123072" cy="642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5"/>
                </a:lnSpc>
              </a:pPr>
              <a:r>
                <a:rPr lang="en-US" sz="227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юли 2025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66706" y="6790715"/>
            <a:ext cx="1866833" cy="686336"/>
            <a:chOff x="0" y="0"/>
            <a:chExt cx="2489111" cy="91511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89113" cy="915119"/>
            </a:xfrm>
            <a:custGeom>
              <a:avLst/>
              <a:gdLst/>
              <a:ahLst/>
              <a:cxnLst/>
              <a:rect l="l" t="t" r="r" b="b"/>
              <a:pathLst>
                <a:path w="2489113" h="915119">
                  <a:moveTo>
                    <a:pt x="0" y="0"/>
                  </a:moveTo>
                  <a:lnTo>
                    <a:pt x="2489113" y="0"/>
                  </a:lnTo>
                  <a:lnTo>
                    <a:pt x="248911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489111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Педагогически съвет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333960" y="5928217"/>
            <a:ext cx="544497" cy="544497"/>
            <a:chOff x="0" y="0"/>
            <a:chExt cx="725996" cy="72599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32A7E2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810056" y="5143500"/>
            <a:ext cx="1592304" cy="403452"/>
            <a:chOff x="0" y="0"/>
            <a:chExt cx="2123072" cy="53793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23067" cy="537940"/>
            </a:xfrm>
            <a:custGeom>
              <a:avLst/>
              <a:gdLst/>
              <a:ahLst/>
              <a:cxnLst/>
              <a:rect l="l" t="t" r="r" b="b"/>
              <a:pathLst>
                <a:path w="2123067" h="537940">
                  <a:moveTo>
                    <a:pt x="0" y="0"/>
                  </a:moveTo>
                  <a:lnTo>
                    <a:pt x="2123067" y="0"/>
                  </a:lnTo>
                  <a:lnTo>
                    <a:pt x="2123067" y="537940"/>
                  </a:lnTo>
                  <a:lnTo>
                    <a:pt x="0" y="537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71" b="-21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2123072" cy="556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5"/>
                </a:lnSpc>
              </a:pPr>
              <a:r>
                <a:rPr lang="en-US" sz="197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септ. 2025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672791" y="6790715"/>
            <a:ext cx="1866833" cy="686336"/>
            <a:chOff x="0" y="0"/>
            <a:chExt cx="2489111" cy="91511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489113" cy="915119"/>
            </a:xfrm>
            <a:custGeom>
              <a:avLst/>
              <a:gdLst/>
              <a:ahLst/>
              <a:cxnLst/>
              <a:rect l="l" t="t" r="r" b="b"/>
              <a:pathLst>
                <a:path w="2489113" h="915119">
                  <a:moveTo>
                    <a:pt x="0" y="0"/>
                  </a:moveTo>
                  <a:lnTo>
                    <a:pt x="2489113" y="0"/>
                  </a:lnTo>
                  <a:lnTo>
                    <a:pt x="248911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2489111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Екип и администрация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540045" y="5928217"/>
            <a:ext cx="544497" cy="544497"/>
            <a:chOff x="0" y="0"/>
            <a:chExt cx="725996" cy="72599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004494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016141" y="5143500"/>
            <a:ext cx="1592304" cy="403452"/>
            <a:chOff x="0" y="0"/>
            <a:chExt cx="2123072" cy="53793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123067" cy="537940"/>
            </a:xfrm>
            <a:custGeom>
              <a:avLst/>
              <a:gdLst/>
              <a:ahLst/>
              <a:cxnLst/>
              <a:rect l="l" t="t" r="r" b="b"/>
              <a:pathLst>
                <a:path w="2123067" h="537940">
                  <a:moveTo>
                    <a:pt x="0" y="0"/>
                  </a:moveTo>
                  <a:lnTo>
                    <a:pt x="2123067" y="0"/>
                  </a:lnTo>
                  <a:lnTo>
                    <a:pt x="2123067" y="537940"/>
                  </a:lnTo>
                  <a:lnTo>
                    <a:pt x="0" y="537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71" b="-21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2123072" cy="556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5"/>
                </a:lnSpc>
              </a:pPr>
              <a:r>
                <a:rPr lang="en-US" sz="197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септ.–окт.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878867" y="6790715"/>
            <a:ext cx="1866833" cy="686336"/>
            <a:chOff x="0" y="0"/>
            <a:chExt cx="2489111" cy="91511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489113" cy="915119"/>
            </a:xfrm>
            <a:custGeom>
              <a:avLst/>
              <a:gdLst/>
              <a:ahLst/>
              <a:cxnLst/>
              <a:rect l="l" t="t" r="r" b="b"/>
              <a:pathLst>
                <a:path w="2489113" h="915119">
                  <a:moveTo>
                    <a:pt x="0" y="0"/>
                  </a:moveTo>
                  <a:lnTo>
                    <a:pt x="2489113" y="0"/>
                  </a:lnTo>
                  <a:lnTo>
                    <a:pt x="248911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489111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Подбор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746121" y="5928217"/>
            <a:ext cx="544497" cy="544497"/>
            <a:chOff x="0" y="0"/>
            <a:chExt cx="725996" cy="72599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32A7E2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222217" y="5143500"/>
            <a:ext cx="1592304" cy="403452"/>
            <a:chOff x="0" y="0"/>
            <a:chExt cx="2123072" cy="53793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123067" cy="537940"/>
            </a:xfrm>
            <a:custGeom>
              <a:avLst/>
              <a:gdLst/>
              <a:ahLst/>
              <a:cxnLst/>
              <a:rect l="l" t="t" r="r" b="b"/>
              <a:pathLst>
                <a:path w="2123067" h="537940">
                  <a:moveTo>
                    <a:pt x="0" y="0"/>
                  </a:moveTo>
                  <a:lnTo>
                    <a:pt x="2123067" y="0"/>
                  </a:lnTo>
                  <a:lnTo>
                    <a:pt x="2123067" y="537940"/>
                  </a:lnTo>
                  <a:lnTo>
                    <a:pt x="0" y="537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71" b="-21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2123072" cy="556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5"/>
                </a:lnSpc>
              </a:pPr>
              <a:r>
                <a:rPr lang="en-US" sz="197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септ.–ян.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84952" y="6790715"/>
            <a:ext cx="1866833" cy="686336"/>
            <a:chOff x="0" y="0"/>
            <a:chExt cx="2489111" cy="91511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89113" cy="915119"/>
            </a:xfrm>
            <a:custGeom>
              <a:avLst/>
              <a:gdLst/>
              <a:ahLst/>
              <a:cxnLst/>
              <a:rect l="l" t="t" r="r" b="b"/>
              <a:pathLst>
                <a:path w="2489113" h="915119">
                  <a:moveTo>
                    <a:pt x="0" y="0"/>
                  </a:moveTo>
                  <a:lnTo>
                    <a:pt x="2489113" y="0"/>
                  </a:lnTo>
                  <a:lnTo>
                    <a:pt x="248911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2489111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Подготовка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952206" y="5928217"/>
            <a:ext cx="544497" cy="544497"/>
            <a:chOff x="0" y="0"/>
            <a:chExt cx="725996" cy="725996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004494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428302" y="5143500"/>
            <a:ext cx="1592304" cy="403452"/>
            <a:chOff x="0" y="0"/>
            <a:chExt cx="2123072" cy="53793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23067" cy="537940"/>
            </a:xfrm>
            <a:custGeom>
              <a:avLst/>
              <a:gdLst/>
              <a:ahLst/>
              <a:cxnLst/>
              <a:rect l="l" t="t" r="r" b="b"/>
              <a:pathLst>
                <a:path w="2123067" h="537940">
                  <a:moveTo>
                    <a:pt x="0" y="0"/>
                  </a:moveTo>
                  <a:lnTo>
                    <a:pt x="2123067" y="0"/>
                  </a:lnTo>
                  <a:lnTo>
                    <a:pt x="2123067" y="537940"/>
                  </a:lnTo>
                  <a:lnTo>
                    <a:pt x="0" y="537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71" b="-21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123072" cy="556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5"/>
                </a:lnSpc>
              </a:pPr>
              <a:r>
                <a:rPr lang="en-US" sz="197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окт.–ноем.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291037" y="6790715"/>
            <a:ext cx="1866833" cy="686336"/>
            <a:chOff x="0" y="0"/>
            <a:chExt cx="2489111" cy="91511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489113" cy="915119"/>
            </a:xfrm>
            <a:custGeom>
              <a:avLst/>
              <a:gdLst/>
              <a:ahLst/>
              <a:cxnLst/>
              <a:rect l="l" t="t" r="r" b="b"/>
              <a:pathLst>
                <a:path w="2489113" h="915119">
                  <a:moveTo>
                    <a:pt x="0" y="0"/>
                  </a:moveTo>
                  <a:lnTo>
                    <a:pt x="2489113" y="0"/>
                  </a:lnTo>
                  <a:lnTo>
                    <a:pt x="248911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489111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Сайт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2158281" y="5928217"/>
            <a:ext cx="544497" cy="544497"/>
            <a:chOff x="0" y="0"/>
            <a:chExt cx="725996" cy="72599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32A7E2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634378" y="5143500"/>
            <a:ext cx="1592304" cy="698727"/>
            <a:chOff x="0" y="0"/>
            <a:chExt cx="2123072" cy="931636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23067" cy="931640"/>
            </a:xfrm>
            <a:custGeom>
              <a:avLst/>
              <a:gdLst/>
              <a:ahLst/>
              <a:cxnLst/>
              <a:rect l="l" t="t" r="r" b="b"/>
              <a:pathLst>
                <a:path w="2123067" h="931640">
                  <a:moveTo>
                    <a:pt x="0" y="0"/>
                  </a:moveTo>
                  <a:lnTo>
                    <a:pt x="2123067" y="0"/>
                  </a:lnTo>
                  <a:lnTo>
                    <a:pt x="2123067" y="931640"/>
                  </a:lnTo>
                  <a:lnTo>
                    <a:pt x="0" y="931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64" b="3005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2123072" cy="9506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5"/>
                </a:lnSpc>
              </a:pPr>
              <a:r>
                <a:rPr lang="en-US" sz="197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ян.–юни 2026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1497113" y="6790715"/>
            <a:ext cx="1866833" cy="686336"/>
            <a:chOff x="0" y="0"/>
            <a:chExt cx="2489111" cy="915115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489113" cy="915119"/>
            </a:xfrm>
            <a:custGeom>
              <a:avLst/>
              <a:gdLst/>
              <a:ahLst/>
              <a:cxnLst/>
              <a:rect l="l" t="t" r="r" b="b"/>
              <a:pathLst>
                <a:path w="2489113" h="915119">
                  <a:moveTo>
                    <a:pt x="0" y="0"/>
                  </a:moveTo>
                  <a:lnTo>
                    <a:pt x="2489113" y="0"/>
                  </a:lnTo>
                  <a:lnTo>
                    <a:pt x="248911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2489111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Мобилности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364367" y="5928217"/>
            <a:ext cx="544497" cy="544497"/>
            <a:chOff x="0" y="0"/>
            <a:chExt cx="725996" cy="725996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004494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3840463" y="5143500"/>
            <a:ext cx="1592304" cy="403452"/>
            <a:chOff x="0" y="0"/>
            <a:chExt cx="2123072" cy="53793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123067" cy="537940"/>
            </a:xfrm>
            <a:custGeom>
              <a:avLst/>
              <a:gdLst/>
              <a:ahLst/>
              <a:cxnLst/>
              <a:rect l="l" t="t" r="r" b="b"/>
              <a:pathLst>
                <a:path w="2123067" h="537940">
                  <a:moveTo>
                    <a:pt x="0" y="0"/>
                  </a:moveTo>
                  <a:lnTo>
                    <a:pt x="2123067" y="0"/>
                  </a:lnTo>
                  <a:lnTo>
                    <a:pt x="2123067" y="537940"/>
                  </a:lnTo>
                  <a:lnTo>
                    <a:pt x="0" y="537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71" b="-21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2123072" cy="556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5"/>
                </a:lnSpc>
              </a:pPr>
              <a:r>
                <a:rPr lang="en-US" sz="197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до 31.08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3703198" y="6790715"/>
            <a:ext cx="2073171" cy="686336"/>
            <a:chOff x="0" y="0"/>
            <a:chExt cx="2764229" cy="915115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764230" cy="915119"/>
            </a:xfrm>
            <a:custGeom>
              <a:avLst/>
              <a:gdLst/>
              <a:ahLst/>
              <a:cxnLst/>
              <a:rect l="l" t="t" r="r" b="b"/>
              <a:pathLst>
                <a:path w="2764230" h="915119">
                  <a:moveTo>
                    <a:pt x="0" y="0"/>
                  </a:moveTo>
                  <a:lnTo>
                    <a:pt x="2764230" y="0"/>
                  </a:lnTo>
                  <a:lnTo>
                    <a:pt x="2764230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r="9952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2764229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Разпространение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6570442" y="5928217"/>
            <a:ext cx="544497" cy="544497"/>
            <a:chOff x="0" y="0"/>
            <a:chExt cx="725996" cy="72599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725932" cy="725932"/>
            </a:xfrm>
            <a:custGeom>
              <a:avLst/>
              <a:gdLst/>
              <a:ahLst/>
              <a:cxnLst/>
              <a:rect l="l" t="t" r="r" b="b"/>
              <a:pathLst>
                <a:path w="725932" h="725932">
                  <a:moveTo>
                    <a:pt x="0" y="362966"/>
                  </a:moveTo>
                  <a:cubicBezTo>
                    <a:pt x="0" y="162560"/>
                    <a:pt x="162560" y="0"/>
                    <a:pt x="362966" y="0"/>
                  </a:cubicBezTo>
                  <a:cubicBezTo>
                    <a:pt x="563372" y="0"/>
                    <a:pt x="725932" y="162560"/>
                    <a:pt x="725932" y="362966"/>
                  </a:cubicBezTo>
                  <a:cubicBezTo>
                    <a:pt x="725932" y="563372"/>
                    <a:pt x="563499" y="725932"/>
                    <a:pt x="362966" y="725932"/>
                  </a:cubicBezTo>
                  <a:cubicBezTo>
                    <a:pt x="162433" y="725932"/>
                    <a:pt x="0" y="563499"/>
                    <a:pt x="0" y="362966"/>
                  </a:cubicBezTo>
                  <a:close/>
                </a:path>
              </a:pathLst>
            </a:custGeom>
            <a:solidFill>
              <a:srgbClr val="32A7E2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1380106" y="6180449"/>
            <a:ext cx="15482602" cy="40034"/>
            <a:chOff x="0" y="0"/>
            <a:chExt cx="20643469" cy="53378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0643469" cy="53340"/>
            </a:xfrm>
            <a:custGeom>
              <a:avLst/>
              <a:gdLst/>
              <a:ahLst/>
              <a:cxnLst/>
              <a:rect l="l" t="t" r="r" b="b"/>
              <a:pathLst>
                <a:path w="20643469" h="53340">
                  <a:moveTo>
                    <a:pt x="0" y="0"/>
                  </a:moveTo>
                  <a:lnTo>
                    <a:pt x="20643469" y="5334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7490999" b="-7491070"/>
              </a:stretch>
            </a:blipFill>
            <a:ln w="40036" cap="sq">
              <a:solidFill>
                <a:srgbClr val="B7CBE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6046539" y="5143500"/>
            <a:ext cx="1592304" cy="403452"/>
            <a:chOff x="0" y="0"/>
            <a:chExt cx="2123072" cy="53793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123067" cy="537940"/>
            </a:xfrm>
            <a:custGeom>
              <a:avLst/>
              <a:gdLst/>
              <a:ahLst/>
              <a:cxnLst/>
              <a:rect l="l" t="t" r="r" b="b"/>
              <a:pathLst>
                <a:path w="2123067" h="537940">
                  <a:moveTo>
                    <a:pt x="0" y="0"/>
                  </a:moveTo>
                  <a:lnTo>
                    <a:pt x="2123067" y="0"/>
                  </a:lnTo>
                  <a:lnTo>
                    <a:pt x="2123067" y="537940"/>
                  </a:lnTo>
                  <a:lnTo>
                    <a:pt x="0" y="5379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671" b="-211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0" y="-19050"/>
              <a:ext cx="2123072" cy="5569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65"/>
                </a:lnSpc>
              </a:pPr>
              <a:r>
                <a:rPr lang="en-US" sz="197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септ.–окт.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5909274" y="6790715"/>
            <a:ext cx="1866833" cy="686336"/>
            <a:chOff x="0" y="0"/>
            <a:chExt cx="2489111" cy="915115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489113" cy="915119"/>
            </a:xfrm>
            <a:custGeom>
              <a:avLst/>
              <a:gdLst/>
              <a:ahLst/>
              <a:cxnLst/>
              <a:rect l="l" t="t" r="r" b="b"/>
              <a:pathLst>
                <a:path w="2489113" h="915119">
                  <a:moveTo>
                    <a:pt x="0" y="0"/>
                  </a:moveTo>
                  <a:lnTo>
                    <a:pt x="2489113" y="0"/>
                  </a:lnTo>
                  <a:lnTo>
                    <a:pt x="2489113" y="915119"/>
                  </a:lnTo>
                  <a:lnTo>
                    <a:pt x="0" y="9151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99" b="-299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2489111" cy="934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91"/>
                </a:lnSpc>
              </a:pPr>
              <a:r>
                <a:rPr lang="en-US" sz="18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Финален отчет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159197" y="8287989"/>
            <a:ext cx="16214717" cy="1144657"/>
            <a:chOff x="0" y="0"/>
            <a:chExt cx="21619623" cy="152621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21619581" cy="1526159"/>
            </a:xfrm>
            <a:custGeom>
              <a:avLst/>
              <a:gdLst/>
              <a:ahLst/>
              <a:cxnLst/>
              <a:rect l="l" t="t" r="r" b="b"/>
              <a:pathLst>
                <a:path w="21619581" h="1526159">
                  <a:moveTo>
                    <a:pt x="0" y="148844"/>
                  </a:moveTo>
                  <a:cubicBezTo>
                    <a:pt x="0" y="66675"/>
                    <a:pt x="70234" y="0"/>
                    <a:pt x="156790" y="0"/>
                  </a:cubicBezTo>
                  <a:lnTo>
                    <a:pt x="21462792" y="0"/>
                  </a:lnTo>
                  <a:cubicBezTo>
                    <a:pt x="21549482" y="0"/>
                    <a:pt x="21619581" y="66675"/>
                    <a:pt x="21619581" y="148844"/>
                  </a:cubicBezTo>
                  <a:lnTo>
                    <a:pt x="21619581" y="1377315"/>
                  </a:lnTo>
                  <a:cubicBezTo>
                    <a:pt x="21619581" y="1459611"/>
                    <a:pt x="21549348" y="1526159"/>
                    <a:pt x="21462792" y="1526159"/>
                  </a:cubicBezTo>
                  <a:lnTo>
                    <a:pt x="156790" y="1526159"/>
                  </a:lnTo>
                  <a:cubicBezTo>
                    <a:pt x="70234" y="1526159"/>
                    <a:pt x="0" y="1459484"/>
                    <a:pt x="0" y="1377315"/>
                  </a:cubicBezTo>
                  <a:close/>
                </a:path>
              </a:pathLst>
            </a:custGeom>
            <a:solidFill>
              <a:srgbClr val="EDF6FF"/>
            </a:solidFill>
            <a:ln w="19065" cap="sq">
              <a:solidFill>
                <a:srgbClr val="CFE3F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1511898" y="8709318"/>
            <a:ext cx="15875217" cy="265815"/>
            <a:chOff x="0" y="0"/>
            <a:chExt cx="19674967" cy="329438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9674971" cy="329441"/>
            </a:xfrm>
            <a:custGeom>
              <a:avLst/>
              <a:gdLst/>
              <a:ahLst/>
              <a:cxnLst/>
              <a:rect l="l" t="t" r="r" b="b"/>
              <a:pathLst>
                <a:path w="19674971" h="329441">
                  <a:moveTo>
                    <a:pt x="0" y="0"/>
                  </a:moveTo>
                  <a:lnTo>
                    <a:pt x="19674971" y="0"/>
                  </a:lnTo>
                  <a:lnTo>
                    <a:pt x="19674971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3690" b="-111368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19674967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Планиран период за образователните мобилности: януари – юни 2026 г. · Разпространение на резултатите: до 31 август 2026 г.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86" name="TextBox 86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87" name="Freeform 87"/>
          <p:cNvSpPr/>
          <p:nvPr/>
        </p:nvSpPr>
        <p:spPr>
          <a:xfrm>
            <a:off x="13840" y="0"/>
            <a:ext cx="18297535" cy="2185843"/>
          </a:xfrm>
          <a:custGeom>
            <a:avLst/>
            <a:gdLst/>
            <a:ahLst/>
            <a:cxnLst/>
            <a:rect l="l" t="t" r="r" b="b"/>
            <a:pathLst>
              <a:path w="18297535" h="2185843">
                <a:moveTo>
                  <a:pt x="0" y="0"/>
                </a:moveTo>
                <a:lnTo>
                  <a:pt x="18297534" y="0"/>
                </a:lnTo>
                <a:lnTo>
                  <a:pt x="18297534" y="2185843"/>
                </a:lnTo>
                <a:lnTo>
                  <a:pt x="0" y="21858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9742" b="-89113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2124130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37938" y="2312105"/>
            <a:ext cx="16472068" cy="676547"/>
            <a:chOff x="0" y="0"/>
            <a:chExt cx="21962758" cy="902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902052"/>
            </a:xfrm>
            <a:custGeom>
              <a:avLst/>
              <a:gdLst/>
              <a:ahLst/>
              <a:cxnLst/>
              <a:rect l="l" t="t" r="r" b="b"/>
              <a:pathLst>
                <a:path w="21962759" h="902052">
                  <a:moveTo>
                    <a:pt x="0" y="0"/>
                  </a:moveTo>
                  <a:lnTo>
                    <a:pt x="21962759" y="0"/>
                  </a:lnTo>
                  <a:lnTo>
                    <a:pt x="21962759" y="902052"/>
                  </a:lnTo>
                  <a:lnTo>
                    <a:pt x="0" y="902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007" b="-40281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930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ОРГАНИЗАЦИИ И ВИЗУАЛНА ИДЕНТИЧНОСТ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94436" y="3346673"/>
            <a:ext cx="16746607" cy="2015514"/>
            <a:chOff x="0" y="0"/>
            <a:chExt cx="22328810" cy="2687352"/>
          </a:xfrm>
        </p:grpSpPr>
        <p:sp>
          <p:nvSpPr>
            <p:cNvPr id="8" name="Freeform 8" descr="/mnt/data/assets/school_photo_strip.png"/>
            <p:cNvSpPr/>
            <p:nvPr/>
          </p:nvSpPr>
          <p:spPr>
            <a:xfrm>
              <a:off x="0" y="0"/>
              <a:ext cx="22328760" cy="2687313"/>
            </a:xfrm>
            <a:custGeom>
              <a:avLst/>
              <a:gdLst/>
              <a:ahLst/>
              <a:cxnLst/>
              <a:rect l="l" t="t" r="r" b="b"/>
              <a:pathLst>
                <a:path w="22328760" h="2687313">
                  <a:moveTo>
                    <a:pt x="0" y="0"/>
                  </a:moveTo>
                  <a:lnTo>
                    <a:pt x="22328760" y="0"/>
                  </a:lnTo>
                  <a:lnTo>
                    <a:pt x="22328760" y="2687313"/>
                  </a:lnTo>
                  <a:lnTo>
                    <a:pt x="0" y="26873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7030" b="-27032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43505" y="5352845"/>
            <a:ext cx="15648470" cy="676547"/>
            <a:chOff x="0" y="0"/>
            <a:chExt cx="20864627" cy="90206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864621" cy="902058"/>
            </a:xfrm>
            <a:custGeom>
              <a:avLst/>
              <a:gdLst/>
              <a:ahLst/>
              <a:cxnLst/>
              <a:rect l="l" t="t" r="r" b="b"/>
              <a:pathLst>
                <a:path w="20864621" h="902058">
                  <a:moveTo>
                    <a:pt x="0" y="0"/>
                  </a:moveTo>
                  <a:lnTo>
                    <a:pt x="20864621" y="0"/>
                  </a:lnTo>
                  <a:lnTo>
                    <a:pt x="20864621" y="902058"/>
                  </a:lnTo>
                  <a:lnTo>
                    <a:pt x="0" y="9020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0255" b="-38112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0864627" cy="930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ПГИ „Иван Илиев“ – Благоевград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71245" y="6381817"/>
            <a:ext cx="3656647" cy="2009442"/>
            <a:chOff x="0" y="0"/>
            <a:chExt cx="4875530" cy="267925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875530" cy="2679319"/>
            </a:xfrm>
            <a:custGeom>
              <a:avLst/>
              <a:gdLst/>
              <a:ahLst/>
              <a:cxnLst/>
              <a:rect l="l" t="t" r="r" b="b"/>
              <a:pathLst>
                <a:path w="4875530" h="267931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727702" y="0"/>
                  </a:lnTo>
                  <a:cubicBezTo>
                    <a:pt x="4809363" y="0"/>
                    <a:pt x="4875530" y="66167"/>
                    <a:pt x="4875530" y="147828"/>
                  </a:cubicBezTo>
                  <a:lnTo>
                    <a:pt x="4875530" y="2531491"/>
                  </a:lnTo>
                  <a:cubicBezTo>
                    <a:pt x="4875530" y="2613152"/>
                    <a:pt x="4809363" y="2679319"/>
                    <a:pt x="4727702" y="2679319"/>
                  </a:cubicBezTo>
                  <a:lnTo>
                    <a:pt x="147828" y="2679319"/>
                  </a:lnTo>
                  <a:cubicBezTo>
                    <a:pt x="66167" y="2679192"/>
                    <a:pt x="0" y="2613025"/>
                    <a:pt x="0" y="25314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00407" y="6638430"/>
            <a:ext cx="3198324" cy="469202"/>
            <a:chOff x="0" y="0"/>
            <a:chExt cx="4264431" cy="62560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264435" cy="625592"/>
            </a:xfrm>
            <a:custGeom>
              <a:avLst/>
              <a:gdLst/>
              <a:ahLst/>
              <a:cxnLst/>
              <a:rect l="l" t="t" r="r" b="b"/>
              <a:pathLst>
                <a:path w="4264435" h="625592">
                  <a:moveTo>
                    <a:pt x="0" y="0"/>
                  </a:moveTo>
                  <a:lnTo>
                    <a:pt x="4264435" y="0"/>
                  </a:lnTo>
                  <a:lnTo>
                    <a:pt x="4264435" y="625592"/>
                  </a:lnTo>
                  <a:lnTo>
                    <a:pt x="0" y="625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565" b="-6207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4264431" cy="6446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Училище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514132" y="7269861"/>
            <a:ext cx="3170872" cy="677484"/>
            <a:chOff x="0" y="0"/>
            <a:chExt cx="4227830" cy="90331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227831" cy="903308"/>
            </a:xfrm>
            <a:custGeom>
              <a:avLst/>
              <a:gdLst/>
              <a:ahLst/>
              <a:cxnLst/>
              <a:rect l="l" t="t" r="r" b="b"/>
              <a:pathLst>
                <a:path w="4227831" h="903308">
                  <a:moveTo>
                    <a:pt x="0" y="0"/>
                  </a:moveTo>
                  <a:lnTo>
                    <a:pt x="4227831" y="0"/>
                  </a:lnTo>
                  <a:lnTo>
                    <a:pt x="4227831" y="903308"/>
                  </a:lnTo>
                  <a:lnTo>
                    <a:pt x="0" y="9033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609" b="-3678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227830" cy="922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7"/>
                </a:lnSpc>
              </a:pPr>
              <a:r>
                <a:rPr lang="en-US" sz="19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Професионална гимназия по икономика „Иван Илиев“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553980" y="6381817"/>
            <a:ext cx="3656647" cy="2009442"/>
            <a:chOff x="0" y="0"/>
            <a:chExt cx="4875530" cy="267925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875530" cy="2679319"/>
            </a:xfrm>
            <a:custGeom>
              <a:avLst/>
              <a:gdLst/>
              <a:ahLst/>
              <a:cxnLst/>
              <a:rect l="l" t="t" r="r" b="b"/>
              <a:pathLst>
                <a:path w="4875530" h="267931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727702" y="0"/>
                  </a:lnTo>
                  <a:cubicBezTo>
                    <a:pt x="4809363" y="0"/>
                    <a:pt x="4875530" y="66167"/>
                    <a:pt x="4875530" y="147828"/>
                  </a:cubicBezTo>
                  <a:lnTo>
                    <a:pt x="4875530" y="2531491"/>
                  </a:lnTo>
                  <a:cubicBezTo>
                    <a:pt x="4875530" y="2613152"/>
                    <a:pt x="4809363" y="2679319"/>
                    <a:pt x="4727702" y="2679319"/>
                  </a:cubicBezTo>
                  <a:lnTo>
                    <a:pt x="147828" y="2679319"/>
                  </a:lnTo>
                  <a:cubicBezTo>
                    <a:pt x="66167" y="2679192"/>
                    <a:pt x="0" y="2613025"/>
                    <a:pt x="0" y="25314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783142" y="6638430"/>
            <a:ext cx="3198324" cy="469202"/>
            <a:chOff x="0" y="0"/>
            <a:chExt cx="4264431" cy="62560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264435" cy="625592"/>
            </a:xfrm>
            <a:custGeom>
              <a:avLst/>
              <a:gdLst/>
              <a:ahLst/>
              <a:cxnLst/>
              <a:rect l="l" t="t" r="r" b="b"/>
              <a:pathLst>
                <a:path w="4264435" h="625592">
                  <a:moveTo>
                    <a:pt x="0" y="0"/>
                  </a:moveTo>
                  <a:lnTo>
                    <a:pt x="4264435" y="0"/>
                  </a:lnTo>
                  <a:lnTo>
                    <a:pt x="4264435" y="625592"/>
                  </a:lnTo>
                  <a:lnTo>
                    <a:pt x="0" y="625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565" b="-6207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264431" cy="6446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Национална агенция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796867" y="7269861"/>
            <a:ext cx="3170872" cy="677484"/>
            <a:chOff x="0" y="0"/>
            <a:chExt cx="4227830" cy="903313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227831" cy="903308"/>
            </a:xfrm>
            <a:custGeom>
              <a:avLst/>
              <a:gdLst/>
              <a:ahLst/>
              <a:cxnLst/>
              <a:rect l="l" t="t" r="r" b="b"/>
              <a:pathLst>
                <a:path w="4227831" h="903308">
                  <a:moveTo>
                    <a:pt x="0" y="0"/>
                  </a:moveTo>
                  <a:lnTo>
                    <a:pt x="4227831" y="0"/>
                  </a:lnTo>
                  <a:lnTo>
                    <a:pt x="4227831" y="903308"/>
                  </a:lnTo>
                  <a:lnTo>
                    <a:pt x="0" y="9033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609" b="-3678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227830" cy="922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7"/>
                </a:lnSpc>
              </a:pPr>
              <a:r>
                <a:rPr lang="en-US" sz="19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Център за развитие на човешките ресурси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836715" y="6381817"/>
            <a:ext cx="3656647" cy="2009442"/>
            <a:chOff x="0" y="0"/>
            <a:chExt cx="4875530" cy="26792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875530" cy="2679319"/>
            </a:xfrm>
            <a:custGeom>
              <a:avLst/>
              <a:gdLst/>
              <a:ahLst/>
              <a:cxnLst/>
              <a:rect l="l" t="t" r="r" b="b"/>
              <a:pathLst>
                <a:path w="4875530" h="267931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727702" y="0"/>
                  </a:lnTo>
                  <a:cubicBezTo>
                    <a:pt x="4809363" y="0"/>
                    <a:pt x="4875530" y="66167"/>
                    <a:pt x="4875530" y="147828"/>
                  </a:cubicBezTo>
                  <a:lnTo>
                    <a:pt x="4875530" y="2531491"/>
                  </a:lnTo>
                  <a:cubicBezTo>
                    <a:pt x="4875530" y="2613152"/>
                    <a:pt x="4809363" y="2679319"/>
                    <a:pt x="4727702" y="2679319"/>
                  </a:cubicBezTo>
                  <a:lnTo>
                    <a:pt x="147828" y="2679319"/>
                  </a:lnTo>
                  <a:cubicBezTo>
                    <a:pt x="66167" y="2679192"/>
                    <a:pt x="0" y="2613025"/>
                    <a:pt x="0" y="25314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065877" y="6638430"/>
            <a:ext cx="3198324" cy="469202"/>
            <a:chOff x="0" y="0"/>
            <a:chExt cx="4264431" cy="62560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264435" cy="625592"/>
            </a:xfrm>
            <a:custGeom>
              <a:avLst/>
              <a:gdLst/>
              <a:ahLst/>
              <a:cxnLst/>
              <a:rect l="l" t="t" r="r" b="b"/>
              <a:pathLst>
                <a:path w="4264435" h="625592">
                  <a:moveTo>
                    <a:pt x="0" y="0"/>
                  </a:moveTo>
                  <a:lnTo>
                    <a:pt x="4264435" y="0"/>
                  </a:lnTo>
                  <a:lnTo>
                    <a:pt x="4264435" y="625592"/>
                  </a:lnTo>
                  <a:lnTo>
                    <a:pt x="0" y="625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565" b="-6207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4264431" cy="6446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Програма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079603" y="7269861"/>
            <a:ext cx="3170872" cy="617703"/>
            <a:chOff x="0" y="0"/>
            <a:chExt cx="4227830" cy="82360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227831" cy="823599"/>
            </a:xfrm>
            <a:custGeom>
              <a:avLst/>
              <a:gdLst/>
              <a:ahLst/>
              <a:cxnLst/>
              <a:rect l="l" t="t" r="r" b="b"/>
              <a:pathLst>
                <a:path w="4227831" h="823599">
                  <a:moveTo>
                    <a:pt x="0" y="0"/>
                  </a:moveTo>
                  <a:lnTo>
                    <a:pt x="4227831" y="0"/>
                  </a:lnTo>
                  <a:lnTo>
                    <a:pt x="4227831" y="823599"/>
                  </a:lnTo>
                  <a:lnTo>
                    <a:pt x="0" y="82359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023" b="-5002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4227830" cy="842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7"/>
                </a:lnSpc>
              </a:pPr>
              <a:r>
                <a:rPr lang="en-US" sz="19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Erasmus+ · КД1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119460" y="6381817"/>
            <a:ext cx="3656647" cy="2009442"/>
            <a:chOff x="0" y="0"/>
            <a:chExt cx="4875530" cy="2679256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75530" cy="2679319"/>
            </a:xfrm>
            <a:custGeom>
              <a:avLst/>
              <a:gdLst/>
              <a:ahLst/>
              <a:cxnLst/>
              <a:rect l="l" t="t" r="r" b="b"/>
              <a:pathLst>
                <a:path w="4875530" h="2679319">
                  <a:moveTo>
                    <a:pt x="0" y="147828"/>
                  </a:moveTo>
                  <a:cubicBezTo>
                    <a:pt x="0" y="66167"/>
                    <a:pt x="66167" y="0"/>
                    <a:pt x="147828" y="0"/>
                  </a:cubicBezTo>
                  <a:lnTo>
                    <a:pt x="4727702" y="0"/>
                  </a:lnTo>
                  <a:cubicBezTo>
                    <a:pt x="4809363" y="0"/>
                    <a:pt x="4875530" y="66167"/>
                    <a:pt x="4875530" y="147828"/>
                  </a:cubicBezTo>
                  <a:lnTo>
                    <a:pt x="4875530" y="2531491"/>
                  </a:lnTo>
                  <a:cubicBezTo>
                    <a:pt x="4875530" y="2613152"/>
                    <a:pt x="4809363" y="2679319"/>
                    <a:pt x="4727702" y="2679319"/>
                  </a:cubicBezTo>
                  <a:lnTo>
                    <a:pt x="147828" y="2679319"/>
                  </a:lnTo>
                  <a:cubicBezTo>
                    <a:pt x="66167" y="2679192"/>
                    <a:pt x="0" y="2613025"/>
                    <a:pt x="0" y="2531491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348622" y="6638430"/>
            <a:ext cx="3198324" cy="469202"/>
            <a:chOff x="0" y="0"/>
            <a:chExt cx="4264431" cy="62560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64435" cy="625592"/>
            </a:xfrm>
            <a:custGeom>
              <a:avLst/>
              <a:gdLst/>
              <a:ahLst/>
              <a:cxnLst/>
              <a:rect l="l" t="t" r="r" b="b"/>
              <a:pathLst>
                <a:path w="4264435" h="625592">
                  <a:moveTo>
                    <a:pt x="0" y="0"/>
                  </a:moveTo>
                  <a:lnTo>
                    <a:pt x="4264435" y="0"/>
                  </a:lnTo>
                  <a:lnTo>
                    <a:pt x="4264435" y="625592"/>
                  </a:lnTo>
                  <a:lnTo>
                    <a:pt x="0" y="625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565" b="-6207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19050"/>
              <a:ext cx="4264431" cy="6446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Европейска рамка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362347" y="7269861"/>
            <a:ext cx="3170872" cy="677484"/>
            <a:chOff x="0" y="0"/>
            <a:chExt cx="4227830" cy="90331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4227831" cy="903308"/>
            </a:xfrm>
            <a:custGeom>
              <a:avLst/>
              <a:gdLst/>
              <a:ahLst/>
              <a:cxnLst/>
              <a:rect l="l" t="t" r="r" b="b"/>
              <a:pathLst>
                <a:path w="4227831" h="903308">
                  <a:moveTo>
                    <a:pt x="0" y="0"/>
                  </a:moveTo>
                  <a:lnTo>
                    <a:pt x="4227831" y="0"/>
                  </a:lnTo>
                  <a:lnTo>
                    <a:pt x="4227831" y="903308"/>
                  </a:lnTo>
                  <a:lnTo>
                    <a:pt x="0" y="9033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609" b="-3678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4227830" cy="9223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7"/>
                </a:lnSpc>
              </a:pPr>
              <a:r>
                <a:rPr lang="en-US" sz="19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Образователна мобилност на граждани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684191" y="8915133"/>
            <a:ext cx="14824862" cy="343167"/>
            <a:chOff x="0" y="0"/>
            <a:chExt cx="19766483" cy="45755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9766483" cy="457557"/>
            </a:xfrm>
            <a:custGeom>
              <a:avLst/>
              <a:gdLst/>
              <a:ahLst/>
              <a:cxnLst/>
              <a:rect l="l" t="t" r="r" b="b"/>
              <a:pathLst>
                <a:path w="19766483" h="457557">
                  <a:moveTo>
                    <a:pt x="0" y="0"/>
                  </a:moveTo>
                  <a:lnTo>
                    <a:pt x="19766483" y="0"/>
                  </a:lnTo>
                  <a:lnTo>
                    <a:pt x="19766483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1753" b="-79175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19766483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Визуален стил: тъмносиньо, бяло, светлосиньо и жълти акценти, в съответствие с използваната проектна бланка.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53" name="Freeform 53"/>
          <p:cNvSpPr/>
          <p:nvPr/>
        </p:nvSpPr>
        <p:spPr>
          <a:xfrm>
            <a:off x="13840" y="0"/>
            <a:ext cx="18297535" cy="2185843"/>
          </a:xfrm>
          <a:custGeom>
            <a:avLst/>
            <a:gdLst/>
            <a:ahLst/>
            <a:cxnLst/>
            <a:rect l="l" t="t" r="r" b="b"/>
            <a:pathLst>
              <a:path w="18297535" h="2185843">
                <a:moveTo>
                  <a:pt x="0" y="0"/>
                </a:moveTo>
                <a:lnTo>
                  <a:pt x="18297534" y="0"/>
                </a:lnTo>
                <a:lnTo>
                  <a:pt x="18297534" y="2185843"/>
                </a:lnTo>
                <a:lnTo>
                  <a:pt x="0" y="21858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9742" b="-89113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0" y="1845511"/>
            <a:ext cx="18320909" cy="1117768"/>
            <a:chOff x="0" y="0"/>
            <a:chExt cx="24427878" cy="1490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490341"/>
            </a:xfrm>
            <a:custGeom>
              <a:avLst/>
              <a:gdLst/>
              <a:ahLst/>
              <a:cxnLst/>
              <a:rect l="l" t="t" r="r" b="b"/>
              <a:pathLst>
                <a:path w="24427814" h="1490341">
                  <a:moveTo>
                    <a:pt x="0" y="0"/>
                  </a:moveTo>
                  <a:lnTo>
                    <a:pt x="24427814" y="0"/>
                  </a:lnTo>
                  <a:lnTo>
                    <a:pt x="24427814" y="1490341"/>
                  </a:lnTo>
                  <a:lnTo>
                    <a:pt x="0" y="1490341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5610" y="1927995"/>
            <a:ext cx="16472068" cy="676547"/>
            <a:chOff x="0" y="0"/>
            <a:chExt cx="21962758" cy="902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902052"/>
            </a:xfrm>
            <a:custGeom>
              <a:avLst/>
              <a:gdLst/>
              <a:ahLst/>
              <a:cxnLst/>
              <a:rect l="l" t="t" r="r" b="b"/>
              <a:pathLst>
                <a:path w="21962759" h="902052">
                  <a:moveTo>
                    <a:pt x="0" y="0"/>
                  </a:moveTo>
                  <a:lnTo>
                    <a:pt x="21962759" y="0"/>
                  </a:lnTo>
                  <a:lnTo>
                    <a:pt x="21962759" y="902052"/>
                  </a:lnTo>
                  <a:lnTo>
                    <a:pt x="0" y="902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007" b="-40281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930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ЕКИП ПО ПРОЕКТА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72676" y="8706950"/>
            <a:ext cx="15373931" cy="868380"/>
            <a:chOff x="0" y="0"/>
            <a:chExt cx="20498575" cy="1157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98575" cy="1157830"/>
            </a:xfrm>
            <a:custGeom>
              <a:avLst/>
              <a:gdLst/>
              <a:ahLst/>
              <a:cxnLst/>
              <a:rect l="l" t="t" r="r" b="b"/>
              <a:pathLst>
                <a:path w="20498575" h="1157830">
                  <a:moveTo>
                    <a:pt x="0" y="0"/>
                  </a:moveTo>
                  <a:lnTo>
                    <a:pt x="20498575" y="0"/>
                  </a:lnTo>
                  <a:lnTo>
                    <a:pt x="20498575" y="1157830"/>
                  </a:lnTo>
                  <a:lnTo>
                    <a:pt x="0" y="11578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6515" b="-27342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0498575" cy="11768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>
                  <a:solidFill>
                    <a:srgbClr val="002B5C"/>
                  </a:solidFill>
                  <a:latin typeface="Arial"/>
                  <a:ea typeface="Arial"/>
                  <a:cs typeface="Arial"/>
                  <a:sym typeface="Arial"/>
                </a:rPr>
                <a:t>Екипът осигурява организационното, административното, финансовото, техническото и информационното изпълнение на проекта.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  <p:sp>
        <p:nvSpPr>
          <p:cNvPr id="16" name="Freeform 16"/>
          <p:cNvSpPr/>
          <p:nvPr/>
        </p:nvSpPr>
        <p:spPr>
          <a:xfrm>
            <a:off x="2601885" y="3220444"/>
            <a:ext cx="13084230" cy="5602996"/>
          </a:xfrm>
          <a:custGeom>
            <a:avLst/>
            <a:gdLst/>
            <a:ahLst/>
            <a:cxnLst/>
            <a:rect l="l" t="t" r="r" b="b"/>
            <a:pathLst>
              <a:path w="13084230" h="5602996">
                <a:moveTo>
                  <a:pt x="0" y="0"/>
                </a:moveTo>
                <a:lnTo>
                  <a:pt x="13084230" y="0"/>
                </a:lnTo>
                <a:lnTo>
                  <a:pt x="13084230" y="5602996"/>
                </a:lnTo>
                <a:lnTo>
                  <a:pt x="0" y="5602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26287" b="-5069"/>
            </a:stretch>
          </a:blipFill>
        </p:spPr>
        <p:txBody>
          <a:bodyPr/>
          <a:lstStyle/>
          <a:p>
            <a:endParaRPr lang="en-BG"/>
          </a:p>
        </p:txBody>
      </p:sp>
      <p:sp>
        <p:nvSpPr>
          <p:cNvPr id="17" name="TextBox 17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909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68861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ПОДБОР НА УЧИТЕЛИТЕ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72970" y="3735934"/>
            <a:ext cx="3382108" cy="3176216"/>
            <a:chOff x="0" y="0"/>
            <a:chExt cx="4509478" cy="423495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509516" cy="4234942"/>
            </a:xfrm>
            <a:custGeom>
              <a:avLst/>
              <a:gdLst/>
              <a:ahLst/>
              <a:cxnLst/>
              <a:rect l="l" t="t" r="r" b="b"/>
              <a:pathLst>
                <a:path w="4509516" h="4234942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4233291" y="0"/>
                  </a:lnTo>
                  <a:cubicBezTo>
                    <a:pt x="4385818" y="0"/>
                    <a:pt x="4509516" y="123698"/>
                    <a:pt x="4509516" y="276225"/>
                  </a:cubicBezTo>
                  <a:lnTo>
                    <a:pt x="4509516" y="3958717"/>
                  </a:lnTo>
                  <a:cubicBezTo>
                    <a:pt x="4509516" y="4111244"/>
                    <a:pt x="4385818" y="4234942"/>
                    <a:pt x="4233291" y="4234942"/>
                  </a:cubicBezTo>
                  <a:lnTo>
                    <a:pt x="276225" y="4234942"/>
                  </a:lnTo>
                  <a:cubicBezTo>
                    <a:pt x="123698" y="4234942"/>
                    <a:pt x="0" y="4111244"/>
                    <a:pt x="0" y="395871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72970" y="3735934"/>
            <a:ext cx="3382108" cy="952481"/>
            <a:chOff x="0" y="0"/>
            <a:chExt cx="4509478" cy="126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509516" cy="1270000"/>
            </a:xfrm>
            <a:custGeom>
              <a:avLst/>
              <a:gdLst/>
              <a:ahLst/>
              <a:cxnLst/>
              <a:rect l="l" t="t" r="r" b="b"/>
              <a:pathLst>
                <a:path w="4509516" h="1270000">
                  <a:moveTo>
                    <a:pt x="0" y="280162"/>
                  </a:moveTo>
                  <a:cubicBezTo>
                    <a:pt x="0" y="125476"/>
                    <a:pt x="125476" y="0"/>
                    <a:pt x="280162" y="0"/>
                  </a:cubicBezTo>
                  <a:lnTo>
                    <a:pt x="4229354" y="0"/>
                  </a:lnTo>
                  <a:cubicBezTo>
                    <a:pt x="4384040" y="0"/>
                    <a:pt x="4509516" y="125476"/>
                    <a:pt x="4509516" y="280162"/>
                  </a:cubicBezTo>
                  <a:lnTo>
                    <a:pt x="4509516" y="989838"/>
                  </a:lnTo>
                  <a:cubicBezTo>
                    <a:pt x="4509516" y="1144524"/>
                    <a:pt x="4384040" y="1270000"/>
                    <a:pt x="4229354" y="1270000"/>
                  </a:cubicBezTo>
                  <a:lnTo>
                    <a:pt x="280162" y="1270000"/>
                  </a:lnTo>
                  <a:cubicBezTo>
                    <a:pt x="125476" y="1270000"/>
                    <a:pt x="0" y="1144524"/>
                    <a:pt x="0" y="989838"/>
                  </a:cubicBezTo>
                  <a:close/>
                </a:path>
              </a:pathLst>
            </a:custGeom>
            <a:solidFill>
              <a:srgbClr val="D93682"/>
            </a:solidFill>
            <a:ln w="19065" cap="sq">
              <a:solidFill>
                <a:srgbClr val="D9368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82505" y="3923919"/>
            <a:ext cx="3363049" cy="301990"/>
            <a:chOff x="0" y="0"/>
            <a:chExt cx="4484065" cy="40265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484063" cy="402651"/>
            </a:xfrm>
            <a:custGeom>
              <a:avLst/>
              <a:gdLst/>
              <a:ahLst/>
              <a:cxnLst/>
              <a:rect l="l" t="t" r="r" b="b"/>
              <a:pathLst>
                <a:path w="4484063" h="402651">
                  <a:moveTo>
                    <a:pt x="0" y="0"/>
                  </a:moveTo>
                  <a:lnTo>
                    <a:pt x="4484063" y="0"/>
                  </a:lnTo>
                  <a:lnTo>
                    <a:pt x="448406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992" b="-16699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4484065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2"/>
                </a:lnSpc>
              </a:pPr>
              <a:r>
                <a:rPr lang="en-US" sz="30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29583" y="5118144"/>
            <a:ext cx="2882608" cy="480431"/>
            <a:chOff x="0" y="0"/>
            <a:chExt cx="3843477" cy="64057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843483" cy="640580"/>
            </a:xfrm>
            <a:custGeom>
              <a:avLst/>
              <a:gdLst/>
              <a:ahLst/>
              <a:cxnLst/>
              <a:rect l="l" t="t" r="r" b="b"/>
              <a:pathLst>
                <a:path w="3843483" h="640580">
                  <a:moveTo>
                    <a:pt x="0" y="0"/>
                  </a:moveTo>
                  <a:lnTo>
                    <a:pt x="3843483" y="0"/>
                  </a:lnTo>
                  <a:lnTo>
                    <a:pt x="384348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0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3843477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13"/>
                </a:lnSpc>
              </a:pPr>
              <a:r>
                <a:rPr lang="en-US" sz="2011" b="1">
                  <a:solidFill>
                    <a:srgbClr val="D9368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Подаване на заявление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57044" y="5873115"/>
            <a:ext cx="2813980" cy="617706"/>
            <a:chOff x="0" y="0"/>
            <a:chExt cx="3751974" cy="82360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751971" cy="823603"/>
            </a:xfrm>
            <a:custGeom>
              <a:avLst/>
              <a:gdLst/>
              <a:ahLst/>
              <a:cxnLst/>
              <a:rect l="l" t="t" r="r" b="b"/>
              <a:pathLst>
                <a:path w="3751971" h="823603">
                  <a:moveTo>
                    <a:pt x="0" y="0"/>
                  </a:moveTo>
                  <a:lnTo>
                    <a:pt x="3751971" y="0"/>
                  </a:lnTo>
                  <a:lnTo>
                    <a:pt x="375197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4" b="-3876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3751974" cy="842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4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заявление, мотивационно писмо и документи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59627" y="3735934"/>
            <a:ext cx="3382108" cy="3176216"/>
            <a:chOff x="0" y="0"/>
            <a:chExt cx="4509478" cy="423495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509516" cy="4234942"/>
            </a:xfrm>
            <a:custGeom>
              <a:avLst/>
              <a:gdLst/>
              <a:ahLst/>
              <a:cxnLst/>
              <a:rect l="l" t="t" r="r" b="b"/>
              <a:pathLst>
                <a:path w="4509516" h="4234942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4233291" y="0"/>
                  </a:lnTo>
                  <a:cubicBezTo>
                    <a:pt x="4385818" y="0"/>
                    <a:pt x="4509516" y="123698"/>
                    <a:pt x="4509516" y="276225"/>
                  </a:cubicBezTo>
                  <a:lnTo>
                    <a:pt x="4509516" y="3958717"/>
                  </a:lnTo>
                  <a:cubicBezTo>
                    <a:pt x="4509516" y="4111244"/>
                    <a:pt x="4385818" y="4234942"/>
                    <a:pt x="4233291" y="4234942"/>
                  </a:cubicBezTo>
                  <a:lnTo>
                    <a:pt x="276225" y="4234942"/>
                  </a:lnTo>
                  <a:cubicBezTo>
                    <a:pt x="123698" y="4234942"/>
                    <a:pt x="0" y="4111244"/>
                    <a:pt x="0" y="395871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359627" y="3735934"/>
            <a:ext cx="3382108" cy="952481"/>
            <a:chOff x="0" y="0"/>
            <a:chExt cx="4509478" cy="126997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509516" cy="1270000"/>
            </a:xfrm>
            <a:custGeom>
              <a:avLst/>
              <a:gdLst/>
              <a:ahLst/>
              <a:cxnLst/>
              <a:rect l="l" t="t" r="r" b="b"/>
              <a:pathLst>
                <a:path w="4509516" h="1270000">
                  <a:moveTo>
                    <a:pt x="0" y="280162"/>
                  </a:moveTo>
                  <a:cubicBezTo>
                    <a:pt x="0" y="125476"/>
                    <a:pt x="125476" y="0"/>
                    <a:pt x="280162" y="0"/>
                  </a:cubicBezTo>
                  <a:lnTo>
                    <a:pt x="4229354" y="0"/>
                  </a:lnTo>
                  <a:cubicBezTo>
                    <a:pt x="4384040" y="0"/>
                    <a:pt x="4509516" y="125476"/>
                    <a:pt x="4509516" y="280162"/>
                  </a:cubicBezTo>
                  <a:lnTo>
                    <a:pt x="4509516" y="989838"/>
                  </a:lnTo>
                  <a:cubicBezTo>
                    <a:pt x="4509516" y="1144524"/>
                    <a:pt x="4384040" y="1270000"/>
                    <a:pt x="4229354" y="1270000"/>
                  </a:cubicBezTo>
                  <a:lnTo>
                    <a:pt x="280162" y="1270000"/>
                  </a:lnTo>
                  <a:cubicBezTo>
                    <a:pt x="125476" y="1270000"/>
                    <a:pt x="0" y="1144524"/>
                    <a:pt x="0" y="989838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69152" y="3923919"/>
            <a:ext cx="3363049" cy="301990"/>
            <a:chOff x="0" y="0"/>
            <a:chExt cx="4484065" cy="40265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484063" cy="402651"/>
            </a:xfrm>
            <a:custGeom>
              <a:avLst/>
              <a:gdLst/>
              <a:ahLst/>
              <a:cxnLst/>
              <a:rect l="l" t="t" r="r" b="b"/>
              <a:pathLst>
                <a:path w="4484063" h="402651">
                  <a:moveTo>
                    <a:pt x="0" y="0"/>
                  </a:moveTo>
                  <a:lnTo>
                    <a:pt x="4484063" y="0"/>
                  </a:lnTo>
                  <a:lnTo>
                    <a:pt x="448406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992" b="-16699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4484065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2"/>
                </a:lnSpc>
              </a:pPr>
              <a:r>
                <a:rPr lang="en-US" sz="30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16240" y="5118144"/>
            <a:ext cx="2882608" cy="754971"/>
            <a:chOff x="0" y="0"/>
            <a:chExt cx="3843477" cy="100662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843483" cy="1006633"/>
            </a:xfrm>
            <a:custGeom>
              <a:avLst/>
              <a:gdLst/>
              <a:ahLst/>
              <a:cxnLst/>
              <a:rect l="l" t="t" r="r" b="b"/>
              <a:pathLst>
                <a:path w="3843483" h="1006633">
                  <a:moveTo>
                    <a:pt x="0" y="0"/>
                  </a:moveTo>
                  <a:lnTo>
                    <a:pt x="3843483" y="0"/>
                  </a:lnTo>
                  <a:lnTo>
                    <a:pt x="3843483" y="1006633"/>
                  </a:lnTo>
                  <a:lnTo>
                    <a:pt x="0" y="10066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79" b="-621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843477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13"/>
                </a:lnSpc>
              </a:pPr>
              <a:r>
                <a:rPr lang="en-US" sz="201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Работа на комисия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643691" y="5873115"/>
            <a:ext cx="2813980" cy="617706"/>
            <a:chOff x="0" y="0"/>
            <a:chExt cx="3751974" cy="8236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751971" cy="823603"/>
            </a:xfrm>
            <a:custGeom>
              <a:avLst/>
              <a:gdLst/>
              <a:ahLst/>
              <a:cxnLst/>
              <a:rect l="l" t="t" r="r" b="b"/>
              <a:pathLst>
                <a:path w="3751971" h="823603">
                  <a:moveTo>
                    <a:pt x="0" y="0"/>
                  </a:moveTo>
                  <a:lnTo>
                    <a:pt x="3751971" y="0"/>
                  </a:lnTo>
                  <a:lnTo>
                    <a:pt x="375197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4" b="-3876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3751974" cy="842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4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разглеждане на документите по ясни критерии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46274" y="3735934"/>
            <a:ext cx="3382108" cy="3176216"/>
            <a:chOff x="0" y="0"/>
            <a:chExt cx="4509478" cy="423495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509516" cy="4234942"/>
            </a:xfrm>
            <a:custGeom>
              <a:avLst/>
              <a:gdLst/>
              <a:ahLst/>
              <a:cxnLst/>
              <a:rect l="l" t="t" r="r" b="b"/>
              <a:pathLst>
                <a:path w="4509516" h="4234942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4233291" y="0"/>
                  </a:lnTo>
                  <a:cubicBezTo>
                    <a:pt x="4385818" y="0"/>
                    <a:pt x="4509516" y="123698"/>
                    <a:pt x="4509516" y="276225"/>
                  </a:cubicBezTo>
                  <a:lnTo>
                    <a:pt x="4509516" y="3958717"/>
                  </a:lnTo>
                  <a:cubicBezTo>
                    <a:pt x="4509516" y="4111244"/>
                    <a:pt x="4385818" y="4234942"/>
                    <a:pt x="4233291" y="4234942"/>
                  </a:cubicBezTo>
                  <a:lnTo>
                    <a:pt x="276225" y="4234942"/>
                  </a:lnTo>
                  <a:cubicBezTo>
                    <a:pt x="123698" y="4234942"/>
                    <a:pt x="0" y="4111244"/>
                    <a:pt x="0" y="395871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546274" y="3735934"/>
            <a:ext cx="3382108" cy="952481"/>
            <a:chOff x="0" y="0"/>
            <a:chExt cx="4509478" cy="126997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4509516" cy="1270000"/>
            </a:xfrm>
            <a:custGeom>
              <a:avLst/>
              <a:gdLst/>
              <a:ahLst/>
              <a:cxnLst/>
              <a:rect l="l" t="t" r="r" b="b"/>
              <a:pathLst>
                <a:path w="4509516" h="1270000">
                  <a:moveTo>
                    <a:pt x="0" y="280162"/>
                  </a:moveTo>
                  <a:cubicBezTo>
                    <a:pt x="0" y="125476"/>
                    <a:pt x="125476" y="0"/>
                    <a:pt x="280162" y="0"/>
                  </a:cubicBezTo>
                  <a:lnTo>
                    <a:pt x="4229354" y="0"/>
                  </a:lnTo>
                  <a:cubicBezTo>
                    <a:pt x="4384040" y="0"/>
                    <a:pt x="4509516" y="125476"/>
                    <a:pt x="4509516" y="280162"/>
                  </a:cubicBezTo>
                  <a:lnTo>
                    <a:pt x="4509516" y="989838"/>
                  </a:lnTo>
                  <a:cubicBezTo>
                    <a:pt x="4509516" y="1144524"/>
                    <a:pt x="4384040" y="1270000"/>
                    <a:pt x="4229354" y="1270000"/>
                  </a:cubicBezTo>
                  <a:lnTo>
                    <a:pt x="280162" y="1270000"/>
                  </a:lnTo>
                  <a:cubicBezTo>
                    <a:pt x="125476" y="1270000"/>
                    <a:pt x="0" y="1144524"/>
                    <a:pt x="0" y="989838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555809" y="3923919"/>
            <a:ext cx="3363049" cy="301990"/>
            <a:chOff x="0" y="0"/>
            <a:chExt cx="4484065" cy="402654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484063" cy="402651"/>
            </a:xfrm>
            <a:custGeom>
              <a:avLst/>
              <a:gdLst/>
              <a:ahLst/>
              <a:cxnLst/>
              <a:rect l="l" t="t" r="r" b="b"/>
              <a:pathLst>
                <a:path w="4484063" h="402651">
                  <a:moveTo>
                    <a:pt x="0" y="0"/>
                  </a:moveTo>
                  <a:lnTo>
                    <a:pt x="4484063" y="0"/>
                  </a:lnTo>
                  <a:lnTo>
                    <a:pt x="448406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992" b="-16699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484065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2"/>
                </a:lnSpc>
              </a:pPr>
              <a:r>
                <a:rPr lang="en-US" sz="30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802887" y="5118144"/>
            <a:ext cx="2882608" cy="480431"/>
            <a:chOff x="0" y="0"/>
            <a:chExt cx="3843477" cy="640575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843483" cy="640580"/>
            </a:xfrm>
            <a:custGeom>
              <a:avLst/>
              <a:gdLst/>
              <a:ahLst/>
              <a:cxnLst/>
              <a:rect l="l" t="t" r="r" b="b"/>
              <a:pathLst>
                <a:path w="3843483" h="640580">
                  <a:moveTo>
                    <a:pt x="0" y="0"/>
                  </a:moveTo>
                  <a:lnTo>
                    <a:pt x="3843483" y="0"/>
                  </a:lnTo>
                  <a:lnTo>
                    <a:pt x="384348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6910" b="-6690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3843477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13"/>
                </a:lnSpc>
              </a:pPr>
              <a:r>
                <a:rPr lang="en-US" sz="2011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Оценяване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830338" y="5873115"/>
            <a:ext cx="2813980" cy="617706"/>
            <a:chOff x="0" y="0"/>
            <a:chExt cx="3751974" cy="823608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751971" cy="823603"/>
            </a:xfrm>
            <a:custGeom>
              <a:avLst/>
              <a:gdLst/>
              <a:ahLst/>
              <a:cxnLst/>
              <a:rect l="l" t="t" r="r" b="b"/>
              <a:pathLst>
                <a:path w="3751971" h="823603">
                  <a:moveTo>
                    <a:pt x="0" y="0"/>
                  </a:moveTo>
                  <a:lnTo>
                    <a:pt x="3751971" y="0"/>
                  </a:lnTo>
                  <a:lnTo>
                    <a:pt x="375197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4" b="-3876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3751974" cy="842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4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качествени и количествени критерии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3732921" y="3735934"/>
            <a:ext cx="3382108" cy="3176216"/>
            <a:chOff x="0" y="0"/>
            <a:chExt cx="4509478" cy="423495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509516" cy="4234942"/>
            </a:xfrm>
            <a:custGeom>
              <a:avLst/>
              <a:gdLst/>
              <a:ahLst/>
              <a:cxnLst/>
              <a:rect l="l" t="t" r="r" b="b"/>
              <a:pathLst>
                <a:path w="4509516" h="4234942">
                  <a:moveTo>
                    <a:pt x="0" y="276225"/>
                  </a:moveTo>
                  <a:cubicBezTo>
                    <a:pt x="0" y="123698"/>
                    <a:pt x="123698" y="0"/>
                    <a:pt x="276225" y="0"/>
                  </a:cubicBezTo>
                  <a:lnTo>
                    <a:pt x="4233291" y="0"/>
                  </a:lnTo>
                  <a:cubicBezTo>
                    <a:pt x="4385818" y="0"/>
                    <a:pt x="4509516" y="123698"/>
                    <a:pt x="4509516" y="276225"/>
                  </a:cubicBezTo>
                  <a:lnTo>
                    <a:pt x="4509516" y="3958717"/>
                  </a:lnTo>
                  <a:cubicBezTo>
                    <a:pt x="4509516" y="4111244"/>
                    <a:pt x="4385818" y="4234942"/>
                    <a:pt x="4233291" y="4234942"/>
                  </a:cubicBezTo>
                  <a:lnTo>
                    <a:pt x="276225" y="4234942"/>
                  </a:lnTo>
                  <a:cubicBezTo>
                    <a:pt x="123698" y="4234942"/>
                    <a:pt x="0" y="4111244"/>
                    <a:pt x="0" y="3958717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5E0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732921" y="3735934"/>
            <a:ext cx="3382108" cy="952481"/>
            <a:chOff x="0" y="0"/>
            <a:chExt cx="4509478" cy="126997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509516" cy="1270000"/>
            </a:xfrm>
            <a:custGeom>
              <a:avLst/>
              <a:gdLst/>
              <a:ahLst/>
              <a:cxnLst/>
              <a:rect l="l" t="t" r="r" b="b"/>
              <a:pathLst>
                <a:path w="4509516" h="1270000">
                  <a:moveTo>
                    <a:pt x="0" y="280162"/>
                  </a:moveTo>
                  <a:cubicBezTo>
                    <a:pt x="0" y="125476"/>
                    <a:pt x="125476" y="0"/>
                    <a:pt x="280162" y="0"/>
                  </a:cubicBezTo>
                  <a:lnTo>
                    <a:pt x="4229354" y="0"/>
                  </a:lnTo>
                  <a:cubicBezTo>
                    <a:pt x="4384040" y="0"/>
                    <a:pt x="4509516" y="125476"/>
                    <a:pt x="4509516" y="280162"/>
                  </a:cubicBezTo>
                  <a:lnTo>
                    <a:pt x="4509516" y="989838"/>
                  </a:lnTo>
                  <a:cubicBezTo>
                    <a:pt x="4509516" y="1144524"/>
                    <a:pt x="4384040" y="1270000"/>
                    <a:pt x="4229354" y="1270000"/>
                  </a:cubicBezTo>
                  <a:lnTo>
                    <a:pt x="280162" y="1270000"/>
                  </a:lnTo>
                  <a:cubicBezTo>
                    <a:pt x="125476" y="1270000"/>
                    <a:pt x="0" y="1144524"/>
                    <a:pt x="0" y="989838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742456" y="3923919"/>
            <a:ext cx="3363049" cy="301990"/>
            <a:chOff x="0" y="0"/>
            <a:chExt cx="4484065" cy="402654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484063" cy="402651"/>
            </a:xfrm>
            <a:custGeom>
              <a:avLst/>
              <a:gdLst/>
              <a:ahLst/>
              <a:cxnLst/>
              <a:rect l="l" t="t" r="r" b="b"/>
              <a:pathLst>
                <a:path w="4484063" h="402651">
                  <a:moveTo>
                    <a:pt x="0" y="0"/>
                  </a:moveTo>
                  <a:lnTo>
                    <a:pt x="4484063" y="0"/>
                  </a:lnTo>
                  <a:lnTo>
                    <a:pt x="4484063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6992" b="-16699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19050"/>
              <a:ext cx="4484065" cy="4217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02"/>
                </a:lnSpc>
              </a:pPr>
              <a:r>
                <a:rPr lang="en-US" sz="30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989544" y="5118144"/>
            <a:ext cx="2882608" cy="754971"/>
            <a:chOff x="0" y="0"/>
            <a:chExt cx="3843477" cy="100662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3843483" cy="1006633"/>
            </a:xfrm>
            <a:custGeom>
              <a:avLst/>
              <a:gdLst/>
              <a:ahLst/>
              <a:cxnLst/>
              <a:rect l="l" t="t" r="r" b="b"/>
              <a:pathLst>
                <a:path w="3843483" h="1006633">
                  <a:moveTo>
                    <a:pt x="0" y="0"/>
                  </a:moveTo>
                  <a:lnTo>
                    <a:pt x="3843483" y="0"/>
                  </a:lnTo>
                  <a:lnTo>
                    <a:pt x="3843483" y="1006633"/>
                  </a:lnTo>
                  <a:lnTo>
                    <a:pt x="0" y="100663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79" b="-621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3843477" cy="101615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13"/>
                </a:lnSpc>
              </a:pPr>
              <a:r>
                <a:rPr lang="en-US" sz="201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Определяне на участниците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016995" y="5873115"/>
            <a:ext cx="2813980" cy="617706"/>
            <a:chOff x="0" y="0"/>
            <a:chExt cx="3751974" cy="82360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751971" cy="823603"/>
            </a:xfrm>
            <a:custGeom>
              <a:avLst/>
              <a:gdLst/>
              <a:ahLst/>
              <a:cxnLst/>
              <a:rect l="l" t="t" r="r" b="b"/>
              <a:pathLst>
                <a:path w="3751971" h="823603">
                  <a:moveTo>
                    <a:pt x="0" y="0"/>
                  </a:moveTo>
                  <a:lnTo>
                    <a:pt x="3751971" y="0"/>
                  </a:lnTo>
                  <a:lnTo>
                    <a:pt x="3751971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64" b="-3876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3751974" cy="842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55"/>
                </a:lnSpc>
              </a:pPr>
              <a:r>
                <a:rPr lang="en-US" sz="154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регистрация за обученията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45216" y="7559850"/>
            <a:ext cx="183785" cy="595589"/>
            <a:chOff x="0" y="0"/>
            <a:chExt cx="245047" cy="79411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45110" cy="794131"/>
            </a:xfrm>
            <a:custGeom>
              <a:avLst/>
              <a:gdLst/>
              <a:ahLst/>
              <a:cxnLst/>
              <a:rect l="l" t="t" r="r" b="b"/>
              <a:pathLst>
                <a:path w="245110" h="794131">
                  <a:moveTo>
                    <a:pt x="0" y="0"/>
                  </a:moveTo>
                  <a:lnTo>
                    <a:pt x="245110" y="0"/>
                  </a:lnTo>
                  <a:lnTo>
                    <a:pt x="245110" y="794131"/>
                  </a:lnTo>
                  <a:lnTo>
                    <a:pt x="0" y="794131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656740" y="7638012"/>
            <a:ext cx="5216157" cy="247079"/>
            <a:chOff x="0" y="0"/>
            <a:chExt cx="6954876" cy="32943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6954873" cy="329441"/>
            </a:xfrm>
            <a:custGeom>
              <a:avLst/>
              <a:gdLst/>
              <a:ahLst/>
              <a:cxnLst/>
              <a:rect l="l" t="t" r="r" b="b"/>
              <a:pathLst>
                <a:path w="6954873" h="329441">
                  <a:moveTo>
                    <a:pt x="0" y="0"/>
                  </a:moveTo>
                  <a:lnTo>
                    <a:pt x="6954873" y="0"/>
                  </a:lnTo>
                  <a:lnTo>
                    <a:pt x="695487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351" b="-3613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9525"/>
              <a:ext cx="6954876" cy="338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Ключови критерии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54750" y="8530257"/>
            <a:ext cx="15648470" cy="480431"/>
            <a:chOff x="0" y="0"/>
            <a:chExt cx="20864627" cy="640575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20864621" cy="640580"/>
            </a:xfrm>
            <a:custGeom>
              <a:avLst/>
              <a:gdLst/>
              <a:ahLst/>
              <a:cxnLst/>
              <a:rect l="l" t="t" r="r" b="b"/>
              <a:pathLst>
                <a:path w="20864621" h="640580">
                  <a:moveTo>
                    <a:pt x="0" y="0"/>
                  </a:moveTo>
                  <a:lnTo>
                    <a:pt x="20864621" y="0"/>
                  </a:lnTo>
                  <a:lnTo>
                    <a:pt x="2086462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4656" b="-58465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20864627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комуникативност · работа в екип · отговорност · гъвкавост · дигитални компетентности · английски език минимум В1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</a:p>
        </p:txBody>
      </p:sp>
      <p:sp>
        <p:nvSpPr>
          <p:cNvPr id="73" name="Freeform 73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909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68861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ПОДГОТОВКА ПРЕДИ МОБИЛНОСТИТЕ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8137" y="2855728"/>
            <a:ext cx="16060264" cy="1078249"/>
            <a:chOff x="0" y="0"/>
            <a:chExt cx="21413686" cy="143766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13690" cy="1437671"/>
            </a:xfrm>
            <a:custGeom>
              <a:avLst/>
              <a:gdLst/>
              <a:ahLst/>
              <a:cxnLst/>
              <a:rect l="l" t="t" r="r" b="b"/>
              <a:pathLst>
                <a:path w="21413690" h="1437671">
                  <a:moveTo>
                    <a:pt x="0" y="0"/>
                  </a:moveTo>
                  <a:lnTo>
                    <a:pt x="21413690" y="0"/>
                  </a:lnTo>
                  <a:lnTo>
                    <a:pt x="21413690" y="1437671"/>
                  </a:lnTo>
                  <a:lnTo>
                    <a:pt x="0" y="143767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945" b="-21250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413686" cy="1447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82"/>
                </a:lnSpc>
              </a:pPr>
              <a:r>
                <a:rPr lang="en-US" sz="240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Подготовката обхваща административни, логистични, комуникационни и организационни дейности преди участието в квалификационните курсове.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55512" y="4037305"/>
            <a:ext cx="4956877" cy="3927367"/>
            <a:chOff x="0" y="0"/>
            <a:chExt cx="6609169" cy="523648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09080" cy="5236464"/>
            </a:xfrm>
            <a:custGeom>
              <a:avLst/>
              <a:gdLst/>
              <a:ahLst/>
              <a:cxnLst/>
              <a:rect l="l" t="t" r="r" b="b"/>
              <a:pathLst>
                <a:path w="6609080" h="523646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462141" y="0"/>
                  </a:lnTo>
                  <a:cubicBezTo>
                    <a:pt x="6543294" y="0"/>
                    <a:pt x="6609080" y="65786"/>
                    <a:pt x="6609080" y="146939"/>
                  </a:cubicBezTo>
                  <a:lnTo>
                    <a:pt x="6609080" y="5089525"/>
                  </a:lnTo>
                  <a:cubicBezTo>
                    <a:pt x="6609080" y="5170678"/>
                    <a:pt x="6543294" y="5236464"/>
                    <a:pt x="6462141" y="5236464"/>
                  </a:cubicBezTo>
                  <a:lnTo>
                    <a:pt x="146939" y="5236464"/>
                  </a:lnTo>
                  <a:cubicBezTo>
                    <a:pt x="65786" y="5236464"/>
                    <a:pt x="0" y="5170678"/>
                    <a:pt x="0" y="508952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53607" y="4035400"/>
            <a:ext cx="4960687" cy="128883"/>
            <a:chOff x="0" y="0"/>
            <a:chExt cx="6614249" cy="1718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14287" cy="171831"/>
            </a:xfrm>
            <a:custGeom>
              <a:avLst/>
              <a:gdLst/>
              <a:ahLst/>
              <a:cxnLst/>
              <a:rect l="l" t="t" r="r" b="b"/>
              <a:pathLst>
                <a:path w="6614287" h="171831">
                  <a:moveTo>
                    <a:pt x="0" y="0"/>
                  </a:moveTo>
                  <a:lnTo>
                    <a:pt x="6614287" y="0"/>
                  </a:lnTo>
                  <a:lnTo>
                    <a:pt x="6614287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10220" y="4223495"/>
            <a:ext cx="4700616" cy="466477"/>
            <a:chOff x="0" y="0"/>
            <a:chExt cx="6267488" cy="62197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67485" cy="621970"/>
            </a:xfrm>
            <a:custGeom>
              <a:avLst/>
              <a:gdLst/>
              <a:ahLst/>
              <a:cxnLst/>
              <a:rect l="l" t="t" r="r" b="b"/>
              <a:pathLst>
                <a:path w="6267485" h="621970">
                  <a:moveTo>
                    <a:pt x="0" y="0"/>
                  </a:moveTo>
                  <a:lnTo>
                    <a:pt x="6267485" y="0"/>
                  </a:lnTo>
                  <a:lnTo>
                    <a:pt x="6267485" y="621970"/>
                  </a:lnTo>
                  <a:lnTo>
                    <a:pt x="0" y="62197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0461" r="5385" b="-12108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6267488" cy="641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 Административна подготовка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610220" y="4841081"/>
            <a:ext cx="4447461" cy="2882612"/>
            <a:chOff x="0" y="0"/>
            <a:chExt cx="5929948" cy="384348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29945" cy="3843488"/>
            </a:xfrm>
            <a:custGeom>
              <a:avLst/>
              <a:gdLst/>
              <a:ahLst/>
              <a:cxnLst/>
              <a:rect l="l" t="t" r="r" b="b"/>
              <a:pathLst>
                <a:path w="5929945" h="3843488">
                  <a:moveTo>
                    <a:pt x="0" y="0"/>
                  </a:moveTo>
                  <a:lnTo>
                    <a:pt x="5929945" y="0"/>
                  </a:lnTo>
                  <a:lnTo>
                    <a:pt x="5929945" y="3843488"/>
                  </a:lnTo>
                  <a:lnTo>
                    <a:pt x="0" y="3843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59" r="-331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5929948" cy="3853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потвърждения от курсовите организатори</a:t>
              </a:r>
            </a:p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попълване на формуляри</a:t>
              </a:r>
            </a:p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изпълнение на изискванията за участие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777561" y="4037305"/>
            <a:ext cx="4956877" cy="3927367"/>
            <a:chOff x="0" y="0"/>
            <a:chExt cx="6609169" cy="523648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609080" cy="5236464"/>
            </a:xfrm>
            <a:custGeom>
              <a:avLst/>
              <a:gdLst/>
              <a:ahLst/>
              <a:cxnLst/>
              <a:rect l="l" t="t" r="r" b="b"/>
              <a:pathLst>
                <a:path w="6609080" h="523646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462141" y="0"/>
                  </a:lnTo>
                  <a:cubicBezTo>
                    <a:pt x="6543294" y="0"/>
                    <a:pt x="6609080" y="65786"/>
                    <a:pt x="6609080" y="146939"/>
                  </a:cubicBezTo>
                  <a:lnTo>
                    <a:pt x="6609080" y="5089525"/>
                  </a:lnTo>
                  <a:cubicBezTo>
                    <a:pt x="6609080" y="5170678"/>
                    <a:pt x="6543294" y="5236464"/>
                    <a:pt x="6462141" y="5236464"/>
                  </a:cubicBezTo>
                  <a:lnTo>
                    <a:pt x="146939" y="5236464"/>
                  </a:lnTo>
                  <a:cubicBezTo>
                    <a:pt x="65786" y="5236464"/>
                    <a:pt x="0" y="5170678"/>
                    <a:pt x="0" y="508952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775656" y="4035400"/>
            <a:ext cx="4960687" cy="128883"/>
            <a:chOff x="0" y="0"/>
            <a:chExt cx="6614249" cy="1718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614287" cy="171831"/>
            </a:xfrm>
            <a:custGeom>
              <a:avLst/>
              <a:gdLst/>
              <a:ahLst/>
              <a:cxnLst/>
              <a:rect l="l" t="t" r="r" b="b"/>
              <a:pathLst>
                <a:path w="6614287" h="171831">
                  <a:moveTo>
                    <a:pt x="0" y="0"/>
                  </a:moveTo>
                  <a:lnTo>
                    <a:pt x="6614287" y="0"/>
                  </a:lnTo>
                  <a:lnTo>
                    <a:pt x="6614287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032269" y="4292013"/>
            <a:ext cx="4447461" cy="329441"/>
            <a:chOff x="0" y="0"/>
            <a:chExt cx="5929948" cy="43925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929945" cy="439255"/>
            </a:xfrm>
            <a:custGeom>
              <a:avLst/>
              <a:gdLst/>
              <a:ahLst/>
              <a:cxnLst/>
              <a:rect l="l" t="t" r="r" b="b"/>
              <a:pathLst>
                <a:path w="5929945" h="439255">
                  <a:moveTo>
                    <a:pt x="0" y="0"/>
                  </a:moveTo>
                  <a:lnTo>
                    <a:pt x="5929945" y="0"/>
                  </a:lnTo>
                  <a:lnTo>
                    <a:pt x="592994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048" b="-21304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5929948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 Логистика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032269" y="4841081"/>
            <a:ext cx="4447461" cy="2882612"/>
            <a:chOff x="0" y="0"/>
            <a:chExt cx="5929948" cy="384348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929945" cy="3843488"/>
            </a:xfrm>
            <a:custGeom>
              <a:avLst/>
              <a:gdLst/>
              <a:ahLst/>
              <a:cxnLst/>
              <a:rect l="l" t="t" r="r" b="b"/>
              <a:pathLst>
                <a:path w="5929945" h="3843488">
                  <a:moveTo>
                    <a:pt x="0" y="0"/>
                  </a:moveTo>
                  <a:lnTo>
                    <a:pt x="5929945" y="0"/>
                  </a:lnTo>
                  <a:lnTo>
                    <a:pt x="5929945" y="3843488"/>
                  </a:lnTo>
                  <a:lnTo>
                    <a:pt x="0" y="3843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59" r="-331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5929948" cy="3853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организиране на пътуването</a:t>
              </a:r>
            </a:p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самолетни билети</a:t>
              </a:r>
            </a:p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автобусни билети за вътрешни линии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199620" y="4037305"/>
            <a:ext cx="4956877" cy="3927367"/>
            <a:chOff x="0" y="0"/>
            <a:chExt cx="6609169" cy="523648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609080" cy="5236464"/>
            </a:xfrm>
            <a:custGeom>
              <a:avLst/>
              <a:gdLst/>
              <a:ahLst/>
              <a:cxnLst/>
              <a:rect l="l" t="t" r="r" b="b"/>
              <a:pathLst>
                <a:path w="6609080" h="523646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6462141" y="0"/>
                  </a:lnTo>
                  <a:cubicBezTo>
                    <a:pt x="6543294" y="0"/>
                    <a:pt x="6609080" y="65786"/>
                    <a:pt x="6609080" y="146939"/>
                  </a:cubicBezTo>
                  <a:lnTo>
                    <a:pt x="6609080" y="5089525"/>
                  </a:lnTo>
                  <a:cubicBezTo>
                    <a:pt x="6609080" y="5170678"/>
                    <a:pt x="6543294" y="5236464"/>
                    <a:pt x="6462141" y="5236464"/>
                  </a:cubicBezTo>
                  <a:lnTo>
                    <a:pt x="146939" y="5236464"/>
                  </a:lnTo>
                  <a:cubicBezTo>
                    <a:pt x="65786" y="5236464"/>
                    <a:pt x="0" y="5170678"/>
                    <a:pt x="0" y="508952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197715" y="4035400"/>
            <a:ext cx="4960687" cy="128883"/>
            <a:chOff x="0" y="0"/>
            <a:chExt cx="6614249" cy="1718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14287" cy="171831"/>
            </a:xfrm>
            <a:custGeom>
              <a:avLst/>
              <a:gdLst/>
              <a:ahLst/>
              <a:cxnLst/>
              <a:rect l="l" t="t" r="r" b="b"/>
              <a:pathLst>
                <a:path w="6614287" h="171831">
                  <a:moveTo>
                    <a:pt x="0" y="0"/>
                  </a:moveTo>
                  <a:lnTo>
                    <a:pt x="6614287" y="0"/>
                  </a:lnTo>
                  <a:lnTo>
                    <a:pt x="6614287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54328" y="4292013"/>
            <a:ext cx="4447461" cy="329441"/>
            <a:chOff x="0" y="0"/>
            <a:chExt cx="5929948" cy="43925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29945" cy="439255"/>
            </a:xfrm>
            <a:custGeom>
              <a:avLst/>
              <a:gdLst/>
              <a:ahLst/>
              <a:cxnLst/>
              <a:rect l="l" t="t" r="r" b="b"/>
              <a:pathLst>
                <a:path w="5929945" h="439255">
                  <a:moveTo>
                    <a:pt x="0" y="0"/>
                  </a:moveTo>
                  <a:lnTo>
                    <a:pt x="5929945" y="0"/>
                  </a:lnTo>
                  <a:lnTo>
                    <a:pt x="592994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048" b="-21304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929948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 Комуникация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454328" y="4841081"/>
            <a:ext cx="4447461" cy="2882612"/>
            <a:chOff x="0" y="0"/>
            <a:chExt cx="5929948" cy="384348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929945" cy="3843488"/>
            </a:xfrm>
            <a:custGeom>
              <a:avLst/>
              <a:gdLst/>
              <a:ahLst/>
              <a:cxnLst/>
              <a:rect l="l" t="t" r="r" b="b"/>
              <a:pathLst>
                <a:path w="5929945" h="3843488">
                  <a:moveTo>
                    <a:pt x="0" y="0"/>
                  </a:moveTo>
                  <a:lnTo>
                    <a:pt x="5929945" y="0"/>
                  </a:lnTo>
                  <a:lnTo>
                    <a:pt x="5929945" y="3843488"/>
                  </a:lnTo>
                  <a:lnTo>
                    <a:pt x="0" y="3843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3159" r="-331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929948" cy="3853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кореспонденция с партньорски организации</a:t>
              </a:r>
            </a:p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уточняване на програми и дейности</a:t>
              </a:r>
            </a:p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подготовка на участниците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706308" y="8459972"/>
            <a:ext cx="14843931" cy="798328"/>
            <a:chOff x="0" y="0"/>
            <a:chExt cx="19791909" cy="106443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9791807" cy="1064353"/>
            </a:xfrm>
            <a:custGeom>
              <a:avLst/>
              <a:gdLst/>
              <a:ahLst/>
              <a:cxnLst/>
              <a:rect l="l" t="t" r="r" b="b"/>
              <a:pathLst>
                <a:path w="19791807" h="1064353">
                  <a:moveTo>
                    <a:pt x="0" y="125180"/>
                  </a:moveTo>
                  <a:cubicBezTo>
                    <a:pt x="0" y="56097"/>
                    <a:pt x="66929" y="0"/>
                    <a:pt x="149352" y="0"/>
                  </a:cubicBezTo>
                  <a:lnTo>
                    <a:pt x="19642455" y="0"/>
                  </a:lnTo>
                  <a:cubicBezTo>
                    <a:pt x="19725005" y="0"/>
                    <a:pt x="19791807" y="56097"/>
                    <a:pt x="19791807" y="125180"/>
                  </a:cubicBezTo>
                  <a:lnTo>
                    <a:pt x="19791807" y="939172"/>
                  </a:lnTo>
                  <a:cubicBezTo>
                    <a:pt x="19791807" y="1008362"/>
                    <a:pt x="19724878" y="1064353"/>
                    <a:pt x="19642455" y="1064353"/>
                  </a:cubicBezTo>
                  <a:lnTo>
                    <a:pt x="149352" y="1064353"/>
                  </a:lnTo>
                  <a:cubicBezTo>
                    <a:pt x="66929" y="1064463"/>
                    <a:pt x="0" y="1008362"/>
                    <a:pt x="0" y="939172"/>
                  </a:cubicBezTo>
                  <a:close/>
                </a:path>
              </a:pathLst>
            </a:custGeom>
            <a:solidFill>
              <a:srgbClr val="FFF7D6"/>
            </a:solidFill>
            <a:ln w="19065" cap="sq">
              <a:solidFill>
                <a:srgbClr val="FFE69A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990373" y="8812673"/>
            <a:ext cx="14275794" cy="219627"/>
            <a:chOff x="0" y="0"/>
            <a:chExt cx="19034392" cy="292837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034390" cy="292837"/>
            </a:xfrm>
            <a:custGeom>
              <a:avLst/>
              <a:gdLst/>
              <a:ahLst/>
              <a:cxnLst/>
              <a:rect l="l" t="t" r="r" b="b"/>
              <a:pathLst>
                <a:path w="19034390" h="292837">
                  <a:moveTo>
                    <a:pt x="0" y="0"/>
                  </a:moveTo>
                  <a:lnTo>
                    <a:pt x="19034390" y="0"/>
                  </a:lnTo>
                  <a:lnTo>
                    <a:pt x="19034390" y="292837"/>
                  </a:lnTo>
                  <a:lnTo>
                    <a:pt x="0" y="2928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16527" b="-121652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19034392" cy="3023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76"/>
                </a:lnSpc>
              </a:pPr>
              <a:r>
                <a:rPr lang="en-US" sz="214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Резултат: готовност за ефективно участие в четирите международни обучения.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</a:p>
        </p:txBody>
      </p:sp>
      <p:sp>
        <p:nvSpPr>
          <p:cNvPr id="51" name="Freeform 51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1817442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2235" y="2005418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РЕАЛИЗИРАНИ ОБУЧИТЕЛНИ МОБИЛНОСТИ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19686" y="2472124"/>
            <a:ext cx="15923000" cy="164725"/>
            <a:chOff x="0" y="0"/>
            <a:chExt cx="21230666" cy="2196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30667" cy="219628"/>
            </a:xfrm>
            <a:custGeom>
              <a:avLst/>
              <a:gdLst/>
              <a:ahLst/>
              <a:cxnLst/>
              <a:rect l="l" t="t" r="r" b="b"/>
              <a:pathLst>
                <a:path w="21230667" h="219628">
                  <a:moveTo>
                    <a:pt x="0" y="0"/>
                  </a:moveTo>
                  <a:lnTo>
                    <a:pt x="21230667" y="0"/>
                  </a:lnTo>
                  <a:lnTo>
                    <a:pt x="2123066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3552" b="-183355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230666" cy="238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E8FF"/>
                  </a:solidFill>
                  <a:latin typeface="Arial"/>
                  <a:ea typeface="Arial"/>
                  <a:cs typeface="Arial"/>
                  <a:sym typeface="Arial"/>
                </a:rPr>
                <a:t>Обзор на четирите курса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9691" y="2811385"/>
            <a:ext cx="16472068" cy="832547"/>
            <a:chOff x="0" y="0"/>
            <a:chExt cx="21962758" cy="111006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62759" cy="1110067"/>
            </a:xfrm>
            <a:custGeom>
              <a:avLst/>
              <a:gdLst/>
              <a:ahLst/>
              <a:cxnLst/>
              <a:rect l="l" t="t" r="r" b="b"/>
              <a:pathLst>
                <a:path w="21962759" h="1110067">
                  <a:moveTo>
                    <a:pt x="0" y="0"/>
                  </a:moveTo>
                  <a:lnTo>
                    <a:pt x="21962759" y="0"/>
                  </a:lnTo>
                  <a:lnTo>
                    <a:pt x="21962759" y="1110067"/>
                  </a:lnTo>
                  <a:lnTo>
                    <a:pt x="0" y="1110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6659" b="-31436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1962758" cy="11195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Четирите обучения обединяват компетентности на XXI век, меки умения и използване на изкуствен интелект в образованието.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47346" y="3958257"/>
            <a:ext cx="3721465" cy="5300043"/>
            <a:chOff x="0" y="0"/>
            <a:chExt cx="4961954" cy="7066724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62017" cy="7066788"/>
            </a:xfrm>
            <a:custGeom>
              <a:avLst/>
              <a:gdLst/>
              <a:ahLst/>
              <a:cxnLst/>
              <a:rect l="l" t="t" r="r" b="b"/>
              <a:pathLst>
                <a:path w="4962017" h="706678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814951" y="0"/>
                  </a:lnTo>
                  <a:cubicBezTo>
                    <a:pt x="4896104" y="0"/>
                    <a:pt x="4962017" y="65786"/>
                    <a:pt x="4962017" y="147066"/>
                  </a:cubicBezTo>
                  <a:lnTo>
                    <a:pt x="4962017" y="6919722"/>
                  </a:lnTo>
                  <a:cubicBezTo>
                    <a:pt x="4962017" y="7000875"/>
                    <a:pt x="4896231" y="7066788"/>
                    <a:pt x="4814951" y="7066788"/>
                  </a:cubicBezTo>
                  <a:lnTo>
                    <a:pt x="147066" y="7066788"/>
                  </a:lnTo>
                  <a:cubicBezTo>
                    <a:pt x="65786" y="7066661"/>
                    <a:pt x="0" y="7000875"/>
                    <a:pt x="0" y="691972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5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64789" y="4075690"/>
            <a:ext cx="3486588" cy="1853108"/>
            <a:chOff x="0" y="0"/>
            <a:chExt cx="4648784" cy="2470810"/>
          </a:xfrm>
        </p:grpSpPr>
        <p:sp>
          <p:nvSpPr>
            <p:cNvPr id="16" name="Freeform 16" descr="/mnt/data/course_pages/nice-02.png"/>
            <p:cNvSpPr/>
            <p:nvPr/>
          </p:nvSpPr>
          <p:spPr>
            <a:xfrm>
              <a:off x="0" y="0"/>
              <a:ext cx="4648835" cy="2470785"/>
            </a:xfrm>
            <a:custGeom>
              <a:avLst/>
              <a:gdLst/>
              <a:ahLst/>
              <a:cxnLst/>
              <a:rect l="l" t="t" r="r" b="b"/>
              <a:pathLst>
                <a:path w="4648835" h="2470785">
                  <a:moveTo>
                    <a:pt x="0" y="0"/>
                  </a:moveTo>
                  <a:lnTo>
                    <a:pt x="4648835" y="0"/>
                  </a:lnTo>
                  <a:lnTo>
                    <a:pt x="4648835" y="2470785"/>
                  </a:lnTo>
                  <a:lnTo>
                    <a:pt x="0" y="247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96" b="-2897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910166" y="6056538"/>
            <a:ext cx="732854" cy="732854"/>
            <a:chOff x="0" y="0"/>
            <a:chExt cx="977138" cy="9771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977138" cy="977138"/>
            </a:xfrm>
            <a:custGeom>
              <a:avLst/>
              <a:gdLst/>
              <a:ahLst/>
              <a:cxnLst/>
              <a:rect l="l" t="t" r="r" b="b"/>
              <a:pathLst>
                <a:path w="977138" h="977138">
                  <a:moveTo>
                    <a:pt x="0" y="488569"/>
                  </a:moveTo>
                  <a:cubicBezTo>
                    <a:pt x="0" y="218694"/>
                    <a:pt x="218694" y="0"/>
                    <a:pt x="488569" y="0"/>
                  </a:cubicBezTo>
                  <a:cubicBezTo>
                    <a:pt x="758444" y="0"/>
                    <a:pt x="977138" y="218694"/>
                    <a:pt x="977138" y="488569"/>
                  </a:cubicBezTo>
                  <a:cubicBezTo>
                    <a:pt x="977138" y="758444"/>
                    <a:pt x="758444" y="977138"/>
                    <a:pt x="488569" y="977138"/>
                  </a:cubicBezTo>
                  <a:cubicBezTo>
                    <a:pt x="218694" y="977138"/>
                    <a:pt x="0" y="758444"/>
                    <a:pt x="0" y="488569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19691" y="6244514"/>
            <a:ext cx="713794" cy="402375"/>
            <a:chOff x="0" y="0"/>
            <a:chExt cx="951725" cy="53650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51720" cy="536485"/>
            </a:xfrm>
            <a:custGeom>
              <a:avLst/>
              <a:gdLst/>
              <a:ahLst/>
              <a:cxnLst/>
              <a:rect l="l" t="t" r="r" b="b"/>
              <a:pathLst>
                <a:path w="951720" h="536485">
                  <a:moveTo>
                    <a:pt x="0" y="0"/>
                  </a:moveTo>
                  <a:lnTo>
                    <a:pt x="951720" y="0"/>
                  </a:lnTo>
                  <a:lnTo>
                    <a:pt x="951720" y="536485"/>
                  </a:lnTo>
                  <a:lnTo>
                    <a:pt x="0" y="536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6" b="449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951725" cy="555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56965" y="6985759"/>
            <a:ext cx="3129696" cy="480435"/>
            <a:chOff x="0" y="0"/>
            <a:chExt cx="4172928" cy="6405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172924" cy="640586"/>
            </a:xfrm>
            <a:custGeom>
              <a:avLst/>
              <a:gdLst/>
              <a:ahLst/>
              <a:cxnLst/>
              <a:rect l="l" t="t" r="r" b="b"/>
              <a:pathLst>
                <a:path w="4172924" h="640586">
                  <a:moveTo>
                    <a:pt x="0" y="0"/>
                  </a:moveTo>
                  <a:lnTo>
                    <a:pt x="4172924" y="0"/>
                  </a:lnTo>
                  <a:lnTo>
                    <a:pt x="4172924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931" b="-7692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4172928" cy="659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9"/>
                </a:lnSpc>
              </a:pPr>
              <a:r>
                <a:rPr lang="en-US" sz="209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4Cs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56965" y="7919180"/>
            <a:ext cx="3129696" cy="376177"/>
            <a:chOff x="0" y="0"/>
            <a:chExt cx="4172928" cy="501569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72924" cy="501572"/>
            </a:xfrm>
            <a:custGeom>
              <a:avLst/>
              <a:gdLst/>
              <a:ahLst/>
              <a:cxnLst/>
              <a:rect l="l" t="t" r="r" b="b"/>
              <a:pathLst>
                <a:path w="4172924" h="501572">
                  <a:moveTo>
                    <a:pt x="0" y="0"/>
                  </a:moveTo>
                  <a:lnTo>
                    <a:pt x="4172924" y="0"/>
                  </a:lnTo>
                  <a:lnTo>
                    <a:pt x="4172924" y="501572"/>
                  </a:lnTo>
                  <a:lnTo>
                    <a:pt x="0" y="501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9" b="-949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4172928" cy="5206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5"/>
                </a:lnSpc>
              </a:pPr>
              <a:r>
                <a:rPr lang="en-US" sz="182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Ница, Франция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56965" y="8399612"/>
            <a:ext cx="3129696" cy="339363"/>
            <a:chOff x="0" y="0"/>
            <a:chExt cx="4172928" cy="452484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172924" cy="452485"/>
            </a:xfrm>
            <a:custGeom>
              <a:avLst/>
              <a:gdLst/>
              <a:ahLst/>
              <a:cxnLst/>
              <a:rect l="l" t="t" r="r" b="b"/>
              <a:pathLst>
                <a:path w="4172924" h="452485">
                  <a:moveTo>
                    <a:pt x="0" y="0"/>
                  </a:moveTo>
                  <a:lnTo>
                    <a:pt x="4172924" y="0"/>
                  </a:lnTo>
                  <a:lnTo>
                    <a:pt x="4172924" y="452485"/>
                  </a:lnTo>
                  <a:lnTo>
                    <a:pt x="0" y="45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337" b="-1120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4172928" cy="4715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5"/>
                </a:lnSpc>
              </a:pPr>
              <a:r>
                <a:rPr lang="en-US" sz="167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11.05–15.05.2026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139904" y="3958257"/>
            <a:ext cx="3721465" cy="5300043"/>
            <a:chOff x="0" y="0"/>
            <a:chExt cx="4961954" cy="706672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962017" cy="7066788"/>
            </a:xfrm>
            <a:custGeom>
              <a:avLst/>
              <a:gdLst/>
              <a:ahLst/>
              <a:cxnLst/>
              <a:rect l="l" t="t" r="r" b="b"/>
              <a:pathLst>
                <a:path w="4962017" h="706678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814951" y="0"/>
                  </a:lnTo>
                  <a:cubicBezTo>
                    <a:pt x="4896104" y="0"/>
                    <a:pt x="4962017" y="65786"/>
                    <a:pt x="4962017" y="147066"/>
                  </a:cubicBezTo>
                  <a:lnTo>
                    <a:pt x="4962017" y="6919722"/>
                  </a:lnTo>
                  <a:cubicBezTo>
                    <a:pt x="4962017" y="7000875"/>
                    <a:pt x="4896231" y="7066788"/>
                    <a:pt x="4814951" y="7066788"/>
                  </a:cubicBezTo>
                  <a:lnTo>
                    <a:pt x="147066" y="7066788"/>
                  </a:lnTo>
                  <a:cubicBezTo>
                    <a:pt x="65786" y="7066661"/>
                    <a:pt x="0" y="7000875"/>
                    <a:pt x="0" y="691972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5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57338" y="4075690"/>
            <a:ext cx="3486588" cy="1853108"/>
            <a:chOff x="0" y="0"/>
            <a:chExt cx="4648784" cy="2470810"/>
          </a:xfrm>
        </p:grpSpPr>
        <p:sp>
          <p:nvSpPr>
            <p:cNvPr id="34" name="Freeform 34" descr="/mnt/data/course_pages/florence-01.png"/>
            <p:cNvSpPr/>
            <p:nvPr/>
          </p:nvSpPr>
          <p:spPr>
            <a:xfrm>
              <a:off x="0" y="0"/>
              <a:ext cx="4648835" cy="2470785"/>
            </a:xfrm>
            <a:custGeom>
              <a:avLst/>
              <a:gdLst/>
              <a:ahLst/>
              <a:cxnLst/>
              <a:rect l="l" t="t" r="r" b="b"/>
              <a:pathLst>
                <a:path w="4648835" h="2470785">
                  <a:moveTo>
                    <a:pt x="0" y="0"/>
                  </a:moveTo>
                  <a:lnTo>
                    <a:pt x="4648835" y="0"/>
                  </a:lnTo>
                  <a:lnTo>
                    <a:pt x="4648835" y="2470785"/>
                  </a:lnTo>
                  <a:lnTo>
                    <a:pt x="0" y="247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934" r="1" b="-293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302715" y="6056538"/>
            <a:ext cx="732854" cy="732854"/>
            <a:chOff x="0" y="0"/>
            <a:chExt cx="977138" cy="97713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7138" cy="977138"/>
            </a:xfrm>
            <a:custGeom>
              <a:avLst/>
              <a:gdLst/>
              <a:ahLst/>
              <a:cxnLst/>
              <a:rect l="l" t="t" r="r" b="b"/>
              <a:pathLst>
                <a:path w="977138" h="977138">
                  <a:moveTo>
                    <a:pt x="0" y="488569"/>
                  </a:moveTo>
                  <a:cubicBezTo>
                    <a:pt x="0" y="218694"/>
                    <a:pt x="218694" y="0"/>
                    <a:pt x="488569" y="0"/>
                  </a:cubicBezTo>
                  <a:cubicBezTo>
                    <a:pt x="758444" y="0"/>
                    <a:pt x="977138" y="218694"/>
                    <a:pt x="977138" y="488569"/>
                  </a:cubicBezTo>
                  <a:cubicBezTo>
                    <a:pt x="977138" y="758444"/>
                    <a:pt x="758444" y="977138"/>
                    <a:pt x="488569" y="977138"/>
                  </a:cubicBezTo>
                  <a:cubicBezTo>
                    <a:pt x="218694" y="977138"/>
                    <a:pt x="0" y="758444"/>
                    <a:pt x="0" y="488569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12250" y="6244514"/>
            <a:ext cx="713794" cy="402375"/>
            <a:chOff x="0" y="0"/>
            <a:chExt cx="951725" cy="53650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951720" cy="536485"/>
            </a:xfrm>
            <a:custGeom>
              <a:avLst/>
              <a:gdLst/>
              <a:ahLst/>
              <a:cxnLst/>
              <a:rect l="l" t="t" r="r" b="b"/>
              <a:pathLst>
                <a:path w="951720" h="536485">
                  <a:moveTo>
                    <a:pt x="0" y="0"/>
                  </a:moveTo>
                  <a:lnTo>
                    <a:pt x="951720" y="0"/>
                  </a:lnTo>
                  <a:lnTo>
                    <a:pt x="951720" y="536485"/>
                  </a:lnTo>
                  <a:lnTo>
                    <a:pt x="0" y="536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6" b="449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951725" cy="555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449514" y="6985759"/>
            <a:ext cx="3129696" cy="480435"/>
            <a:chOff x="0" y="0"/>
            <a:chExt cx="4172928" cy="6405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172924" cy="640586"/>
            </a:xfrm>
            <a:custGeom>
              <a:avLst/>
              <a:gdLst/>
              <a:ahLst/>
              <a:cxnLst/>
              <a:rect l="l" t="t" r="r" b="b"/>
              <a:pathLst>
                <a:path w="4172924" h="640586">
                  <a:moveTo>
                    <a:pt x="0" y="0"/>
                  </a:moveTo>
                  <a:lnTo>
                    <a:pt x="4172924" y="0"/>
                  </a:lnTo>
                  <a:lnTo>
                    <a:pt x="4172924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931" b="-7692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4172928" cy="659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9"/>
                </a:lnSpc>
              </a:pPr>
              <a:r>
                <a:rPr lang="en-US" sz="209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There’s an AI for That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449514" y="7919180"/>
            <a:ext cx="3129696" cy="376177"/>
            <a:chOff x="0" y="0"/>
            <a:chExt cx="4172928" cy="501569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172924" cy="501572"/>
            </a:xfrm>
            <a:custGeom>
              <a:avLst/>
              <a:gdLst/>
              <a:ahLst/>
              <a:cxnLst/>
              <a:rect l="l" t="t" r="r" b="b"/>
              <a:pathLst>
                <a:path w="4172924" h="501572">
                  <a:moveTo>
                    <a:pt x="0" y="0"/>
                  </a:moveTo>
                  <a:lnTo>
                    <a:pt x="4172924" y="0"/>
                  </a:lnTo>
                  <a:lnTo>
                    <a:pt x="4172924" y="501572"/>
                  </a:lnTo>
                  <a:lnTo>
                    <a:pt x="0" y="501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9" b="-949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19050"/>
              <a:ext cx="4172928" cy="5206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5"/>
                </a:lnSpc>
              </a:pPr>
              <a:r>
                <a:rPr lang="en-US" sz="182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Флоренция, Италия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49514" y="8399612"/>
            <a:ext cx="3129696" cy="339363"/>
            <a:chOff x="0" y="0"/>
            <a:chExt cx="4172928" cy="452484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4172924" cy="452485"/>
            </a:xfrm>
            <a:custGeom>
              <a:avLst/>
              <a:gdLst/>
              <a:ahLst/>
              <a:cxnLst/>
              <a:rect l="l" t="t" r="r" b="b"/>
              <a:pathLst>
                <a:path w="4172924" h="452485">
                  <a:moveTo>
                    <a:pt x="0" y="0"/>
                  </a:moveTo>
                  <a:lnTo>
                    <a:pt x="4172924" y="0"/>
                  </a:lnTo>
                  <a:lnTo>
                    <a:pt x="4172924" y="452485"/>
                  </a:lnTo>
                  <a:lnTo>
                    <a:pt x="0" y="45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337" b="-1120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4172928" cy="4715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5"/>
                </a:lnSpc>
              </a:pPr>
              <a:r>
                <a:rPr lang="en-US" sz="167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09.02–14.02.2026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9532453" y="3958257"/>
            <a:ext cx="3721465" cy="5300043"/>
            <a:chOff x="0" y="0"/>
            <a:chExt cx="4961954" cy="706672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4962017" cy="7066788"/>
            </a:xfrm>
            <a:custGeom>
              <a:avLst/>
              <a:gdLst/>
              <a:ahLst/>
              <a:cxnLst/>
              <a:rect l="l" t="t" r="r" b="b"/>
              <a:pathLst>
                <a:path w="4962017" h="706678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814951" y="0"/>
                  </a:lnTo>
                  <a:cubicBezTo>
                    <a:pt x="4896104" y="0"/>
                    <a:pt x="4962017" y="65786"/>
                    <a:pt x="4962017" y="147066"/>
                  </a:cubicBezTo>
                  <a:lnTo>
                    <a:pt x="4962017" y="6919722"/>
                  </a:lnTo>
                  <a:cubicBezTo>
                    <a:pt x="4962017" y="7000875"/>
                    <a:pt x="4896231" y="7066788"/>
                    <a:pt x="4814951" y="7066788"/>
                  </a:cubicBezTo>
                  <a:lnTo>
                    <a:pt x="147066" y="7066788"/>
                  </a:lnTo>
                  <a:cubicBezTo>
                    <a:pt x="65786" y="7066661"/>
                    <a:pt x="0" y="7000875"/>
                    <a:pt x="0" y="691972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5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649887" y="4075690"/>
            <a:ext cx="3486588" cy="1853108"/>
            <a:chOff x="0" y="0"/>
            <a:chExt cx="4648784" cy="2470810"/>
          </a:xfrm>
        </p:grpSpPr>
        <p:sp>
          <p:nvSpPr>
            <p:cNvPr id="52" name="Freeform 52" descr="/mnt/data/course_pages/valencia-01.png"/>
            <p:cNvSpPr/>
            <p:nvPr/>
          </p:nvSpPr>
          <p:spPr>
            <a:xfrm>
              <a:off x="0" y="0"/>
              <a:ext cx="4648835" cy="2470785"/>
            </a:xfrm>
            <a:custGeom>
              <a:avLst/>
              <a:gdLst/>
              <a:ahLst/>
              <a:cxnLst/>
              <a:rect l="l" t="t" r="r" b="b"/>
              <a:pathLst>
                <a:path w="4648835" h="2470785">
                  <a:moveTo>
                    <a:pt x="0" y="0"/>
                  </a:moveTo>
                  <a:lnTo>
                    <a:pt x="4648835" y="0"/>
                  </a:lnTo>
                  <a:lnTo>
                    <a:pt x="4648835" y="2470785"/>
                  </a:lnTo>
                  <a:lnTo>
                    <a:pt x="0" y="247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934" r="1" b="-293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695264" y="6056538"/>
            <a:ext cx="732854" cy="732854"/>
            <a:chOff x="0" y="0"/>
            <a:chExt cx="977138" cy="97713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977138" cy="977138"/>
            </a:xfrm>
            <a:custGeom>
              <a:avLst/>
              <a:gdLst/>
              <a:ahLst/>
              <a:cxnLst/>
              <a:rect l="l" t="t" r="r" b="b"/>
              <a:pathLst>
                <a:path w="977138" h="977138">
                  <a:moveTo>
                    <a:pt x="0" y="488569"/>
                  </a:moveTo>
                  <a:cubicBezTo>
                    <a:pt x="0" y="218694"/>
                    <a:pt x="218694" y="0"/>
                    <a:pt x="488569" y="0"/>
                  </a:cubicBezTo>
                  <a:cubicBezTo>
                    <a:pt x="758444" y="0"/>
                    <a:pt x="977138" y="218694"/>
                    <a:pt x="977138" y="488569"/>
                  </a:cubicBezTo>
                  <a:cubicBezTo>
                    <a:pt x="977138" y="758444"/>
                    <a:pt x="758444" y="977138"/>
                    <a:pt x="488569" y="977138"/>
                  </a:cubicBezTo>
                  <a:cubicBezTo>
                    <a:pt x="218694" y="977138"/>
                    <a:pt x="0" y="758444"/>
                    <a:pt x="0" y="488569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704799" y="6244514"/>
            <a:ext cx="713794" cy="402375"/>
            <a:chOff x="0" y="0"/>
            <a:chExt cx="951725" cy="53650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951720" cy="536485"/>
            </a:xfrm>
            <a:custGeom>
              <a:avLst/>
              <a:gdLst/>
              <a:ahLst/>
              <a:cxnLst/>
              <a:rect l="l" t="t" r="r" b="b"/>
              <a:pathLst>
                <a:path w="951720" h="536485">
                  <a:moveTo>
                    <a:pt x="0" y="0"/>
                  </a:moveTo>
                  <a:lnTo>
                    <a:pt x="951720" y="0"/>
                  </a:lnTo>
                  <a:lnTo>
                    <a:pt x="951720" y="536485"/>
                  </a:lnTo>
                  <a:lnTo>
                    <a:pt x="0" y="536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6" b="449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951725" cy="555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842063" y="6985759"/>
            <a:ext cx="3129696" cy="743431"/>
            <a:chOff x="0" y="0"/>
            <a:chExt cx="4172928" cy="991241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172924" cy="991246"/>
            </a:xfrm>
            <a:custGeom>
              <a:avLst/>
              <a:gdLst/>
              <a:ahLst/>
              <a:cxnLst/>
              <a:rect l="l" t="t" r="r" b="b"/>
              <a:pathLst>
                <a:path w="4172924" h="991246">
                  <a:moveTo>
                    <a:pt x="0" y="0"/>
                  </a:moveTo>
                  <a:lnTo>
                    <a:pt x="4172924" y="0"/>
                  </a:lnTo>
                  <a:lnTo>
                    <a:pt x="4172924" y="991246"/>
                  </a:lnTo>
                  <a:lnTo>
                    <a:pt x="0" y="9912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716" b="-1433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4172928" cy="10102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9"/>
                </a:lnSpc>
              </a:pPr>
              <a:r>
                <a:rPr lang="en-US" sz="209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Soft Skills for Strong Teachers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9842063" y="7919180"/>
            <a:ext cx="3129696" cy="376177"/>
            <a:chOff x="0" y="0"/>
            <a:chExt cx="4172928" cy="501569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4172924" cy="501572"/>
            </a:xfrm>
            <a:custGeom>
              <a:avLst/>
              <a:gdLst/>
              <a:ahLst/>
              <a:cxnLst/>
              <a:rect l="l" t="t" r="r" b="b"/>
              <a:pathLst>
                <a:path w="4172924" h="501572">
                  <a:moveTo>
                    <a:pt x="0" y="0"/>
                  </a:moveTo>
                  <a:lnTo>
                    <a:pt x="4172924" y="0"/>
                  </a:lnTo>
                  <a:lnTo>
                    <a:pt x="4172924" y="501572"/>
                  </a:lnTo>
                  <a:lnTo>
                    <a:pt x="0" y="501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9" b="-949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4172928" cy="5206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5"/>
                </a:lnSpc>
              </a:pPr>
              <a:r>
                <a:rPr lang="en-US" sz="182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Валенсия, Испания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9842063" y="8399612"/>
            <a:ext cx="3129696" cy="339363"/>
            <a:chOff x="0" y="0"/>
            <a:chExt cx="4172928" cy="452484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4172924" cy="452485"/>
            </a:xfrm>
            <a:custGeom>
              <a:avLst/>
              <a:gdLst/>
              <a:ahLst/>
              <a:cxnLst/>
              <a:rect l="l" t="t" r="r" b="b"/>
              <a:pathLst>
                <a:path w="4172924" h="452485">
                  <a:moveTo>
                    <a:pt x="0" y="0"/>
                  </a:moveTo>
                  <a:lnTo>
                    <a:pt x="4172924" y="0"/>
                  </a:lnTo>
                  <a:lnTo>
                    <a:pt x="4172924" y="452485"/>
                  </a:lnTo>
                  <a:lnTo>
                    <a:pt x="0" y="45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337" b="-1120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4172928" cy="4715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5"/>
                </a:lnSpc>
              </a:pPr>
              <a:r>
                <a:rPr lang="en-US" sz="167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20.04–25.04.2026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3925002" y="3958257"/>
            <a:ext cx="3721465" cy="5300043"/>
            <a:chOff x="0" y="0"/>
            <a:chExt cx="4961954" cy="706672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962017" cy="7066788"/>
            </a:xfrm>
            <a:custGeom>
              <a:avLst/>
              <a:gdLst/>
              <a:ahLst/>
              <a:cxnLst/>
              <a:rect l="l" t="t" r="r" b="b"/>
              <a:pathLst>
                <a:path w="4962017" h="7066788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4814951" y="0"/>
                  </a:lnTo>
                  <a:cubicBezTo>
                    <a:pt x="4896104" y="0"/>
                    <a:pt x="4962017" y="65786"/>
                    <a:pt x="4962017" y="147066"/>
                  </a:cubicBezTo>
                  <a:lnTo>
                    <a:pt x="4962017" y="6919722"/>
                  </a:lnTo>
                  <a:cubicBezTo>
                    <a:pt x="4962017" y="7000875"/>
                    <a:pt x="4896231" y="7066788"/>
                    <a:pt x="4814951" y="7066788"/>
                  </a:cubicBezTo>
                  <a:lnTo>
                    <a:pt x="147066" y="7066788"/>
                  </a:lnTo>
                  <a:cubicBezTo>
                    <a:pt x="65786" y="7066661"/>
                    <a:pt x="0" y="7000875"/>
                    <a:pt x="0" y="691972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5E3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042446" y="4075690"/>
            <a:ext cx="3486588" cy="1853108"/>
            <a:chOff x="0" y="0"/>
            <a:chExt cx="4648784" cy="2470810"/>
          </a:xfrm>
        </p:grpSpPr>
        <p:sp>
          <p:nvSpPr>
            <p:cNvPr id="70" name="Freeform 70" descr="/mnt/data/course_pages/rome-2.png"/>
            <p:cNvSpPr/>
            <p:nvPr/>
          </p:nvSpPr>
          <p:spPr>
            <a:xfrm>
              <a:off x="0" y="0"/>
              <a:ext cx="4648835" cy="2470785"/>
            </a:xfrm>
            <a:custGeom>
              <a:avLst/>
              <a:gdLst/>
              <a:ahLst/>
              <a:cxnLst/>
              <a:rect l="l" t="t" r="r" b="b"/>
              <a:pathLst>
                <a:path w="4648835" h="2470785">
                  <a:moveTo>
                    <a:pt x="0" y="0"/>
                  </a:moveTo>
                  <a:lnTo>
                    <a:pt x="4648835" y="0"/>
                  </a:lnTo>
                  <a:lnTo>
                    <a:pt x="4648835" y="2470785"/>
                  </a:lnTo>
                  <a:lnTo>
                    <a:pt x="0" y="24707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2934" r="1" b="-293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087813" y="6056538"/>
            <a:ext cx="732854" cy="732854"/>
            <a:chOff x="0" y="0"/>
            <a:chExt cx="977138" cy="97713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977138" cy="977138"/>
            </a:xfrm>
            <a:custGeom>
              <a:avLst/>
              <a:gdLst/>
              <a:ahLst/>
              <a:cxnLst/>
              <a:rect l="l" t="t" r="r" b="b"/>
              <a:pathLst>
                <a:path w="977138" h="977138">
                  <a:moveTo>
                    <a:pt x="0" y="488569"/>
                  </a:moveTo>
                  <a:cubicBezTo>
                    <a:pt x="0" y="218694"/>
                    <a:pt x="218694" y="0"/>
                    <a:pt x="488569" y="0"/>
                  </a:cubicBezTo>
                  <a:cubicBezTo>
                    <a:pt x="758444" y="0"/>
                    <a:pt x="977138" y="218694"/>
                    <a:pt x="977138" y="488569"/>
                  </a:cubicBezTo>
                  <a:cubicBezTo>
                    <a:pt x="977138" y="758444"/>
                    <a:pt x="758444" y="977138"/>
                    <a:pt x="488569" y="977138"/>
                  </a:cubicBezTo>
                  <a:cubicBezTo>
                    <a:pt x="218694" y="977138"/>
                    <a:pt x="0" y="758444"/>
                    <a:pt x="0" y="488569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4097348" y="6244514"/>
            <a:ext cx="713794" cy="402375"/>
            <a:chOff x="0" y="0"/>
            <a:chExt cx="951725" cy="53650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951720" cy="536485"/>
            </a:xfrm>
            <a:custGeom>
              <a:avLst/>
              <a:gdLst/>
              <a:ahLst/>
              <a:cxnLst/>
              <a:rect l="l" t="t" r="r" b="b"/>
              <a:pathLst>
                <a:path w="951720" h="536485">
                  <a:moveTo>
                    <a:pt x="0" y="0"/>
                  </a:moveTo>
                  <a:lnTo>
                    <a:pt x="951720" y="0"/>
                  </a:lnTo>
                  <a:lnTo>
                    <a:pt x="951720" y="536485"/>
                  </a:lnTo>
                  <a:lnTo>
                    <a:pt x="0" y="536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96" b="449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951725" cy="555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14234622" y="6985759"/>
            <a:ext cx="3129696" cy="480435"/>
            <a:chOff x="0" y="0"/>
            <a:chExt cx="4172928" cy="640580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4172924" cy="640586"/>
            </a:xfrm>
            <a:custGeom>
              <a:avLst/>
              <a:gdLst/>
              <a:ahLst/>
              <a:cxnLst/>
              <a:rect l="l" t="t" r="r" b="b"/>
              <a:pathLst>
                <a:path w="4172924" h="640586">
                  <a:moveTo>
                    <a:pt x="0" y="0"/>
                  </a:moveTo>
                  <a:lnTo>
                    <a:pt x="4172924" y="0"/>
                  </a:lnTo>
                  <a:lnTo>
                    <a:pt x="4172924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931" b="-7692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4172928" cy="6596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9"/>
                </a:lnSpc>
              </a:pPr>
              <a:r>
                <a:rPr lang="en-US" sz="209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and the 6Cs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4234622" y="7919180"/>
            <a:ext cx="3129696" cy="376177"/>
            <a:chOff x="0" y="0"/>
            <a:chExt cx="4172928" cy="501569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4172924" cy="501572"/>
            </a:xfrm>
            <a:custGeom>
              <a:avLst/>
              <a:gdLst/>
              <a:ahLst/>
              <a:cxnLst/>
              <a:rect l="l" t="t" r="r" b="b"/>
              <a:pathLst>
                <a:path w="4172924" h="501572">
                  <a:moveTo>
                    <a:pt x="0" y="0"/>
                  </a:moveTo>
                  <a:lnTo>
                    <a:pt x="4172924" y="0"/>
                  </a:lnTo>
                  <a:lnTo>
                    <a:pt x="4172924" y="501572"/>
                  </a:lnTo>
                  <a:lnTo>
                    <a:pt x="0" y="5015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269" b="-949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0" y="-19050"/>
              <a:ext cx="4172928" cy="52061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85"/>
                </a:lnSpc>
              </a:pPr>
              <a:r>
                <a:rPr lang="en-US" sz="182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Рим, Италия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4234622" y="8399612"/>
            <a:ext cx="3129696" cy="339363"/>
            <a:chOff x="0" y="0"/>
            <a:chExt cx="4172928" cy="452484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4172924" cy="452485"/>
            </a:xfrm>
            <a:custGeom>
              <a:avLst/>
              <a:gdLst/>
              <a:ahLst/>
              <a:cxnLst/>
              <a:rect l="l" t="t" r="r" b="b"/>
              <a:pathLst>
                <a:path w="4172924" h="452485">
                  <a:moveTo>
                    <a:pt x="0" y="0"/>
                  </a:moveTo>
                  <a:lnTo>
                    <a:pt x="4172924" y="0"/>
                  </a:lnTo>
                  <a:lnTo>
                    <a:pt x="4172924" y="452485"/>
                  </a:lnTo>
                  <a:lnTo>
                    <a:pt x="0" y="4524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7337" b="-1120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4172928" cy="4715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05"/>
                </a:lnSpc>
              </a:pPr>
              <a:r>
                <a:rPr lang="en-US" sz="1671">
                  <a:solidFill>
                    <a:srgbClr val="52616B"/>
                  </a:solidFill>
                  <a:latin typeface="Arial"/>
                  <a:ea typeface="Arial"/>
                  <a:cs typeface="Arial"/>
                  <a:sym typeface="Arial"/>
                </a:rPr>
                <a:t>23.03–29.03.2026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90" name="TextBox 90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</a:p>
        </p:txBody>
      </p:sp>
      <p:sp>
        <p:nvSpPr>
          <p:cNvPr id="91" name="Freeform 91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0" y="1954913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5610" y="2142889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КУРС 1 · THE 4Cs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43061" y="2609595"/>
            <a:ext cx="15923000" cy="164725"/>
            <a:chOff x="0" y="0"/>
            <a:chExt cx="21230666" cy="2196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30667" cy="219628"/>
            </a:xfrm>
            <a:custGeom>
              <a:avLst/>
              <a:gdLst/>
              <a:ahLst/>
              <a:cxnLst/>
              <a:rect l="l" t="t" r="r" b="b"/>
              <a:pathLst>
                <a:path w="21230667" h="219628">
                  <a:moveTo>
                    <a:pt x="0" y="0"/>
                  </a:moveTo>
                  <a:lnTo>
                    <a:pt x="21230667" y="0"/>
                  </a:lnTo>
                  <a:lnTo>
                    <a:pt x="2123066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3552" b="-183355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230666" cy="238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E8FF"/>
                  </a:solidFill>
                  <a:latin typeface="Arial"/>
                  <a:ea typeface="Arial"/>
                  <a:cs typeface="Arial"/>
                  <a:sym typeface="Arial"/>
                </a:rPr>
                <a:t>Creativity · Critical Thinking · Communication · Collaboration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43689" y="3110781"/>
            <a:ext cx="8457190" cy="6466808"/>
            <a:chOff x="0" y="0"/>
            <a:chExt cx="11276254" cy="862241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1276330" cy="8622411"/>
            </a:xfrm>
            <a:custGeom>
              <a:avLst/>
              <a:gdLst/>
              <a:ahLst/>
              <a:cxnLst/>
              <a:rect l="l" t="t" r="r" b="b"/>
              <a:pathLst>
                <a:path w="11276330" h="8622411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11129518" y="0"/>
                  </a:lnTo>
                  <a:cubicBezTo>
                    <a:pt x="11210544" y="0"/>
                    <a:pt x="11276330" y="65659"/>
                    <a:pt x="11276330" y="146812"/>
                  </a:cubicBezTo>
                  <a:lnTo>
                    <a:pt x="11276330" y="8475599"/>
                  </a:lnTo>
                  <a:cubicBezTo>
                    <a:pt x="11276330" y="8556625"/>
                    <a:pt x="11210672" y="8622411"/>
                    <a:pt x="11129518" y="8622411"/>
                  </a:cubicBezTo>
                  <a:lnTo>
                    <a:pt x="146812" y="8622411"/>
                  </a:lnTo>
                  <a:cubicBezTo>
                    <a:pt x="65659" y="8622411"/>
                    <a:pt x="0" y="8556752"/>
                    <a:pt x="0" y="847559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80172" y="3200774"/>
            <a:ext cx="9130715" cy="6286843"/>
            <a:chOff x="0" y="0"/>
            <a:chExt cx="12174286" cy="8382457"/>
          </a:xfrm>
        </p:grpSpPr>
        <p:sp>
          <p:nvSpPr>
            <p:cNvPr id="13" name="Freeform 13" descr="/mnt/data/course_pages/nice-02.png"/>
            <p:cNvSpPr/>
            <p:nvPr/>
          </p:nvSpPr>
          <p:spPr>
            <a:xfrm>
              <a:off x="0" y="0"/>
              <a:ext cx="12174299" cy="8382508"/>
            </a:xfrm>
            <a:custGeom>
              <a:avLst/>
              <a:gdLst/>
              <a:ahLst/>
              <a:cxnLst/>
              <a:rect l="l" t="t" r="r" b="b"/>
              <a:pathLst>
                <a:path w="12174299" h="8382508">
                  <a:moveTo>
                    <a:pt x="0" y="0"/>
                  </a:moveTo>
                  <a:lnTo>
                    <a:pt x="12174299" y="0"/>
                  </a:lnTo>
                  <a:lnTo>
                    <a:pt x="12174299" y="8382508"/>
                  </a:lnTo>
                  <a:lnTo>
                    <a:pt x="0" y="83825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227" r="-11227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110946" y="3255676"/>
            <a:ext cx="7137892" cy="1348962"/>
            <a:chOff x="0" y="0"/>
            <a:chExt cx="9517190" cy="179861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517195" cy="1798607"/>
            </a:xfrm>
            <a:custGeom>
              <a:avLst/>
              <a:gdLst/>
              <a:ahLst/>
              <a:cxnLst/>
              <a:rect l="l" t="t" r="r" b="b"/>
              <a:pathLst>
                <a:path w="9517195" h="1798607">
                  <a:moveTo>
                    <a:pt x="0" y="0"/>
                  </a:moveTo>
                  <a:lnTo>
                    <a:pt x="9517195" y="0"/>
                  </a:lnTo>
                  <a:lnTo>
                    <a:pt x="9517195" y="1798607"/>
                  </a:lnTo>
                  <a:lnTo>
                    <a:pt x="0" y="17986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207" b="-2599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9517190" cy="1836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3"/>
                </a:lnSpc>
              </a:pPr>
              <a:r>
                <a:rPr lang="en-US" sz="3752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Четирите „К“ на Лазурния бряг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152132" y="4578821"/>
            <a:ext cx="6726098" cy="1543233"/>
            <a:chOff x="0" y="0"/>
            <a:chExt cx="8968130" cy="205764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968126" cy="2057647"/>
            </a:xfrm>
            <a:custGeom>
              <a:avLst/>
              <a:gdLst/>
              <a:ahLst/>
              <a:cxnLst/>
              <a:rect l="l" t="t" r="r" b="b"/>
              <a:pathLst>
                <a:path w="8968126" h="2057647">
                  <a:moveTo>
                    <a:pt x="0" y="0"/>
                  </a:moveTo>
                  <a:lnTo>
                    <a:pt x="8968126" y="0"/>
                  </a:lnTo>
                  <a:lnTo>
                    <a:pt x="8968126" y="2057647"/>
                  </a:lnTo>
                  <a:lnTo>
                    <a:pt x="0" y="20576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16" b="-1383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968130" cy="20766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30"/>
                </a:lnSpc>
              </a:pPr>
              <a:r>
                <a:rPr lang="en-US" sz="219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Курсът е насочен към развитие на ключови компетентности за XXI век и тяхното практическо прилагане в класната стая.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53236" y="6122054"/>
            <a:ext cx="2901677" cy="595589"/>
            <a:chOff x="0" y="0"/>
            <a:chExt cx="3868903" cy="79411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68928" cy="794131"/>
            </a:xfrm>
            <a:custGeom>
              <a:avLst/>
              <a:gdLst/>
              <a:ahLst/>
              <a:cxnLst/>
              <a:rect l="l" t="t" r="r" b="b"/>
              <a:pathLst>
                <a:path w="3868928" h="794131">
                  <a:moveTo>
                    <a:pt x="0" y="189103"/>
                  </a:moveTo>
                  <a:cubicBezTo>
                    <a:pt x="0" y="84709"/>
                    <a:pt x="84709" y="0"/>
                    <a:pt x="189103" y="0"/>
                  </a:cubicBezTo>
                  <a:lnTo>
                    <a:pt x="3679825" y="0"/>
                  </a:lnTo>
                  <a:cubicBezTo>
                    <a:pt x="3784219" y="0"/>
                    <a:pt x="3868928" y="84709"/>
                    <a:pt x="3868928" y="189103"/>
                  </a:cubicBezTo>
                  <a:lnTo>
                    <a:pt x="3868928" y="605028"/>
                  </a:lnTo>
                  <a:cubicBezTo>
                    <a:pt x="3868928" y="709422"/>
                    <a:pt x="3784219" y="794131"/>
                    <a:pt x="3679825" y="794131"/>
                  </a:cubicBezTo>
                  <a:lnTo>
                    <a:pt x="189103" y="794131"/>
                  </a:lnTo>
                  <a:cubicBezTo>
                    <a:pt x="84709" y="794131"/>
                    <a:pt x="0" y="709422"/>
                    <a:pt x="0" y="605028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427486" y="6275721"/>
            <a:ext cx="2553167" cy="192176"/>
            <a:chOff x="0" y="0"/>
            <a:chExt cx="3404222" cy="25623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404227" cy="256232"/>
            </a:xfrm>
            <a:custGeom>
              <a:avLst/>
              <a:gdLst/>
              <a:ahLst/>
              <a:cxnLst/>
              <a:rect l="l" t="t" r="r" b="b"/>
              <a:pathLst>
                <a:path w="3404227" h="256232">
                  <a:moveTo>
                    <a:pt x="0" y="0"/>
                  </a:moveTo>
                  <a:lnTo>
                    <a:pt x="3404227" y="0"/>
                  </a:lnTo>
                  <a:lnTo>
                    <a:pt x="3404227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871" b="-20887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3404222" cy="2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Ница, Франция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3419918" y="6268853"/>
            <a:ext cx="4118019" cy="192176"/>
            <a:chOff x="0" y="0"/>
            <a:chExt cx="5490693" cy="25623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90690" cy="256232"/>
            </a:xfrm>
            <a:custGeom>
              <a:avLst/>
              <a:gdLst/>
              <a:ahLst/>
              <a:cxnLst/>
              <a:rect l="l" t="t" r="r" b="b"/>
              <a:pathLst>
                <a:path w="5490690" h="256232">
                  <a:moveTo>
                    <a:pt x="0" y="0"/>
                  </a:moveTo>
                  <a:lnTo>
                    <a:pt x="5490690" y="0"/>
                  </a:lnTo>
                  <a:lnTo>
                    <a:pt x="5490690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490693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11.05.2026 – 15.05.2026 г.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262771" y="6955196"/>
            <a:ext cx="7824235" cy="480435"/>
            <a:chOff x="0" y="0"/>
            <a:chExt cx="10432313" cy="64058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0432311" cy="640586"/>
            </a:xfrm>
            <a:custGeom>
              <a:avLst/>
              <a:gdLst/>
              <a:ahLst/>
              <a:cxnLst/>
              <a:rect l="l" t="t" r="r" b="b"/>
              <a:pathLst>
                <a:path w="10432311" h="640586">
                  <a:moveTo>
                    <a:pt x="0" y="0"/>
                  </a:moveTo>
                  <a:lnTo>
                    <a:pt x="10432311" y="0"/>
                  </a:lnTo>
                  <a:lnTo>
                    <a:pt x="10432311" y="640586"/>
                  </a:lnTo>
                  <a:lnTo>
                    <a:pt x="0" y="64058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326" b="-26732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9525"/>
              <a:ext cx="10432313" cy="650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9"/>
                </a:lnSpc>
              </a:pPr>
              <a:r>
                <a:rPr lang="en-US" sz="189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Участници: Йордана Стамберова-Стоянова; Галина Юнакова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0253236" y="8084976"/>
            <a:ext cx="6745157" cy="1281922"/>
            <a:chOff x="0" y="0"/>
            <a:chExt cx="8993543" cy="170923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993505" cy="1709166"/>
            </a:xfrm>
            <a:custGeom>
              <a:avLst/>
              <a:gdLst/>
              <a:ahLst/>
              <a:cxnLst/>
              <a:rect l="l" t="t" r="r" b="b"/>
              <a:pathLst>
                <a:path w="8993505" h="1709166">
                  <a:moveTo>
                    <a:pt x="0" y="148590"/>
                  </a:moveTo>
                  <a:cubicBezTo>
                    <a:pt x="0" y="66548"/>
                    <a:pt x="66548" y="0"/>
                    <a:pt x="148590" y="0"/>
                  </a:cubicBezTo>
                  <a:lnTo>
                    <a:pt x="8844915" y="0"/>
                  </a:lnTo>
                  <a:cubicBezTo>
                    <a:pt x="8926957" y="0"/>
                    <a:pt x="8993505" y="66548"/>
                    <a:pt x="8993505" y="148590"/>
                  </a:cubicBezTo>
                  <a:lnTo>
                    <a:pt x="8993505" y="1560576"/>
                  </a:lnTo>
                  <a:cubicBezTo>
                    <a:pt x="8993505" y="1642618"/>
                    <a:pt x="8926957" y="1709166"/>
                    <a:pt x="8844915" y="1709166"/>
                  </a:cubicBezTo>
                  <a:lnTo>
                    <a:pt x="148590" y="1709166"/>
                  </a:lnTo>
                  <a:cubicBezTo>
                    <a:pt x="66548" y="1709166"/>
                    <a:pt x="0" y="1642618"/>
                    <a:pt x="0" y="1560576"/>
                  </a:cubicBezTo>
                  <a:close/>
                </a:path>
              </a:pathLst>
            </a:custGeom>
            <a:solidFill>
              <a:srgbClr val="EAF7FF"/>
            </a:solidFill>
            <a:ln w="19065" cap="sq">
              <a:solidFill>
                <a:srgbClr val="CFE8FA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564751" y="8369049"/>
            <a:ext cx="1372676" cy="454189"/>
            <a:chOff x="0" y="0"/>
            <a:chExt cx="1830235" cy="60558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830230" cy="605585"/>
            </a:xfrm>
            <a:custGeom>
              <a:avLst/>
              <a:gdLst/>
              <a:ahLst/>
              <a:cxnLst/>
              <a:rect l="l" t="t" r="r" b="b"/>
              <a:pathLst>
                <a:path w="1830230" h="605585">
                  <a:moveTo>
                    <a:pt x="0" y="0"/>
                  </a:moveTo>
                  <a:lnTo>
                    <a:pt x="1830230" y="0"/>
                  </a:lnTo>
                  <a:lnTo>
                    <a:pt x="1830230" y="605585"/>
                  </a:lnTo>
                  <a:lnTo>
                    <a:pt x="0" y="6055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10" b="1693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830235" cy="6246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1"/>
                </a:lnSpc>
              </a:pPr>
              <a:r>
                <a:rPr lang="en-US" sz="220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Фокус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211967" y="8341589"/>
            <a:ext cx="4461186" cy="839379"/>
            <a:chOff x="0" y="0"/>
            <a:chExt cx="5948248" cy="11191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948247" cy="1119163"/>
            </a:xfrm>
            <a:custGeom>
              <a:avLst/>
              <a:gdLst/>
              <a:ahLst/>
              <a:cxnLst/>
              <a:rect l="l" t="t" r="r" b="b"/>
              <a:pathLst>
                <a:path w="5948247" h="1119163">
                  <a:moveTo>
                    <a:pt x="0" y="0"/>
                  </a:moveTo>
                  <a:lnTo>
                    <a:pt x="5948247" y="0"/>
                  </a:lnTo>
                  <a:lnTo>
                    <a:pt x="5948247" y="1119163"/>
                  </a:lnTo>
                  <a:lnTo>
                    <a:pt x="0" y="11191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5572" b="-215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5948248" cy="11286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1"/>
                </a:lnSpc>
              </a:pPr>
              <a:r>
                <a:rPr lang="en-US" sz="21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креативност · критично мислене · комуникация · сътрудничество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</a:p>
        </p:txBody>
      </p:sp>
      <p:sp>
        <p:nvSpPr>
          <p:cNvPr id="45" name="Freeform 45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1854189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2235" y="2042165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НИЦА · ДЕЙНОСТИ И ПРИДОБИТИ УМЕНИЯ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5893" y="3000532"/>
            <a:ext cx="5231406" cy="3035132"/>
            <a:chOff x="0" y="0"/>
            <a:chExt cx="6975208" cy="40468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975222" cy="4046855"/>
            </a:xfrm>
            <a:custGeom>
              <a:avLst/>
              <a:gdLst/>
              <a:ahLst/>
              <a:cxnLst/>
              <a:rect l="l" t="t" r="r" b="b"/>
              <a:pathLst>
                <a:path w="6975222" h="4046855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8028" y="0"/>
                  </a:lnTo>
                  <a:cubicBezTo>
                    <a:pt x="6909308" y="0"/>
                    <a:pt x="6975222" y="65913"/>
                    <a:pt x="6975222" y="147193"/>
                  </a:cubicBezTo>
                  <a:lnTo>
                    <a:pt x="6975222" y="3899662"/>
                  </a:lnTo>
                  <a:cubicBezTo>
                    <a:pt x="6975222" y="3980942"/>
                    <a:pt x="6909308" y="4046855"/>
                    <a:pt x="6828028" y="4046855"/>
                  </a:cubicBezTo>
                  <a:lnTo>
                    <a:pt x="147193" y="4046855"/>
                  </a:lnTo>
                  <a:cubicBezTo>
                    <a:pt x="65913" y="4046855"/>
                    <a:pt x="0" y="3980942"/>
                    <a:pt x="0" y="389966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65886" y="3090524"/>
            <a:ext cx="5051431" cy="2855157"/>
            <a:chOff x="0" y="0"/>
            <a:chExt cx="6735242" cy="3806876"/>
          </a:xfrm>
        </p:grpSpPr>
        <p:sp>
          <p:nvSpPr>
            <p:cNvPr id="10" name="Freeform 10" descr="/mnt/data/course_pages/nice-03.png"/>
            <p:cNvSpPr/>
            <p:nvPr/>
          </p:nvSpPr>
          <p:spPr>
            <a:xfrm>
              <a:off x="0" y="0"/>
              <a:ext cx="6735191" cy="3806825"/>
            </a:xfrm>
            <a:custGeom>
              <a:avLst/>
              <a:gdLst/>
              <a:ahLst/>
              <a:cxnLst/>
              <a:rect l="l" t="t" r="r" b="b"/>
              <a:pathLst>
                <a:path w="6735191" h="3806825">
                  <a:moveTo>
                    <a:pt x="0" y="0"/>
                  </a:moveTo>
                  <a:lnTo>
                    <a:pt x="6735191" y="0"/>
                  </a:lnTo>
                  <a:lnTo>
                    <a:pt x="6735191" y="3806825"/>
                  </a:lnTo>
                  <a:lnTo>
                    <a:pt x="0" y="3806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61" r="-262" b="-2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35217" y="3000532"/>
            <a:ext cx="5231406" cy="3035132"/>
            <a:chOff x="0" y="0"/>
            <a:chExt cx="6975208" cy="404684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75222" cy="4046855"/>
            </a:xfrm>
            <a:custGeom>
              <a:avLst/>
              <a:gdLst/>
              <a:ahLst/>
              <a:cxnLst/>
              <a:rect l="l" t="t" r="r" b="b"/>
              <a:pathLst>
                <a:path w="6975222" h="4046855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8028" y="0"/>
                  </a:lnTo>
                  <a:cubicBezTo>
                    <a:pt x="6909308" y="0"/>
                    <a:pt x="6975222" y="65913"/>
                    <a:pt x="6975222" y="147193"/>
                  </a:cubicBezTo>
                  <a:lnTo>
                    <a:pt x="6975222" y="3899662"/>
                  </a:lnTo>
                  <a:cubicBezTo>
                    <a:pt x="6975222" y="3980942"/>
                    <a:pt x="6909308" y="4046855"/>
                    <a:pt x="6828028" y="4046855"/>
                  </a:cubicBezTo>
                  <a:lnTo>
                    <a:pt x="147193" y="4046855"/>
                  </a:lnTo>
                  <a:cubicBezTo>
                    <a:pt x="65913" y="4046855"/>
                    <a:pt x="0" y="3980942"/>
                    <a:pt x="0" y="389966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625209" y="3090524"/>
            <a:ext cx="5051431" cy="2855157"/>
            <a:chOff x="0" y="0"/>
            <a:chExt cx="6735242" cy="3806876"/>
          </a:xfrm>
        </p:grpSpPr>
        <p:sp>
          <p:nvSpPr>
            <p:cNvPr id="14" name="Freeform 14" descr="/mnt/data/course_pages/nice-06.png"/>
            <p:cNvSpPr/>
            <p:nvPr/>
          </p:nvSpPr>
          <p:spPr>
            <a:xfrm>
              <a:off x="0" y="0"/>
              <a:ext cx="6735191" cy="3806825"/>
            </a:xfrm>
            <a:custGeom>
              <a:avLst/>
              <a:gdLst/>
              <a:ahLst/>
              <a:cxnLst/>
              <a:rect l="l" t="t" r="r" b="b"/>
              <a:pathLst>
                <a:path w="6735191" h="3806825">
                  <a:moveTo>
                    <a:pt x="0" y="0"/>
                  </a:moveTo>
                  <a:lnTo>
                    <a:pt x="6735191" y="0"/>
                  </a:lnTo>
                  <a:lnTo>
                    <a:pt x="6735191" y="3806825"/>
                  </a:lnTo>
                  <a:lnTo>
                    <a:pt x="0" y="3806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61" r="-262" b="-2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094540" y="3000532"/>
            <a:ext cx="5231406" cy="3035132"/>
            <a:chOff x="0" y="0"/>
            <a:chExt cx="6975208" cy="404684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975222" cy="4046855"/>
            </a:xfrm>
            <a:custGeom>
              <a:avLst/>
              <a:gdLst/>
              <a:ahLst/>
              <a:cxnLst/>
              <a:rect l="l" t="t" r="r" b="b"/>
              <a:pathLst>
                <a:path w="6975222" h="4046855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28028" y="0"/>
                  </a:lnTo>
                  <a:cubicBezTo>
                    <a:pt x="6909308" y="0"/>
                    <a:pt x="6975222" y="65913"/>
                    <a:pt x="6975222" y="147193"/>
                  </a:cubicBezTo>
                  <a:lnTo>
                    <a:pt x="6975222" y="3899662"/>
                  </a:lnTo>
                  <a:cubicBezTo>
                    <a:pt x="6975222" y="3980942"/>
                    <a:pt x="6909308" y="4046855"/>
                    <a:pt x="6828028" y="4046855"/>
                  </a:cubicBezTo>
                  <a:lnTo>
                    <a:pt x="147193" y="4046855"/>
                  </a:lnTo>
                  <a:cubicBezTo>
                    <a:pt x="65913" y="4046855"/>
                    <a:pt x="0" y="3980942"/>
                    <a:pt x="0" y="389966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84532" y="3090524"/>
            <a:ext cx="5051431" cy="2855157"/>
            <a:chOff x="0" y="0"/>
            <a:chExt cx="6735242" cy="3806876"/>
          </a:xfrm>
        </p:grpSpPr>
        <p:sp>
          <p:nvSpPr>
            <p:cNvPr id="18" name="Freeform 18" descr="/mnt/data/course_pages/nice-07.png"/>
            <p:cNvSpPr/>
            <p:nvPr/>
          </p:nvSpPr>
          <p:spPr>
            <a:xfrm>
              <a:off x="0" y="0"/>
              <a:ext cx="6735191" cy="3806825"/>
            </a:xfrm>
            <a:custGeom>
              <a:avLst/>
              <a:gdLst/>
              <a:ahLst/>
              <a:cxnLst/>
              <a:rect l="l" t="t" r="r" b="b"/>
              <a:pathLst>
                <a:path w="6735191" h="3806825">
                  <a:moveTo>
                    <a:pt x="0" y="0"/>
                  </a:moveTo>
                  <a:lnTo>
                    <a:pt x="6735191" y="0"/>
                  </a:lnTo>
                  <a:lnTo>
                    <a:pt x="6735191" y="3806825"/>
                  </a:lnTo>
                  <a:lnTo>
                    <a:pt x="0" y="3806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61" r="-262" b="-2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2697" y="6140439"/>
            <a:ext cx="183785" cy="595589"/>
            <a:chOff x="0" y="0"/>
            <a:chExt cx="245047" cy="7941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5110" cy="794131"/>
            </a:xfrm>
            <a:custGeom>
              <a:avLst/>
              <a:gdLst/>
              <a:ahLst/>
              <a:cxnLst/>
              <a:rect l="l" t="t" r="r" b="b"/>
              <a:pathLst>
                <a:path w="245110" h="794131">
                  <a:moveTo>
                    <a:pt x="0" y="0"/>
                  </a:moveTo>
                  <a:lnTo>
                    <a:pt x="245110" y="0"/>
                  </a:lnTo>
                  <a:lnTo>
                    <a:pt x="245110" y="794131"/>
                  </a:lnTo>
                  <a:lnTo>
                    <a:pt x="0" y="794131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44222" y="6218601"/>
            <a:ext cx="5216157" cy="247079"/>
            <a:chOff x="0" y="0"/>
            <a:chExt cx="6954876" cy="3294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6954873" cy="329441"/>
            </a:xfrm>
            <a:custGeom>
              <a:avLst/>
              <a:gdLst/>
              <a:ahLst/>
              <a:cxnLst/>
              <a:rect l="l" t="t" r="r" b="b"/>
              <a:pathLst>
                <a:path w="6954873" h="329441">
                  <a:moveTo>
                    <a:pt x="0" y="0"/>
                  </a:moveTo>
                  <a:lnTo>
                    <a:pt x="6954873" y="0"/>
                  </a:lnTo>
                  <a:lnTo>
                    <a:pt x="695487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351" b="-3613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6954876" cy="338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Основни дейности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01334" y="6730684"/>
            <a:ext cx="705402" cy="485775"/>
            <a:chOff x="0" y="0"/>
            <a:chExt cx="940537" cy="6477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10869" y="6836307"/>
            <a:ext cx="686333" cy="429664"/>
            <a:chOff x="0" y="0"/>
            <a:chExt cx="915111" cy="57288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381545" y="6767670"/>
            <a:ext cx="14687598" cy="411804"/>
            <a:chOff x="0" y="0"/>
            <a:chExt cx="19583464" cy="54907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9583460" cy="549069"/>
            </a:xfrm>
            <a:custGeom>
              <a:avLst/>
              <a:gdLst/>
              <a:ahLst/>
              <a:cxnLst/>
              <a:rect l="l" t="t" r="r" b="b"/>
              <a:pathLst>
                <a:path w="19583460" h="549069">
                  <a:moveTo>
                    <a:pt x="0" y="0"/>
                  </a:moveTo>
                  <a:lnTo>
                    <a:pt x="19583460" y="0"/>
                  </a:lnTo>
                  <a:lnTo>
                    <a:pt x="1958346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4966" b="-64496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19583464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активности за опознаване чрез нестандартни задачи и работа в екип;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01334" y="7499380"/>
            <a:ext cx="705402" cy="448789"/>
            <a:chOff x="0" y="0"/>
            <a:chExt cx="940537" cy="59838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40562" cy="598386"/>
            </a:xfrm>
            <a:custGeom>
              <a:avLst/>
              <a:gdLst/>
              <a:ahLst/>
              <a:cxnLst/>
              <a:rect l="l" t="t" r="r" b="b"/>
              <a:pathLst>
                <a:path w="940562" h="598386">
                  <a:moveTo>
                    <a:pt x="0" y="140797"/>
                  </a:moveTo>
                  <a:cubicBezTo>
                    <a:pt x="0" y="63007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3007"/>
                    <a:pt x="940562" y="140797"/>
                  </a:cubicBezTo>
                  <a:lnTo>
                    <a:pt x="940562" y="457589"/>
                  </a:lnTo>
                  <a:cubicBezTo>
                    <a:pt x="940562" y="535379"/>
                    <a:pt x="872363" y="598386"/>
                    <a:pt x="788162" y="598386"/>
                  </a:cubicBezTo>
                  <a:lnTo>
                    <a:pt x="152400" y="598386"/>
                  </a:lnTo>
                  <a:cubicBezTo>
                    <a:pt x="68199" y="598386"/>
                    <a:pt x="0" y="535379"/>
                    <a:pt x="0" y="457589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10869" y="7605003"/>
            <a:ext cx="686333" cy="429664"/>
            <a:chOff x="0" y="0"/>
            <a:chExt cx="915111" cy="572885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381545" y="7536366"/>
            <a:ext cx="14687598" cy="411804"/>
            <a:chOff x="0" y="0"/>
            <a:chExt cx="19583464" cy="54907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9583460" cy="549069"/>
            </a:xfrm>
            <a:custGeom>
              <a:avLst/>
              <a:gdLst/>
              <a:ahLst/>
              <a:cxnLst/>
              <a:rect l="l" t="t" r="r" b="b"/>
              <a:pathLst>
                <a:path w="19583460" h="549069">
                  <a:moveTo>
                    <a:pt x="0" y="0"/>
                  </a:moveTo>
                  <a:lnTo>
                    <a:pt x="19583460" y="0"/>
                  </a:lnTo>
                  <a:lnTo>
                    <a:pt x="1958346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4966" b="-64496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19583464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практически упражнения за комуникация, сътрудничество и изграждане на доверие;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01334" y="8268076"/>
            <a:ext cx="705402" cy="485775"/>
            <a:chOff x="0" y="0"/>
            <a:chExt cx="940537" cy="64770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10869" y="8373699"/>
            <a:ext cx="686333" cy="429664"/>
            <a:chOff x="0" y="0"/>
            <a:chExt cx="915111" cy="572885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381545" y="8305062"/>
            <a:ext cx="14687598" cy="411804"/>
            <a:chOff x="0" y="0"/>
            <a:chExt cx="19583464" cy="54907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583460" cy="549069"/>
            </a:xfrm>
            <a:custGeom>
              <a:avLst/>
              <a:gdLst/>
              <a:ahLst/>
              <a:cxnLst/>
              <a:rect l="l" t="t" r="r" b="b"/>
              <a:pathLst>
                <a:path w="19583460" h="549069">
                  <a:moveTo>
                    <a:pt x="0" y="0"/>
                  </a:moveTo>
                  <a:lnTo>
                    <a:pt x="19583460" y="0"/>
                  </a:lnTo>
                  <a:lnTo>
                    <a:pt x="1958346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4966" b="-64496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9583464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разработване на идеи за „мечтано училище“ и представяне пред групата;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301334" y="9036772"/>
            <a:ext cx="705402" cy="485775"/>
            <a:chOff x="0" y="0"/>
            <a:chExt cx="940537" cy="6477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310869" y="9142395"/>
            <a:ext cx="686333" cy="429664"/>
            <a:chOff x="0" y="0"/>
            <a:chExt cx="915111" cy="572885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2381545" y="9073758"/>
            <a:ext cx="14687598" cy="411804"/>
            <a:chOff x="0" y="0"/>
            <a:chExt cx="19583464" cy="54907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9583460" cy="549069"/>
            </a:xfrm>
            <a:custGeom>
              <a:avLst/>
              <a:gdLst/>
              <a:ahLst/>
              <a:cxnLst/>
              <a:rect l="l" t="t" r="r" b="b"/>
              <a:pathLst>
                <a:path w="19583460" h="549069">
                  <a:moveTo>
                    <a:pt x="0" y="0"/>
                  </a:moveTo>
                  <a:lnTo>
                    <a:pt x="19583460" y="0"/>
                  </a:lnTo>
                  <a:lnTo>
                    <a:pt x="1958346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4966" b="-64496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19583464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обсъждане на начини за въвеждане на 4К компетентностите в учебния процес.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</a:p>
        </p:txBody>
      </p:sp>
      <p:sp>
        <p:nvSpPr>
          <p:cNvPr id="62" name="Freeform 62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41146" y="2221196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60624" y="2409172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НИЦА · ПРИЛОЖЕНИЕ В УЧИЛИЩНАТА ПРАКТИКА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11584" y="3426799"/>
            <a:ext cx="16197539" cy="480431"/>
            <a:chOff x="0" y="0"/>
            <a:chExt cx="21596718" cy="6405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596713" cy="640580"/>
            </a:xfrm>
            <a:custGeom>
              <a:avLst/>
              <a:gdLst/>
              <a:ahLst/>
              <a:cxnLst/>
              <a:rect l="l" t="t" r="r" b="b"/>
              <a:pathLst>
                <a:path w="21596713" h="640580">
                  <a:moveTo>
                    <a:pt x="0" y="0"/>
                  </a:moveTo>
                  <a:lnTo>
                    <a:pt x="21596713" y="0"/>
                  </a:lnTo>
                  <a:lnTo>
                    <a:pt x="21596713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06924" b="-60692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21596718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92"/>
                </a:lnSpc>
              </a:pPr>
              <a:r>
                <a:rPr lang="en-US" sz="23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Придобитите умения могат да се използват за по-активна, комуникативна и сътрудничеща учебна среда.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2235" y="4412056"/>
            <a:ext cx="7500128" cy="1597638"/>
            <a:chOff x="0" y="0"/>
            <a:chExt cx="10000170" cy="21301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000234" cy="2130171"/>
            </a:xfrm>
            <a:custGeom>
              <a:avLst/>
              <a:gdLst/>
              <a:ahLst/>
              <a:cxnLst/>
              <a:rect l="l" t="t" r="r" b="b"/>
              <a:pathLst>
                <a:path w="10000234" h="2130171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9852025" y="0"/>
                  </a:lnTo>
                  <a:cubicBezTo>
                    <a:pt x="9933813" y="0"/>
                    <a:pt x="10000234" y="66294"/>
                    <a:pt x="10000234" y="148209"/>
                  </a:cubicBezTo>
                  <a:lnTo>
                    <a:pt x="10000234" y="1981962"/>
                  </a:lnTo>
                  <a:cubicBezTo>
                    <a:pt x="10000234" y="2063750"/>
                    <a:pt x="9933940" y="2130171"/>
                    <a:pt x="9852025" y="2130171"/>
                  </a:cubicBezTo>
                  <a:lnTo>
                    <a:pt x="148209" y="2130171"/>
                  </a:lnTo>
                  <a:cubicBezTo>
                    <a:pt x="66294" y="2130171"/>
                    <a:pt x="0" y="2063877"/>
                    <a:pt x="0" y="19819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92235" y="4412056"/>
            <a:ext cx="238696" cy="1597638"/>
            <a:chOff x="0" y="0"/>
            <a:chExt cx="318262" cy="21301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18262" cy="2130171"/>
            </a:xfrm>
            <a:custGeom>
              <a:avLst/>
              <a:gdLst/>
              <a:ahLst/>
              <a:cxnLst/>
              <a:rect l="l" t="t" r="r" b="b"/>
              <a:pathLst>
                <a:path w="318262" h="2130171">
                  <a:moveTo>
                    <a:pt x="0" y="0"/>
                  </a:moveTo>
                  <a:lnTo>
                    <a:pt x="318262" y="0"/>
                  </a:lnTo>
                  <a:lnTo>
                    <a:pt x="318262" y="2130171"/>
                  </a:lnTo>
                  <a:lnTo>
                    <a:pt x="0" y="2130171"/>
                  </a:ln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2201" y="4668669"/>
            <a:ext cx="6451559" cy="506028"/>
            <a:chOff x="0" y="0"/>
            <a:chExt cx="8602078" cy="6747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02080" cy="674700"/>
            </a:xfrm>
            <a:custGeom>
              <a:avLst/>
              <a:gdLst/>
              <a:ahLst/>
              <a:cxnLst/>
              <a:rect l="l" t="t" r="r" b="b"/>
              <a:pathLst>
                <a:path w="8602080" h="674700">
                  <a:moveTo>
                    <a:pt x="0" y="0"/>
                  </a:moveTo>
                  <a:lnTo>
                    <a:pt x="8602080" y="0"/>
                  </a:lnTo>
                  <a:lnTo>
                    <a:pt x="8602080" y="674700"/>
                  </a:lnTo>
                  <a:lnTo>
                    <a:pt x="0" y="6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8584" b="-1782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8602078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42"/>
                </a:lnSpc>
              </a:pPr>
              <a:r>
                <a:rPr lang="en-US" sz="2451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Креативност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82201" y="5217737"/>
            <a:ext cx="6451559" cy="677219"/>
            <a:chOff x="0" y="0"/>
            <a:chExt cx="8602078" cy="90295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602080" cy="902947"/>
            </a:xfrm>
            <a:custGeom>
              <a:avLst/>
              <a:gdLst/>
              <a:ahLst/>
              <a:cxnLst/>
              <a:rect l="l" t="t" r="r" b="b"/>
              <a:pathLst>
                <a:path w="8602080" h="902947">
                  <a:moveTo>
                    <a:pt x="0" y="0"/>
                  </a:moveTo>
                  <a:lnTo>
                    <a:pt x="8602080" y="0"/>
                  </a:lnTo>
                  <a:lnTo>
                    <a:pt x="8602080" y="902947"/>
                  </a:lnTo>
                  <a:lnTo>
                    <a:pt x="0" y="9029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249" b="-11400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602078" cy="922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задачи с отворен край, визуално мислене и генериране на идеи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28265" y="4412056"/>
            <a:ext cx="7500128" cy="1597638"/>
            <a:chOff x="0" y="0"/>
            <a:chExt cx="10000170" cy="21301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00234" cy="2130171"/>
            </a:xfrm>
            <a:custGeom>
              <a:avLst/>
              <a:gdLst/>
              <a:ahLst/>
              <a:cxnLst/>
              <a:rect l="l" t="t" r="r" b="b"/>
              <a:pathLst>
                <a:path w="10000234" h="2130171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9852025" y="0"/>
                  </a:lnTo>
                  <a:cubicBezTo>
                    <a:pt x="9933813" y="0"/>
                    <a:pt x="10000234" y="66294"/>
                    <a:pt x="10000234" y="148209"/>
                  </a:cubicBezTo>
                  <a:lnTo>
                    <a:pt x="10000234" y="1981962"/>
                  </a:lnTo>
                  <a:cubicBezTo>
                    <a:pt x="10000234" y="2063750"/>
                    <a:pt x="9933940" y="2130171"/>
                    <a:pt x="9852025" y="2130171"/>
                  </a:cubicBezTo>
                  <a:lnTo>
                    <a:pt x="148209" y="2130171"/>
                  </a:lnTo>
                  <a:cubicBezTo>
                    <a:pt x="66294" y="2130171"/>
                    <a:pt x="0" y="2063877"/>
                    <a:pt x="0" y="19819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128265" y="4412056"/>
            <a:ext cx="238696" cy="1597638"/>
            <a:chOff x="0" y="0"/>
            <a:chExt cx="318262" cy="21301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18262" cy="2130171"/>
            </a:xfrm>
            <a:custGeom>
              <a:avLst/>
              <a:gdLst/>
              <a:ahLst/>
              <a:cxnLst/>
              <a:rect l="l" t="t" r="r" b="b"/>
              <a:pathLst>
                <a:path w="318262" h="2130171">
                  <a:moveTo>
                    <a:pt x="0" y="0"/>
                  </a:moveTo>
                  <a:lnTo>
                    <a:pt x="318262" y="0"/>
                  </a:lnTo>
                  <a:lnTo>
                    <a:pt x="318262" y="2130171"/>
                  </a:lnTo>
                  <a:lnTo>
                    <a:pt x="0" y="213017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618231" y="4668669"/>
            <a:ext cx="6451559" cy="506028"/>
            <a:chOff x="0" y="0"/>
            <a:chExt cx="8602078" cy="6747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602080" cy="674700"/>
            </a:xfrm>
            <a:custGeom>
              <a:avLst/>
              <a:gdLst/>
              <a:ahLst/>
              <a:cxnLst/>
              <a:rect l="l" t="t" r="r" b="b"/>
              <a:pathLst>
                <a:path w="8602080" h="674700">
                  <a:moveTo>
                    <a:pt x="0" y="0"/>
                  </a:moveTo>
                  <a:lnTo>
                    <a:pt x="8602080" y="0"/>
                  </a:lnTo>
                  <a:lnTo>
                    <a:pt x="8602080" y="674700"/>
                  </a:lnTo>
                  <a:lnTo>
                    <a:pt x="0" y="6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8584" b="-1782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8602078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42"/>
                </a:lnSpc>
              </a:pPr>
              <a:r>
                <a:rPr lang="en-US" sz="24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Критично мислене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618231" y="5217737"/>
            <a:ext cx="6451559" cy="677219"/>
            <a:chOff x="0" y="0"/>
            <a:chExt cx="8602078" cy="90295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602080" cy="902947"/>
            </a:xfrm>
            <a:custGeom>
              <a:avLst/>
              <a:gdLst/>
              <a:ahLst/>
              <a:cxnLst/>
              <a:rect l="l" t="t" r="r" b="b"/>
              <a:pathLst>
                <a:path w="8602080" h="902947">
                  <a:moveTo>
                    <a:pt x="0" y="0"/>
                  </a:moveTo>
                  <a:lnTo>
                    <a:pt x="8602080" y="0"/>
                  </a:lnTo>
                  <a:lnTo>
                    <a:pt x="8602080" y="902947"/>
                  </a:lnTo>
                  <a:lnTo>
                    <a:pt x="0" y="9029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249" b="-11400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8602078" cy="922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анализ, аргументиране, сравняване и оценка на решения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92235" y="6745605"/>
            <a:ext cx="7500128" cy="1597638"/>
            <a:chOff x="0" y="0"/>
            <a:chExt cx="10000170" cy="213018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000234" cy="2130171"/>
            </a:xfrm>
            <a:custGeom>
              <a:avLst/>
              <a:gdLst/>
              <a:ahLst/>
              <a:cxnLst/>
              <a:rect l="l" t="t" r="r" b="b"/>
              <a:pathLst>
                <a:path w="10000234" h="2130171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9852025" y="0"/>
                  </a:lnTo>
                  <a:cubicBezTo>
                    <a:pt x="9933813" y="0"/>
                    <a:pt x="10000234" y="66294"/>
                    <a:pt x="10000234" y="148209"/>
                  </a:cubicBezTo>
                  <a:lnTo>
                    <a:pt x="10000234" y="1981962"/>
                  </a:lnTo>
                  <a:cubicBezTo>
                    <a:pt x="10000234" y="2063750"/>
                    <a:pt x="9933940" y="2130171"/>
                    <a:pt x="9852025" y="2130171"/>
                  </a:cubicBezTo>
                  <a:lnTo>
                    <a:pt x="148209" y="2130171"/>
                  </a:lnTo>
                  <a:cubicBezTo>
                    <a:pt x="66294" y="2130171"/>
                    <a:pt x="0" y="2063877"/>
                    <a:pt x="0" y="19819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92235" y="6745605"/>
            <a:ext cx="238696" cy="1597638"/>
            <a:chOff x="0" y="0"/>
            <a:chExt cx="318262" cy="213018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318262" cy="2130171"/>
            </a:xfrm>
            <a:custGeom>
              <a:avLst/>
              <a:gdLst/>
              <a:ahLst/>
              <a:cxnLst/>
              <a:rect l="l" t="t" r="r" b="b"/>
              <a:pathLst>
                <a:path w="318262" h="2130171">
                  <a:moveTo>
                    <a:pt x="0" y="0"/>
                  </a:moveTo>
                  <a:lnTo>
                    <a:pt x="318262" y="0"/>
                  </a:lnTo>
                  <a:lnTo>
                    <a:pt x="318262" y="2130171"/>
                  </a:lnTo>
                  <a:lnTo>
                    <a:pt x="0" y="213017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2201" y="7002218"/>
            <a:ext cx="6451559" cy="506028"/>
            <a:chOff x="0" y="0"/>
            <a:chExt cx="8602078" cy="6747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602080" cy="674700"/>
            </a:xfrm>
            <a:custGeom>
              <a:avLst/>
              <a:gdLst/>
              <a:ahLst/>
              <a:cxnLst/>
              <a:rect l="l" t="t" r="r" b="b"/>
              <a:pathLst>
                <a:path w="8602080" h="674700">
                  <a:moveTo>
                    <a:pt x="0" y="0"/>
                  </a:moveTo>
                  <a:lnTo>
                    <a:pt x="8602080" y="0"/>
                  </a:lnTo>
                  <a:lnTo>
                    <a:pt x="8602080" y="674700"/>
                  </a:lnTo>
                  <a:lnTo>
                    <a:pt x="0" y="6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8584" b="-1782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8602078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42"/>
                </a:lnSpc>
              </a:pPr>
              <a:r>
                <a:rPr lang="en-US" sz="245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Комуникация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382201" y="7551286"/>
            <a:ext cx="6451559" cy="677219"/>
            <a:chOff x="0" y="0"/>
            <a:chExt cx="8602078" cy="90295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602080" cy="902947"/>
            </a:xfrm>
            <a:custGeom>
              <a:avLst/>
              <a:gdLst/>
              <a:ahLst/>
              <a:cxnLst/>
              <a:rect l="l" t="t" r="r" b="b"/>
              <a:pathLst>
                <a:path w="8602080" h="902947">
                  <a:moveTo>
                    <a:pt x="0" y="0"/>
                  </a:moveTo>
                  <a:lnTo>
                    <a:pt x="8602080" y="0"/>
                  </a:lnTo>
                  <a:lnTo>
                    <a:pt x="8602080" y="902947"/>
                  </a:lnTo>
                  <a:lnTo>
                    <a:pt x="0" y="9029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249" b="-11400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8602078" cy="922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представяне, слушане, задаване на въпроси и обратна връзка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128265" y="6745605"/>
            <a:ext cx="7500128" cy="1597638"/>
            <a:chOff x="0" y="0"/>
            <a:chExt cx="10000170" cy="2130184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000234" cy="2130171"/>
            </a:xfrm>
            <a:custGeom>
              <a:avLst/>
              <a:gdLst/>
              <a:ahLst/>
              <a:cxnLst/>
              <a:rect l="l" t="t" r="r" b="b"/>
              <a:pathLst>
                <a:path w="10000234" h="2130171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9852025" y="0"/>
                  </a:lnTo>
                  <a:cubicBezTo>
                    <a:pt x="9933813" y="0"/>
                    <a:pt x="10000234" y="66294"/>
                    <a:pt x="10000234" y="148209"/>
                  </a:cubicBezTo>
                  <a:lnTo>
                    <a:pt x="10000234" y="1981962"/>
                  </a:lnTo>
                  <a:cubicBezTo>
                    <a:pt x="10000234" y="2063750"/>
                    <a:pt x="9933940" y="2130171"/>
                    <a:pt x="9852025" y="2130171"/>
                  </a:cubicBezTo>
                  <a:lnTo>
                    <a:pt x="148209" y="2130171"/>
                  </a:lnTo>
                  <a:cubicBezTo>
                    <a:pt x="66294" y="2130171"/>
                    <a:pt x="0" y="2063877"/>
                    <a:pt x="0" y="1981962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128265" y="6745605"/>
            <a:ext cx="238696" cy="1597638"/>
            <a:chOff x="0" y="0"/>
            <a:chExt cx="318262" cy="213018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318262" cy="2130171"/>
            </a:xfrm>
            <a:custGeom>
              <a:avLst/>
              <a:gdLst/>
              <a:ahLst/>
              <a:cxnLst/>
              <a:rect l="l" t="t" r="r" b="b"/>
              <a:pathLst>
                <a:path w="318262" h="2130171">
                  <a:moveTo>
                    <a:pt x="0" y="0"/>
                  </a:moveTo>
                  <a:lnTo>
                    <a:pt x="318262" y="0"/>
                  </a:lnTo>
                  <a:lnTo>
                    <a:pt x="318262" y="2130171"/>
                  </a:lnTo>
                  <a:lnTo>
                    <a:pt x="0" y="213017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618231" y="7002218"/>
            <a:ext cx="6451559" cy="506028"/>
            <a:chOff x="0" y="0"/>
            <a:chExt cx="8602078" cy="6747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602080" cy="674700"/>
            </a:xfrm>
            <a:custGeom>
              <a:avLst/>
              <a:gdLst/>
              <a:ahLst/>
              <a:cxnLst/>
              <a:rect l="l" t="t" r="r" b="b"/>
              <a:pathLst>
                <a:path w="8602080" h="674700">
                  <a:moveTo>
                    <a:pt x="0" y="0"/>
                  </a:moveTo>
                  <a:lnTo>
                    <a:pt x="8602080" y="0"/>
                  </a:lnTo>
                  <a:lnTo>
                    <a:pt x="8602080" y="674700"/>
                  </a:lnTo>
                  <a:lnTo>
                    <a:pt x="0" y="6747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8584" b="-17826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8602078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42"/>
                </a:lnSpc>
              </a:pPr>
              <a:r>
                <a:rPr lang="en-US" sz="24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Сътрудничество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9618231" y="7551286"/>
            <a:ext cx="6451559" cy="677219"/>
            <a:chOff x="0" y="0"/>
            <a:chExt cx="8602078" cy="90295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8602080" cy="902947"/>
            </a:xfrm>
            <a:custGeom>
              <a:avLst/>
              <a:gdLst/>
              <a:ahLst/>
              <a:cxnLst/>
              <a:rect l="l" t="t" r="r" b="b"/>
              <a:pathLst>
                <a:path w="8602080" h="902947">
                  <a:moveTo>
                    <a:pt x="0" y="0"/>
                  </a:moveTo>
                  <a:lnTo>
                    <a:pt x="8602080" y="0"/>
                  </a:lnTo>
                  <a:lnTo>
                    <a:pt x="8602080" y="902947"/>
                  </a:lnTo>
                  <a:lnTo>
                    <a:pt x="0" y="90294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7249" b="-11400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8602078" cy="9220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екипни роли, общи продукти и групово решаване на проблеми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637671" y="8850449"/>
            <a:ext cx="14981196" cy="774030"/>
            <a:chOff x="0" y="0"/>
            <a:chExt cx="19974928" cy="10320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9974940" cy="1032002"/>
            </a:xfrm>
            <a:custGeom>
              <a:avLst/>
              <a:gdLst/>
              <a:ahLst/>
              <a:cxnLst/>
              <a:rect l="l" t="t" r="r" b="b"/>
              <a:pathLst>
                <a:path w="19974940" h="1032002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19824827" y="0"/>
                  </a:lnTo>
                  <a:cubicBezTo>
                    <a:pt x="19907758" y="0"/>
                    <a:pt x="19974940" y="67183"/>
                    <a:pt x="19974940" y="150114"/>
                  </a:cubicBezTo>
                  <a:lnTo>
                    <a:pt x="19974940" y="881888"/>
                  </a:lnTo>
                  <a:cubicBezTo>
                    <a:pt x="19974940" y="964819"/>
                    <a:pt x="19907758" y="1032002"/>
                    <a:pt x="19824827" y="1032002"/>
                  </a:cubicBezTo>
                  <a:lnTo>
                    <a:pt x="150114" y="1032002"/>
                  </a:lnTo>
                  <a:cubicBezTo>
                    <a:pt x="67183" y="1032002"/>
                    <a:pt x="0" y="964819"/>
                    <a:pt x="0" y="881888"/>
                  </a:cubicBezTo>
                  <a:close/>
                </a:path>
              </a:pathLst>
            </a:custGeom>
            <a:solidFill>
              <a:srgbClr val="F6FA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853108" y="9093337"/>
            <a:ext cx="14550323" cy="404023"/>
            <a:chOff x="0" y="0"/>
            <a:chExt cx="19400431" cy="538697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9400436" cy="538687"/>
            </a:xfrm>
            <a:custGeom>
              <a:avLst/>
              <a:gdLst/>
              <a:ahLst/>
              <a:cxnLst/>
              <a:rect l="l" t="t" r="r" b="b"/>
              <a:pathLst>
                <a:path w="19400436" h="538687">
                  <a:moveTo>
                    <a:pt x="0" y="0"/>
                  </a:moveTo>
                  <a:lnTo>
                    <a:pt x="19400436" y="0"/>
                  </a:lnTo>
                  <a:lnTo>
                    <a:pt x="19400436" y="538687"/>
                  </a:lnTo>
                  <a:lnTo>
                    <a:pt x="0" y="5386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9655" b="-62382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9400431" cy="5577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7"/>
                </a:lnSpc>
              </a:pPr>
              <a:r>
                <a:rPr lang="en-US" sz="198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Очакван ефект: по-висока ангажираност на учениците и по-активно участие в учебния процес.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</a:p>
        </p:txBody>
      </p:sp>
      <p:sp>
        <p:nvSpPr>
          <p:cNvPr id="61" name="Freeform 61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915416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9221" y="2570097"/>
            <a:ext cx="15923000" cy="164725"/>
            <a:chOff x="0" y="0"/>
            <a:chExt cx="21230666" cy="2196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30667" cy="219628"/>
            </a:xfrm>
            <a:custGeom>
              <a:avLst/>
              <a:gdLst/>
              <a:ahLst/>
              <a:cxnLst/>
              <a:rect l="l" t="t" r="r" b="b"/>
              <a:pathLst>
                <a:path w="21230667" h="219628">
                  <a:moveTo>
                    <a:pt x="0" y="0"/>
                  </a:moveTo>
                  <a:lnTo>
                    <a:pt x="21230667" y="0"/>
                  </a:lnTo>
                  <a:lnTo>
                    <a:pt x="2123066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3552" b="-183355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21230666" cy="238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E8FF"/>
                  </a:solidFill>
                  <a:latin typeface="Arial"/>
                  <a:ea typeface="Arial"/>
                  <a:cs typeface="Arial"/>
                  <a:sym typeface="Arial"/>
                </a:rPr>
                <a:t>Създаване на образователно съдържание с изкуствен интелект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99773" y="3344056"/>
            <a:ext cx="10281149" cy="5756763"/>
            <a:chOff x="0" y="0"/>
            <a:chExt cx="15460744" cy="8656993"/>
          </a:xfrm>
        </p:grpSpPr>
        <p:sp>
          <p:nvSpPr>
            <p:cNvPr id="8" name="Freeform 8" descr="/mnt/data/course_pages/florence-01.png"/>
            <p:cNvSpPr/>
            <p:nvPr/>
          </p:nvSpPr>
          <p:spPr>
            <a:xfrm>
              <a:off x="0" y="0"/>
              <a:ext cx="15460690" cy="8656955"/>
            </a:xfrm>
            <a:custGeom>
              <a:avLst/>
              <a:gdLst/>
              <a:ahLst/>
              <a:cxnLst/>
              <a:rect l="l" t="t" r="r" b="b"/>
              <a:pathLst>
                <a:path w="15460690" h="8656955">
                  <a:moveTo>
                    <a:pt x="0" y="0"/>
                  </a:moveTo>
                  <a:lnTo>
                    <a:pt x="15460690" y="0"/>
                  </a:lnTo>
                  <a:lnTo>
                    <a:pt x="15460690" y="8656955"/>
                  </a:lnTo>
                  <a:lnTo>
                    <a:pt x="0" y="8656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46" b="-246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947622" y="2985559"/>
            <a:ext cx="7069264" cy="777462"/>
            <a:chOff x="0" y="0"/>
            <a:chExt cx="9425686" cy="103661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425684" cy="1036620"/>
            </a:xfrm>
            <a:custGeom>
              <a:avLst/>
              <a:gdLst/>
              <a:ahLst/>
              <a:cxnLst/>
              <a:rect l="l" t="t" r="r" b="b"/>
              <a:pathLst>
                <a:path w="9425684" h="1036620">
                  <a:moveTo>
                    <a:pt x="0" y="0"/>
                  </a:moveTo>
                  <a:lnTo>
                    <a:pt x="9425684" y="0"/>
                  </a:lnTo>
                  <a:lnTo>
                    <a:pt x="9425684" y="1036620"/>
                  </a:lnTo>
                  <a:lnTo>
                    <a:pt x="0" y="10366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0094" b="-11424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425686" cy="10747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03"/>
                </a:lnSpc>
              </a:pPr>
              <a:r>
                <a:rPr lang="en-US" sz="3752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Има ИИ за това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988808" y="3809167"/>
            <a:ext cx="6726098" cy="1088537"/>
            <a:chOff x="0" y="0"/>
            <a:chExt cx="8968130" cy="145138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968126" cy="1451383"/>
            </a:xfrm>
            <a:custGeom>
              <a:avLst/>
              <a:gdLst/>
              <a:ahLst/>
              <a:cxnLst/>
              <a:rect l="l" t="t" r="r" b="b"/>
              <a:pathLst>
                <a:path w="8968126" h="1451383">
                  <a:moveTo>
                    <a:pt x="0" y="0"/>
                  </a:moveTo>
                  <a:lnTo>
                    <a:pt x="8968126" y="0"/>
                  </a:lnTo>
                  <a:lnTo>
                    <a:pt x="8968126" y="1451383"/>
                  </a:lnTo>
                  <a:lnTo>
                    <a:pt x="0" y="14513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001" b="-6579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8968130" cy="14609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7"/>
                </a:lnSpc>
              </a:pPr>
              <a:r>
                <a:rPr lang="en-US" sz="21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Обучението поставя акцент върху създаване на визуално, интерактивно и мултимедийно учебно съдържание с помощта на AI инструменти.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979273" y="5282122"/>
            <a:ext cx="2901677" cy="595589"/>
            <a:chOff x="0" y="0"/>
            <a:chExt cx="3868903" cy="7941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68928" cy="794131"/>
            </a:xfrm>
            <a:custGeom>
              <a:avLst/>
              <a:gdLst/>
              <a:ahLst/>
              <a:cxnLst/>
              <a:rect l="l" t="t" r="r" b="b"/>
              <a:pathLst>
                <a:path w="3868928" h="794131">
                  <a:moveTo>
                    <a:pt x="0" y="189103"/>
                  </a:moveTo>
                  <a:cubicBezTo>
                    <a:pt x="0" y="84709"/>
                    <a:pt x="84709" y="0"/>
                    <a:pt x="189103" y="0"/>
                  </a:cubicBezTo>
                  <a:lnTo>
                    <a:pt x="3679825" y="0"/>
                  </a:lnTo>
                  <a:cubicBezTo>
                    <a:pt x="3784219" y="0"/>
                    <a:pt x="3868928" y="84709"/>
                    <a:pt x="3868928" y="189103"/>
                  </a:cubicBezTo>
                  <a:lnTo>
                    <a:pt x="3868928" y="605028"/>
                  </a:lnTo>
                  <a:cubicBezTo>
                    <a:pt x="3868928" y="709422"/>
                    <a:pt x="3784219" y="794131"/>
                    <a:pt x="3679825" y="794131"/>
                  </a:cubicBezTo>
                  <a:lnTo>
                    <a:pt x="189103" y="794131"/>
                  </a:lnTo>
                  <a:cubicBezTo>
                    <a:pt x="84709" y="794131"/>
                    <a:pt x="0" y="709422"/>
                    <a:pt x="0" y="605028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153523" y="5435779"/>
            <a:ext cx="2553167" cy="192176"/>
            <a:chOff x="0" y="0"/>
            <a:chExt cx="3404222" cy="256235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04227" cy="256232"/>
            </a:xfrm>
            <a:custGeom>
              <a:avLst/>
              <a:gdLst/>
              <a:ahLst/>
              <a:cxnLst/>
              <a:rect l="l" t="t" r="r" b="b"/>
              <a:pathLst>
                <a:path w="3404227" h="256232">
                  <a:moveTo>
                    <a:pt x="0" y="0"/>
                  </a:moveTo>
                  <a:lnTo>
                    <a:pt x="3404227" y="0"/>
                  </a:lnTo>
                  <a:lnTo>
                    <a:pt x="3404227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8871" b="-20887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404222" cy="2657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Флоренция, Италия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145955" y="5428921"/>
            <a:ext cx="4118019" cy="192176"/>
            <a:chOff x="0" y="0"/>
            <a:chExt cx="5490693" cy="25623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490690" cy="256232"/>
            </a:xfrm>
            <a:custGeom>
              <a:avLst/>
              <a:gdLst/>
              <a:ahLst/>
              <a:cxnLst/>
              <a:rect l="l" t="t" r="r" b="b"/>
              <a:pathLst>
                <a:path w="5490690" h="256232">
                  <a:moveTo>
                    <a:pt x="0" y="0"/>
                  </a:moveTo>
                  <a:lnTo>
                    <a:pt x="5490690" y="0"/>
                  </a:lnTo>
                  <a:lnTo>
                    <a:pt x="5490690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536" b="-36753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5490693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09.02.2026 – 14.02.2026 г.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988808" y="6115255"/>
            <a:ext cx="7824235" cy="480431"/>
            <a:chOff x="0" y="0"/>
            <a:chExt cx="10432313" cy="64057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432311" cy="640580"/>
            </a:xfrm>
            <a:custGeom>
              <a:avLst/>
              <a:gdLst/>
              <a:ahLst/>
              <a:cxnLst/>
              <a:rect l="l" t="t" r="r" b="b"/>
              <a:pathLst>
                <a:path w="10432311" h="640580">
                  <a:moveTo>
                    <a:pt x="0" y="0"/>
                  </a:moveTo>
                  <a:lnTo>
                    <a:pt x="10432311" y="0"/>
                  </a:lnTo>
                  <a:lnTo>
                    <a:pt x="10432311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7328" b="-26732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9525"/>
              <a:ext cx="10432313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9"/>
                </a:lnSpc>
              </a:pPr>
              <a:r>
                <a:rPr lang="en-US" sz="189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Участници: Надежда Петкова; Надежда Цинцарска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212626" y="7711750"/>
            <a:ext cx="211236" cy="211236"/>
            <a:chOff x="0" y="0"/>
            <a:chExt cx="281648" cy="28164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06504" y="7611470"/>
            <a:ext cx="5971127" cy="343167"/>
            <a:chOff x="0" y="0"/>
            <a:chExt cx="7961503" cy="45755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961500" cy="457557"/>
            </a:xfrm>
            <a:custGeom>
              <a:avLst/>
              <a:gdLst/>
              <a:ahLst/>
              <a:cxnLst/>
              <a:rect l="l" t="t" r="r" b="b"/>
              <a:pathLst>
                <a:path w="7961500" h="457557">
                  <a:moveTo>
                    <a:pt x="0" y="0"/>
                  </a:moveTo>
                  <a:lnTo>
                    <a:pt x="7961500" y="0"/>
                  </a:lnTo>
                  <a:lnTo>
                    <a:pt x="796150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039" b="-28903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7961503" cy="486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AI инструменти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212626" y="8151004"/>
            <a:ext cx="211236" cy="211236"/>
            <a:chOff x="0" y="0"/>
            <a:chExt cx="281648" cy="28164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606504" y="8050725"/>
            <a:ext cx="5971127" cy="343167"/>
            <a:chOff x="0" y="0"/>
            <a:chExt cx="7961503" cy="45755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7961500" cy="457557"/>
            </a:xfrm>
            <a:custGeom>
              <a:avLst/>
              <a:gdLst/>
              <a:ahLst/>
              <a:cxnLst/>
              <a:rect l="l" t="t" r="r" b="b"/>
              <a:pathLst>
                <a:path w="7961500" h="457557">
                  <a:moveTo>
                    <a:pt x="0" y="0"/>
                  </a:moveTo>
                  <a:lnTo>
                    <a:pt x="7961500" y="0"/>
                  </a:lnTo>
                  <a:lnTo>
                    <a:pt x="796150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039" b="-28903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7961503" cy="486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изображения и презентации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212626" y="8590259"/>
            <a:ext cx="211236" cy="211236"/>
            <a:chOff x="0" y="0"/>
            <a:chExt cx="281648" cy="2816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606504" y="8489980"/>
            <a:ext cx="5971127" cy="343167"/>
            <a:chOff x="0" y="0"/>
            <a:chExt cx="7961503" cy="457556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7961500" cy="457557"/>
            </a:xfrm>
            <a:custGeom>
              <a:avLst/>
              <a:gdLst/>
              <a:ahLst/>
              <a:cxnLst/>
              <a:rect l="l" t="t" r="r" b="b"/>
              <a:pathLst>
                <a:path w="7961500" h="457557">
                  <a:moveTo>
                    <a:pt x="0" y="0"/>
                  </a:moveTo>
                  <a:lnTo>
                    <a:pt x="7961500" y="0"/>
                  </a:lnTo>
                  <a:lnTo>
                    <a:pt x="796150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039" b="-28903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28575"/>
              <a:ext cx="7961503" cy="486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видео и интерактивни уроци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212626" y="9029514"/>
            <a:ext cx="211236" cy="211236"/>
            <a:chOff x="0" y="0"/>
            <a:chExt cx="281648" cy="28164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1606504" y="8929235"/>
            <a:ext cx="5971127" cy="343167"/>
            <a:chOff x="0" y="0"/>
            <a:chExt cx="7961503" cy="45755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961500" cy="457557"/>
            </a:xfrm>
            <a:custGeom>
              <a:avLst/>
              <a:gdLst/>
              <a:ahLst/>
              <a:cxnLst/>
              <a:rect l="l" t="t" r="r" b="b"/>
              <a:pathLst>
                <a:path w="7961500" h="457557">
                  <a:moveTo>
                    <a:pt x="0" y="0"/>
                  </a:moveTo>
                  <a:lnTo>
                    <a:pt x="7961500" y="0"/>
                  </a:lnTo>
                  <a:lnTo>
                    <a:pt x="7961500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9039" b="-28903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7961503" cy="48613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дигитални ресурси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</a:p>
        </p:txBody>
      </p:sp>
      <p:sp>
        <p:nvSpPr>
          <p:cNvPr id="52" name="Freeform 52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  <p:grpSp>
        <p:nvGrpSpPr>
          <p:cNvPr id="53" name="Group 53"/>
          <p:cNvGrpSpPr/>
          <p:nvPr/>
        </p:nvGrpSpPr>
        <p:grpSpPr>
          <a:xfrm>
            <a:off x="860624" y="1915416"/>
            <a:ext cx="16472068" cy="1171847"/>
            <a:chOff x="0" y="0"/>
            <a:chExt cx="21962758" cy="156246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1962759" cy="1562444"/>
            </a:xfrm>
            <a:custGeom>
              <a:avLst/>
              <a:gdLst/>
              <a:ahLst/>
              <a:cxnLst/>
              <a:rect l="l" t="t" r="r" b="b"/>
              <a:pathLst>
                <a:path w="21962759" h="1562444">
                  <a:moveTo>
                    <a:pt x="0" y="0"/>
                  </a:moveTo>
                  <a:lnTo>
                    <a:pt x="21962759" y="0"/>
                  </a:lnTo>
                  <a:lnTo>
                    <a:pt x="21962759" y="1562444"/>
                  </a:lnTo>
                  <a:lnTo>
                    <a:pt x="0" y="15624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7495" b="-19029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21962758" cy="1591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Курс 2 · THERE’S AN AI FOR THAT</a:t>
              </a:r>
            </a:p>
            <a:p>
              <a:pPr algn="l">
                <a:lnSpc>
                  <a:spcPts val="3963"/>
                </a:lnSpc>
              </a:pPr>
              <a:endParaRPr lang="en-US" sz="3302" b="1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1855780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2235" y="2043755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ФЛОРЕНЦИЯ · AI ИНСТРУМЕНТИ И ДЕЙНОСТИ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1792" y="3552177"/>
            <a:ext cx="7523620" cy="5383636"/>
            <a:chOff x="0" y="0"/>
            <a:chExt cx="9297568" cy="6653011"/>
          </a:xfrm>
        </p:grpSpPr>
        <p:sp>
          <p:nvSpPr>
            <p:cNvPr id="8" name="Freeform 8" descr="/mnt/data/course_pages/florence-03.png"/>
            <p:cNvSpPr/>
            <p:nvPr/>
          </p:nvSpPr>
          <p:spPr>
            <a:xfrm>
              <a:off x="0" y="0"/>
              <a:ext cx="9297543" cy="6652969"/>
            </a:xfrm>
            <a:custGeom>
              <a:avLst/>
              <a:gdLst/>
              <a:ahLst/>
              <a:cxnLst/>
              <a:rect l="l" t="t" r="r" b="b"/>
              <a:pathLst>
                <a:path w="9297543" h="6652969">
                  <a:moveTo>
                    <a:pt x="0" y="0"/>
                  </a:moveTo>
                  <a:lnTo>
                    <a:pt x="9297543" y="0"/>
                  </a:lnTo>
                  <a:lnTo>
                    <a:pt x="9297543" y="6652969"/>
                  </a:lnTo>
                  <a:lnTo>
                    <a:pt x="0" y="66529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583" r="-13584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482670" y="2910498"/>
            <a:ext cx="183785" cy="595589"/>
            <a:chOff x="0" y="0"/>
            <a:chExt cx="245047" cy="79411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45110" cy="794131"/>
            </a:xfrm>
            <a:custGeom>
              <a:avLst/>
              <a:gdLst/>
              <a:ahLst/>
              <a:cxnLst/>
              <a:rect l="l" t="t" r="r" b="b"/>
              <a:pathLst>
                <a:path w="245110" h="794131">
                  <a:moveTo>
                    <a:pt x="0" y="0"/>
                  </a:moveTo>
                  <a:lnTo>
                    <a:pt x="245110" y="0"/>
                  </a:lnTo>
                  <a:lnTo>
                    <a:pt x="245110" y="794131"/>
                  </a:lnTo>
                  <a:lnTo>
                    <a:pt x="0" y="794131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794185" y="2988669"/>
            <a:ext cx="5216157" cy="247079"/>
            <a:chOff x="0" y="0"/>
            <a:chExt cx="6954876" cy="3294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54873" cy="329441"/>
            </a:xfrm>
            <a:custGeom>
              <a:avLst/>
              <a:gdLst/>
              <a:ahLst/>
              <a:cxnLst/>
              <a:rect l="l" t="t" r="r" b="b"/>
              <a:pathLst>
                <a:path w="6954873" h="329441">
                  <a:moveTo>
                    <a:pt x="0" y="0"/>
                  </a:moveTo>
                  <a:lnTo>
                    <a:pt x="6954873" y="0"/>
                  </a:lnTo>
                  <a:lnTo>
                    <a:pt x="695487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351" b="-3613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6954876" cy="338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Инструменти и формати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482670" y="3871370"/>
            <a:ext cx="2380059" cy="595589"/>
            <a:chOff x="0" y="0"/>
            <a:chExt cx="3173412" cy="79411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643195" y="4018169"/>
            <a:ext cx="2059010" cy="247079"/>
            <a:chOff x="0" y="0"/>
            <a:chExt cx="2745346" cy="3294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ChatGPT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296650" y="3871370"/>
            <a:ext cx="2380059" cy="595589"/>
            <a:chOff x="0" y="0"/>
            <a:chExt cx="3173412" cy="7941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457175" y="4018169"/>
            <a:ext cx="2059010" cy="247079"/>
            <a:chOff x="0" y="0"/>
            <a:chExt cx="2745346" cy="32943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NotebookLM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4110630" y="3871370"/>
            <a:ext cx="2380059" cy="595589"/>
            <a:chOff x="0" y="0"/>
            <a:chExt cx="3173412" cy="79411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271155" y="4018169"/>
            <a:ext cx="2059010" cy="247079"/>
            <a:chOff x="0" y="0"/>
            <a:chExt cx="2745346" cy="3294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Padlet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482670" y="4626341"/>
            <a:ext cx="2380059" cy="595589"/>
            <a:chOff x="0" y="0"/>
            <a:chExt cx="3173412" cy="79411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643195" y="4773140"/>
            <a:ext cx="2059010" cy="247079"/>
            <a:chOff x="0" y="0"/>
            <a:chExt cx="2745346" cy="32943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Miro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296650" y="4626341"/>
            <a:ext cx="2380059" cy="595589"/>
            <a:chOff x="0" y="0"/>
            <a:chExt cx="3173412" cy="79411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1457175" y="4773140"/>
            <a:ext cx="2059010" cy="247079"/>
            <a:chOff x="0" y="0"/>
            <a:chExt cx="2745346" cy="32943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Canva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110630" y="4626341"/>
            <a:ext cx="2380059" cy="595589"/>
            <a:chOff x="0" y="0"/>
            <a:chExt cx="3173412" cy="79411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271155" y="4773140"/>
            <a:ext cx="2059010" cy="247079"/>
            <a:chOff x="0" y="0"/>
            <a:chExt cx="2745346" cy="32943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CapCut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482670" y="5381311"/>
            <a:ext cx="2380059" cy="595589"/>
            <a:chOff x="0" y="0"/>
            <a:chExt cx="3173412" cy="794118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643195" y="5528110"/>
            <a:ext cx="2059010" cy="247079"/>
            <a:chOff x="0" y="0"/>
            <a:chExt cx="2745346" cy="329438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Napkin AI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296650" y="5381311"/>
            <a:ext cx="2380059" cy="595589"/>
            <a:chOff x="0" y="0"/>
            <a:chExt cx="3173412" cy="79411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1457175" y="5528110"/>
            <a:ext cx="2059010" cy="247079"/>
            <a:chOff x="0" y="0"/>
            <a:chExt cx="2745346" cy="32943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Perplexity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4110630" y="5381311"/>
            <a:ext cx="2380059" cy="595589"/>
            <a:chOff x="0" y="0"/>
            <a:chExt cx="3173412" cy="79411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4271155" y="5528110"/>
            <a:ext cx="2059010" cy="247079"/>
            <a:chOff x="0" y="0"/>
            <a:chExt cx="2745346" cy="329438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Copilot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482670" y="6136282"/>
            <a:ext cx="2380059" cy="595589"/>
            <a:chOff x="0" y="0"/>
            <a:chExt cx="3173412" cy="794118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8643195" y="6283081"/>
            <a:ext cx="2059010" cy="247079"/>
            <a:chOff x="0" y="0"/>
            <a:chExt cx="2745346" cy="32943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Gemini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1296650" y="6136282"/>
            <a:ext cx="2380059" cy="595589"/>
            <a:chOff x="0" y="0"/>
            <a:chExt cx="3173412" cy="794118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1457175" y="6283081"/>
            <a:ext cx="2059010" cy="247079"/>
            <a:chOff x="0" y="0"/>
            <a:chExt cx="2745346" cy="32943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Claude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110630" y="6136282"/>
            <a:ext cx="2380059" cy="595589"/>
            <a:chOff x="0" y="0"/>
            <a:chExt cx="3173412" cy="79411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173476" cy="794258"/>
            </a:xfrm>
            <a:custGeom>
              <a:avLst/>
              <a:gdLst/>
              <a:ahLst/>
              <a:cxnLst/>
              <a:rect l="l" t="t" r="r" b="b"/>
              <a:pathLst>
                <a:path w="3173476" h="794258">
                  <a:moveTo>
                    <a:pt x="0" y="226949"/>
                  </a:moveTo>
                  <a:cubicBezTo>
                    <a:pt x="0" y="101600"/>
                    <a:pt x="101600" y="0"/>
                    <a:pt x="226949" y="0"/>
                  </a:cubicBezTo>
                  <a:lnTo>
                    <a:pt x="2946527" y="0"/>
                  </a:lnTo>
                  <a:cubicBezTo>
                    <a:pt x="3071876" y="0"/>
                    <a:pt x="3173476" y="101600"/>
                    <a:pt x="3173476" y="226949"/>
                  </a:cubicBezTo>
                  <a:lnTo>
                    <a:pt x="3173476" y="567309"/>
                  </a:lnTo>
                  <a:cubicBezTo>
                    <a:pt x="3173476" y="692658"/>
                    <a:pt x="3071876" y="794258"/>
                    <a:pt x="2946527" y="794258"/>
                  </a:cubicBezTo>
                  <a:lnTo>
                    <a:pt x="226949" y="794258"/>
                  </a:lnTo>
                  <a:cubicBezTo>
                    <a:pt x="101600" y="794131"/>
                    <a:pt x="0" y="692531"/>
                    <a:pt x="0" y="567182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14271155" y="6283081"/>
            <a:ext cx="2059010" cy="247079"/>
            <a:chOff x="0" y="0"/>
            <a:chExt cx="2745346" cy="329438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745345" cy="329441"/>
            </a:xfrm>
            <a:custGeom>
              <a:avLst/>
              <a:gdLst/>
              <a:ahLst/>
              <a:cxnLst/>
              <a:rect l="l" t="t" r="r" b="b"/>
              <a:pathLst>
                <a:path w="2745345" h="329441">
                  <a:moveTo>
                    <a:pt x="0" y="0"/>
                  </a:moveTo>
                  <a:lnTo>
                    <a:pt x="2745345" y="0"/>
                  </a:lnTo>
                  <a:lnTo>
                    <a:pt x="2745345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2375" b="-11237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2745346" cy="3484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Descript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482670" y="7165782"/>
            <a:ext cx="183785" cy="595589"/>
            <a:chOff x="0" y="0"/>
            <a:chExt cx="245047" cy="794118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45110" cy="794131"/>
            </a:xfrm>
            <a:custGeom>
              <a:avLst/>
              <a:gdLst/>
              <a:ahLst/>
              <a:cxnLst/>
              <a:rect l="l" t="t" r="r" b="b"/>
              <a:pathLst>
                <a:path w="245110" h="794131">
                  <a:moveTo>
                    <a:pt x="0" y="0"/>
                  </a:moveTo>
                  <a:lnTo>
                    <a:pt x="245110" y="0"/>
                  </a:lnTo>
                  <a:lnTo>
                    <a:pt x="245110" y="794131"/>
                  </a:lnTo>
                  <a:lnTo>
                    <a:pt x="0" y="79413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8794185" y="7243954"/>
            <a:ext cx="5216157" cy="247079"/>
            <a:chOff x="0" y="0"/>
            <a:chExt cx="6954876" cy="329438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6954873" cy="329441"/>
            </a:xfrm>
            <a:custGeom>
              <a:avLst/>
              <a:gdLst/>
              <a:ahLst/>
              <a:cxnLst/>
              <a:rect l="l" t="t" r="r" b="b"/>
              <a:pathLst>
                <a:path w="6954873" h="329441">
                  <a:moveTo>
                    <a:pt x="0" y="0"/>
                  </a:moveTo>
                  <a:lnTo>
                    <a:pt x="6954873" y="0"/>
                  </a:lnTo>
                  <a:lnTo>
                    <a:pt x="695487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351" b="-3613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0" y="-9525"/>
              <a:ext cx="6954876" cy="338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Практически акценти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8619935" y="8058017"/>
            <a:ext cx="211236" cy="211236"/>
            <a:chOff x="0" y="0"/>
            <a:chExt cx="281648" cy="281648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013812" y="7957738"/>
            <a:ext cx="8373304" cy="343167"/>
            <a:chOff x="0" y="0"/>
            <a:chExt cx="11164405" cy="457556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1164402" cy="457557"/>
            </a:xfrm>
            <a:custGeom>
              <a:avLst/>
              <a:gdLst/>
              <a:ahLst/>
              <a:cxnLst/>
              <a:rect l="l" t="t" r="r" b="b"/>
              <a:pathLst>
                <a:path w="11164402" h="457557">
                  <a:moveTo>
                    <a:pt x="0" y="0"/>
                  </a:moveTo>
                  <a:lnTo>
                    <a:pt x="11164402" y="0"/>
                  </a:lnTo>
                  <a:lnTo>
                    <a:pt x="1116440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435" b="-42543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0" y="-19050"/>
              <a:ext cx="11164405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генериране на изображения от текстови prompts;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8619935" y="8483547"/>
            <a:ext cx="211236" cy="211236"/>
            <a:chOff x="0" y="0"/>
            <a:chExt cx="281648" cy="28164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9013812" y="8383267"/>
            <a:ext cx="8373304" cy="343167"/>
            <a:chOff x="0" y="0"/>
            <a:chExt cx="11164405" cy="457556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164402" cy="457557"/>
            </a:xfrm>
            <a:custGeom>
              <a:avLst/>
              <a:gdLst/>
              <a:ahLst/>
              <a:cxnLst/>
              <a:rect l="l" t="t" r="r" b="b"/>
              <a:pathLst>
                <a:path w="11164402" h="457557">
                  <a:moveTo>
                    <a:pt x="0" y="0"/>
                  </a:moveTo>
                  <a:lnTo>
                    <a:pt x="11164402" y="0"/>
                  </a:lnTo>
                  <a:lnTo>
                    <a:pt x="1116440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435" b="-42543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1164405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създаване на презентации и визуални материали;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8619935" y="8909076"/>
            <a:ext cx="211236" cy="211236"/>
            <a:chOff x="0" y="0"/>
            <a:chExt cx="281648" cy="281648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9013812" y="8808797"/>
            <a:ext cx="8373304" cy="343167"/>
            <a:chOff x="0" y="0"/>
            <a:chExt cx="11164405" cy="45755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11164402" cy="457557"/>
            </a:xfrm>
            <a:custGeom>
              <a:avLst/>
              <a:gdLst/>
              <a:ahLst/>
              <a:cxnLst/>
              <a:rect l="l" t="t" r="r" b="b"/>
              <a:pathLst>
                <a:path w="11164402" h="457557">
                  <a:moveTo>
                    <a:pt x="0" y="0"/>
                  </a:moveTo>
                  <a:lnTo>
                    <a:pt x="11164402" y="0"/>
                  </a:lnTo>
                  <a:lnTo>
                    <a:pt x="1116440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435" b="-42543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0" y="-19050"/>
              <a:ext cx="11164405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разработване на аудио/видео учебно съдържание;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8619935" y="9334605"/>
            <a:ext cx="211236" cy="211236"/>
            <a:chOff x="0" y="0"/>
            <a:chExt cx="281648" cy="281648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81686" cy="281686"/>
            </a:xfrm>
            <a:custGeom>
              <a:avLst/>
              <a:gdLst/>
              <a:ahLst/>
              <a:cxnLst/>
              <a:rect l="l" t="t" r="r" b="b"/>
              <a:pathLst>
                <a:path w="281686" h="281686">
                  <a:moveTo>
                    <a:pt x="0" y="140843"/>
                  </a:moveTo>
                  <a:cubicBezTo>
                    <a:pt x="0" y="62992"/>
                    <a:pt x="62992" y="0"/>
                    <a:pt x="140843" y="0"/>
                  </a:cubicBezTo>
                  <a:cubicBezTo>
                    <a:pt x="218694" y="0"/>
                    <a:pt x="281686" y="62992"/>
                    <a:pt x="281686" y="140843"/>
                  </a:cubicBezTo>
                  <a:cubicBezTo>
                    <a:pt x="281686" y="218694"/>
                    <a:pt x="218567" y="281686"/>
                    <a:pt x="140843" y="281686"/>
                  </a:cubicBezTo>
                  <a:cubicBezTo>
                    <a:pt x="63119" y="281686"/>
                    <a:pt x="0" y="218567"/>
                    <a:pt x="0" y="140843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013812" y="9234326"/>
            <a:ext cx="8373304" cy="343167"/>
            <a:chOff x="0" y="0"/>
            <a:chExt cx="11164405" cy="457556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11164402" cy="457557"/>
            </a:xfrm>
            <a:custGeom>
              <a:avLst/>
              <a:gdLst/>
              <a:ahLst/>
              <a:cxnLst/>
              <a:rect l="l" t="t" r="r" b="b"/>
              <a:pathLst>
                <a:path w="11164402" h="457557">
                  <a:moveTo>
                    <a:pt x="0" y="0"/>
                  </a:moveTo>
                  <a:lnTo>
                    <a:pt x="11164402" y="0"/>
                  </a:lnTo>
                  <a:lnTo>
                    <a:pt x="11164402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435" b="-42543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0" y="-19050"/>
              <a:ext cx="11164405" cy="4766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използване на интерактивни и игрови дейности.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104" name="TextBox 104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</a:p>
        </p:txBody>
      </p:sp>
      <p:sp>
        <p:nvSpPr>
          <p:cNvPr id="105" name="Freeform 105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909" y="1894246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68861" y="2082222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ФЛОРЕНЦИЯ · ПРИЛОЖЕНИЕ В УЧЕБНИЯ ПРОЦЕС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13244" y="3442554"/>
            <a:ext cx="4888240" cy="3287154"/>
            <a:chOff x="0" y="0"/>
            <a:chExt cx="6517653" cy="43828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17640" cy="4382856"/>
            </a:xfrm>
            <a:custGeom>
              <a:avLst/>
              <a:gdLst/>
              <a:ahLst/>
              <a:cxnLst/>
              <a:rect l="l" t="t" r="r" b="b"/>
              <a:pathLst>
                <a:path w="6517640" h="4382856">
                  <a:moveTo>
                    <a:pt x="0" y="96112"/>
                  </a:moveTo>
                  <a:cubicBezTo>
                    <a:pt x="0" y="43030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43030"/>
                    <a:pt x="6517640" y="96112"/>
                  </a:cubicBezTo>
                  <a:lnTo>
                    <a:pt x="6517640" y="4286743"/>
                  </a:lnTo>
                  <a:cubicBezTo>
                    <a:pt x="6517640" y="4339825"/>
                    <a:pt x="6451854" y="4382856"/>
                    <a:pt x="6370701" y="4382856"/>
                  </a:cubicBezTo>
                  <a:lnTo>
                    <a:pt x="146939" y="4382856"/>
                  </a:lnTo>
                  <a:cubicBezTo>
                    <a:pt x="65786" y="4382856"/>
                    <a:pt x="0" y="4339825"/>
                    <a:pt x="0" y="42867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11339" y="3440640"/>
            <a:ext cx="4892050" cy="128883"/>
            <a:chOff x="0" y="0"/>
            <a:chExt cx="6522733" cy="1718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22720" cy="171831"/>
            </a:xfrm>
            <a:custGeom>
              <a:avLst/>
              <a:gdLst/>
              <a:ahLst/>
              <a:cxnLst/>
              <a:rect l="l" t="t" r="r" b="b"/>
              <a:pathLst>
                <a:path w="6522720" h="171831">
                  <a:moveTo>
                    <a:pt x="0" y="0"/>
                  </a:moveTo>
                  <a:lnTo>
                    <a:pt x="6522720" y="0"/>
                  </a:lnTo>
                  <a:lnTo>
                    <a:pt x="6522720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67952" y="3697253"/>
            <a:ext cx="4378823" cy="481490"/>
            <a:chOff x="0" y="0"/>
            <a:chExt cx="5838431" cy="64198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38433" cy="641988"/>
            </a:xfrm>
            <a:custGeom>
              <a:avLst/>
              <a:gdLst/>
              <a:ahLst/>
              <a:cxnLst/>
              <a:rect l="l" t="t" r="r" b="b"/>
              <a:pathLst>
                <a:path w="5838433" h="641988">
                  <a:moveTo>
                    <a:pt x="0" y="0"/>
                  </a:moveTo>
                  <a:lnTo>
                    <a:pt x="5838433" y="0"/>
                  </a:lnTo>
                  <a:lnTo>
                    <a:pt x="5838433" y="641988"/>
                  </a:lnTo>
                  <a:lnTo>
                    <a:pt x="0" y="641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992" b="-11141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838431" cy="661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22"/>
                </a:lnSpc>
              </a:pPr>
              <a:r>
                <a:rPr lang="en-US" sz="23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Мултимедийни уроци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67952" y="4246321"/>
            <a:ext cx="4378823" cy="1990375"/>
            <a:chOff x="0" y="0"/>
            <a:chExt cx="5838431" cy="265383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838433" cy="2653830"/>
            </a:xfrm>
            <a:custGeom>
              <a:avLst/>
              <a:gdLst/>
              <a:ahLst/>
              <a:cxnLst/>
              <a:rect l="l" t="t" r="r" b="b"/>
              <a:pathLst>
                <a:path w="5838433" h="2653830">
                  <a:moveTo>
                    <a:pt x="0" y="0"/>
                  </a:moveTo>
                  <a:lnTo>
                    <a:pt x="5838433" y="0"/>
                  </a:lnTo>
                  <a:lnTo>
                    <a:pt x="5838433" y="2653830"/>
                  </a:lnTo>
                  <a:lnTo>
                    <a:pt x="0" y="26538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r="-66639" b="-10000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5838431" cy="26633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създаване на презентации, изображения, инфографики, аудио и видео материали, съобразени с учебното съдържание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41204" y="3442554"/>
            <a:ext cx="4888240" cy="3287154"/>
            <a:chOff x="0" y="0"/>
            <a:chExt cx="6517653" cy="43828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17640" cy="4382856"/>
            </a:xfrm>
            <a:custGeom>
              <a:avLst/>
              <a:gdLst/>
              <a:ahLst/>
              <a:cxnLst/>
              <a:rect l="l" t="t" r="r" b="b"/>
              <a:pathLst>
                <a:path w="6517640" h="4382856">
                  <a:moveTo>
                    <a:pt x="0" y="96112"/>
                  </a:moveTo>
                  <a:cubicBezTo>
                    <a:pt x="0" y="43030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43030"/>
                    <a:pt x="6517640" y="96112"/>
                  </a:cubicBezTo>
                  <a:lnTo>
                    <a:pt x="6517640" y="4286743"/>
                  </a:lnTo>
                  <a:cubicBezTo>
                    <a:pt x="6517640" y="4339825"/>
                    <a:pt x="6451854" y="4382856"/>
                    <a:pt x="6370701" y="4382856"/>
                  </a:cubicBezTo>
                  <a:lnTo>
                    <a:pt x="146939" y="4382856"/>
                  </a:lnTo>
                  <a:cubicBezTo>
                    <a:pt x="65786" y="4382856"/>
                    <a:pt x="0" y="4339825"/>
                    <a:pt x="0" y="42867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39299" y="3440640"/>
            <a:ext cx="4892050" cy="128883"/>
            <a:chOff x="0" y="0"/>
            <a:chExt cx="6522733" cy="1718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22720" cy="171831"/>
            </a:xfrm>
            <a:custGeom>
              <a:avLst/>
              <a:gdLst/>
              <a:ahLst/>
              <a:cxnLst/>
              <a:rect l="l" t="t" r="r" b="b"/>
              <a:pathLst>
                <a:path w="6522720" h="171831">
                  <a:moveTo>
                    <a:pt x="0" y="0"/>
                  </a:moveTo>
                  <a:lnTo>
                    <a:pt x="6522720" y="0"/>
                  </a:lnTo>
                  <a:lnTo>
                    <a:pt x="6522720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6995912" y="3697253"/>
            <a:ext cx="4378823" cy="481490"/>
            <a:chOff x="0" y="0"/>
            <a:chExt cx="5838431" cy="641987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838433" cy="641988"/>
            </a:xfrm>
            <a:custGeom>
              <a:avLst/>
              <a:gdLst/>
              <a:ahLst/>
              <a:cxnLst/>
              <a:rect l="l" t="t" r="r" b="b"/>
              <a:pathLst>
                <a:path w="5838433" h="641988">
                  <a:moveTo>
                    <a:pt x="0" y="0"/>
                  </a:moveTo>
                  <a:lnTo>
                    <a:pt x="5838433" y="0"/>
                  </a:lnTo>
                  <a:lnTo>
                    <a:pt x="5838433" y="641988"/>
                  </a:lnTo>
                  <a:lnTo>
                    <a:pt x="0" y="641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992" b="-11141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838431" cy="661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22"/>
                </a:lnSpc>
              </a:pPr>
              <a:r>
                <a:rPr lang="en-US" sz="235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Интерактивно обучение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95912" y="4246321"/>
            <a:ext cx="4378823" cy="1990375"/>
            <a:chOff x="0" y="0"/>
            <a:chExt cx="5838431" cy="265383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838433" cy="2653830"/>
            </a:xfrm>
            <a:custGeom>
              <a:avLst/>
              <a:gdLst/>
              <a:ahLst/>
              <a:cxnLst/>
              <a:rect l="l" t="t" r="r" b="b"/>
              <a:pathLst>
                <a:path w="5838433" h="2653830">
                  <a:moveTo>
                    <a:pt x="0" y="0"/>
                  </a:moveTo>
                  <a:lnTo>
                    <a:pt x="5838433" y="0"/>
                  </a:lnTo>
                  <a:lnTo>
                    <a:pt x="5838433" y="2653830"/>
                  </a:lnTo>
                  <a:lnTo>
                    <a:pt x="0" y="26538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r="-66639" b="-10000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5838431" cy="26633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въвеждане на задачи с дигитални инструменти, игрови елементи, визуални дейности и групова работа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69155" y="3442554"/>
            <a:ext cx="4888240" cy="3287154"/>
            <a:chOff x="0" y="0"/>
            <a:chExt cx="6517653" cy="438287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17640" cy="4382856"/>
            </a:xfrm>
            <a:custGeom>
              <a:avLst/>
              <a:gdLst/>
              <a:ahLst/>
              <a:cxnLst/>
              <a:rect l="l" t="t" r="r" b="b"/>
              <a:pathLst>
                <a:path w="6517640" h="4382856">
                  <a:moveTo>
                    <a:pt x="0" y="96112"/>
                  </a:moveTo>
                  <a:cubicBezTo>
                    <a:pt x="0" y="43030"/>
                    <a:pt x="65786" y="0"/>
                    <a:pt x="146939" y="0"/>
                  </a:cubicBezTo>
                  <a:lnTo>
                    <a:pt x="6370701" y="0"/>
                  </a:lnTo>
                  <a:cubicBezTo>
                    <a:pt x="6451854" y="0"/>
                    <a:pt x="6517640" y="43030"/>
                    <a:pt x="6517640" y="96112"/>
                  </a:cubicBezTo>
                  <a:lnTo>
                    <a:pt x="6517640" y="4286743"/>
                  </a:lnTo>
                  <a:cubicBezTo>
                    <a:pt x="6517640" y="4339825"/>
                    <a:pt x="6451854" y="4382856"/>
                    <a:pt x="6370701" y="4382856"/>
                  </a:cubicBezTo>
                  <a:lnTo>
                    <a:pt x="146939" y="4382856"/>
                  </a:lnTo>
                  <a:cubicBezTo>
                    <a:pt x="65786" y="4382856"/>
                    <a:pt x="0" y="4339825"/>
                    <a:pt x="0" y="4286743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367250" y="3440640"/>
            <a:ext cx="4892050" cy="128883"/>
            <a:chOff x="0" y="0"/>
            <a:chExt cx="6522733" cy="1718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22720" cy="171831"/>
            </a:xfrm>
            <a:custGeom>
              <a:avLst/>
              <a:gdLst/>
              <a:ahLst/>
              <a:cxnLst/>
              <a:rect l="l" t="t" r="r" b="b"/>
              <a:pathLst>
                <a:path w="6522720" h="171831">
                  <a:moveTo>
                    <a:pt x="0" y="0"/>
                  </a:moveTo>
                  <a:lnTo>
                    <a:pt x="6522720" y="0"/>
                  </a:lnTo>
                  <a:lnTo>
                    <a:pt x="6522720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623864" y="3697253"/>
            <a:ext cx="4378823" cy="833915"/>
            <a:chOff x="0" y="0"/>
            <a:chExt cx="5838431" cy="1111887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838433" cy="1111888"/>
            </a:xfrm>
            <a:custGeom>
              <a:avLst/>
              <a:gdLst/>
              <a:ahLst/>
              <a:cxnLst/>
              <a:rect l="l" t="t" r="r" b="b"/>
              <a:pathLst>
                <a:path w="5838433" h="1111888">
                  <a:moveTo>
                    <a:pt x="0" y="0"/>
                  </a:moveTo>
                  <a:lnTo>
                    <a:pt x="5838433" y="0"/>
                  </a:lnTo>
                  <a:lnTo>
                    <a:pt x="5838433" y="1111888"/>
                  </a:lnTo>
                  <a:lnTo>
                    <a:pt x="0" y="1111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561" b="-2206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5838431" cy="11309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22"/>
                </a:lnSpc>
              </a:pPr>
              <a:r>
                <a:rPr lang="en-US" sz="23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Рационализиране на работата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623864" y="4246321"/>
            <a:ext cx="4378823" cy="1990375"/>
            <a:chOff x="0" y="0"/>
            <a:chExt cx="5838431" cy="265383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838433" cy="2653830"/>
            </a:xfrm>
            <a:custGeom>
              <a:avLst/>
              <a:gdLst/>
              <a:ahLst/>
              <a:cxnLst/>
              <a:rect l="l" t="t" r="r" b="b"/>
              <a:pathLst>
                <a:path w="5838433" h="2653830">
                  <a:moveTo>
                    <a:pt x="0" y="0"/>
                  </a:moveTo>
                  <a:lnTo>
                    <a:pt x="5838433" y="0"/>
                  </a:lnTo>
                  <a:lnTo>
                    <a:pt x="5838433" y="2653830"/>
                  </a:lnTo>
                  <a:lnTo>
                    <a:pt x="0" y="26538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6639" r="-66639" b="-10000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5838431" cy="26633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AI като помощник при подготовка на ресурси, идеи за дейности, обобщения и варианти за диференциране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27782" y="7885243"/>
            <a:ext cx="4682338" cy="1195749"/>
            <a:chOff x="0" y="0"/>
            <a:chExt cx="6243117" cy="159433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43193" cy="1594358"/>
            </a:xfrm>
            <a:custGeom>
              <a:avLst/>
              <a:gdLst/>
              <a:ahLst/>
              <a:cxnLst/>
              <a:rect l="l" t="t" r="r" b="b"/>
              <a:pathLst>
                <a:path w="6243193" h="1594358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6094857" y="0"/>
                  </a:lnTo>
                  <a:cubicBezTo>
                    <a:pt x="6176772" y="0"/>
                    <a:pt x="6243193" y="66421"/>
                    <a:pt x="6243193" y="148336"/>
                  </a:cubicBezTo>
                  <a:lnTo>
                    <a:pt x="6243193" y="1446022"/>
                  </a:lnTo>
                  <a:cubicBezTo>
                    <a:pt x="6243193" y="1527937"/>
                    <a:pt x="6176772" y="1594358"/>
                    <a:pt x="6094857" y="1594358"/>
                  </a:cubicBezTo>
                  <a:lnTo>
                    <a:pt x="148336" y="1594358"/>
                  </a:lnTo>
                  <a:cubicBezTo>
                    <a:pt x="66421" y="1594358"/>
                    <a:pt x="0" y="1527937"/>
                    <a:pt x="0" y="144602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17765" y="7087972"/>
            <a:ext cx="4502363" cy="1903028"/>
            <a:chOff x="0" y="0"/>
            <a:chExt cx="6003150" cy="2537371"/>
          </a:xfrm>
        </p:grpSpPr>
        <p:sp>
          <p:nvSpPr>
            <p:cNvPr id="40" name="Freeform 40" descr="/mnt/data/course_pages/florence-05.png"/>
            <p:cNvSpPr/>
            <p:nvPr/>
          </p:nvSpPr>
          <p:spPr>
            <a:xfrm>
              <a:off x="0" y="0"/>
              <a:ext cx="6003163" cy="2537300"/>
            </a:xfrm>
            <a:custGeom>
              <a:avLst/>
              <a:gdLst/>
              <a:ahLst/>
              <a:cxnLst/>
              <a:rect l="l" t="t" r="r" b="b"/>
              <a:pathLst>
                <a:path w="6003163" h="2537300">
                  <a:moveTo>
                    <a:pt x="0" y="0"/>
                  </a:moveTo>
                  <a:lnTo>
                    <a:pt x="6003163" y="0"/>
                  </a:lnTo>
                  <a:lnTo>
                    <a:pt x="6003163" y="2537300"/>
                  </a:lnTo>
                  <a:lnTo>
                    <a:pt x="0" y="253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6565" r="-1" b="-16567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787105" y="7885243"/>
            <a:ext cx="4682338" cy="1195749"/>
            <a:chOff x="0" y="0"/>
            <a:chExt cx="6243117" cy="1594333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243193" cy="1594358"/>
            </a:xfrm>
            <a:custGeom>
              <a:avLst/>
              <a:gdLst/>
              <a:ahLst/>
              <a:cxnLst/>
              <a:rect l="l" t="t" r="r" b="b"/>
              <a:pathLst>
                <a:path w="6243193" h="1594358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6094857" y="0"/>
                  </a:lnTo>
                  <a:cubicBezTo>
                    <a:pt x="6176772" y="0"/>
                    <a:pt x="6243193" y="66421"/>
                    <a:pt x="6243193" y="148336"/>
                  </a:cubicBezTo>
                  <a:lnTo>
                    <a:pt x="6243193" y="1446022"/>
                  </a:lnTo>
                  <a:cubicBezTo>
                    <a:pt x="6243193" y="1527937"/>
                    <a:pt x="6176772" y="1594358"/>
                    <a:pt x="6094857" y="1594358"/>
                  </a:cubicBezTo>
                  <a:lnTo>
                    <a:pt x="148336" y="1594358"/>
                  </a:lnTo>
                  <a:cubicBezTo>
                    <a:pt x="66421" y="1594358"/>
                    <a:pt x="0" y="1527937"/>
                    <a:pt x="0" y="144602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77088" y="7087972"/>
            <a:ext cx="4502363" cy="1903028"/>
            <a:chOff x="0" y="0"/>
            <a:chExt cx="6003150" cy="2537371"/>
          </a:xfrm>
        </p:grpSpPr>
        <p:sp>
          <p:nvSpPr>
            <p:cNvPr id="44" name="Freeform 44" descr="/mnt/data/course_pages/florence-06.png"/>
            <p:cNvSpPr/>
            <p:nvPr/>
          </p:nvSpPr>
          <p:spPr>
            <a:xfrm>
              <a:off x="0" y="0"/>
              <a:ext cx="6003163" cy="2537300"/>
            </a:xfrm>
            <a:custGeom>
              <a:avLst/>
              <a:gdLst/>
              <a:ahLst/>
              <a:cxnLst/>
              <a:rect l="l" t="t" r="r" b="b"/>
              <a:pathLst>
                <a:path w="6003163" h="2537300">
                  <a:moveTo>
                    <a:pt x="0" y="0"/>
                  </a:moveTo>
                  <a:lnTo>
                    <a:pt x="6003163" y="0"/>
                  </a:lnTo>
                  <a:lnTo>
                    <a:pt x="6003163" y="2537300"/>
                  </a:lnTo>
                  <a:lnTo>
                    <a:pt x="0" y="253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6565" r="-1" b="-16567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2346429" y="7885243"/>
            <a:ext cx="4682338" cy="1195749"/>
            <a:chOff x="0" y="0"/>
            <a:chExt cx="6243117" cy="159433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6243193" cy="1594358"/>
            </a:xfrm>
            <a:custGeom>
              <a:avLst/>
              <a:gdLst/>
              <a:ahLst/>
              <a:cxnLst/>
              <a:rect l="l" t="t" r="r" b="b"/>
              <a:pathLst>
                <a:path w="6243193" h="1594358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6094857" y="0"/>
                  </a:lnTo>
                  <a:cubicBezTo>
                    <a:pt x="6176772" y="0"/>
                    <a:pt x="6243193" y="66421"/>
                    <a:pt x="6243193" y="148336"/>
                  </a:cubicBezTo>
                  <a:lnTo>
                    <a:pt x="6243193" y="1446022"/>
                  </a:lnTo>
                  <a:cubicBezTo>
                    <a:pt x="6243193" y="1527937"/>
                    <a:pt x="6176772" y="1594358"/>
                    <a:pt x="6094857" y="1594358"/>
                  </a:cubicBezTo>
                  <a:lnTo>
                    <a:pt x="148336" y="1594358"/>
                  </a:lnTo>
                  <a:cubicBezTo>
                    <a:pt x="66421" y="1594358"/>
                    <a:pt x="0" y="1527937"/>
                    <a:pt x="0" y="144602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2436412" y="7087972"/>
            <a:ext cx="4502363" cy="1903028"/>
            <a:chOff x="0" y="0"/>
            <a:chExt cx="6003150" cy="2537371"/>
          </a:xfrm>
        </p:grpSpPr>
        <p:sp>
          <p:nvSpPr>
            <p:cNvPr id="48" name="Freeform 48" descr="/mnt/data/course_pages/florence-07.png"/>
            <p:cNvSpPr/>
            <p:nvPr/>
          </p:nvSpPr>
          <p:spPr>
            <a:xfrm>
              <a:off x="0" y="0"/>
              <a:ext cx="6003163" cy="2537300"/>
            </a:xfrm>
            <a:custGeom>
              <a:avLst/>
              <a:gdLst/>
              <a:ahLst/>
              <a:cxnLst/>
              <a:rect l="l" t="t" r="r" b="b"/>
              <a:pathLst>
                <a:path w="6003163" h="2537300">
                  <a:moveTo>
                    <a:pt x="0" y="0"/>
                  </a:moveTo>
                  <a:lnTo>
                    <a:pt x="6003163" y="0"/>
                  </a:lnTo>
                  <a:lnTo>
                    <a:pt x="6003163" y="2537300"/>
                  </a:lnTo>
                  <a:lnTo>
                    <a:pt x="0" y="2537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6565" r="-1" b="-16567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</a:p>
        </p:txBody>
      </p:sp>
      <p:sp>
        <p:nvSpPr>
          <p:cNvPr id="55" name="Freeform 55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727" y="1861275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4496" y="2049251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КУРС 3 · SOFT SKILLS FOR STRONG TEACHERS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1948" y="2515957"/>
            <a:ext cx="15923000" cy="164725"/>
            <a:chOff x="0" y="0"/>
            <a:chExt cx="21230666" cy="2196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30667" cy="219628"/>
            </a:xfrm>
            <a:custGeom>
              <a:avLst/>
              <a:gdLst/>
              <a:ahLst/>
              <a:cxnLst/>
              <a:rect l="l" t="t" r="r" b="b"/>
              <a:pathLst>
                <a:path w="21230667" h="219628">
                  <a:moveTo>
                    <a:pt x="0" y="0"/>
                  </a:moveTo>
                  <a:lnTo>
                    <a:pt x="21230667" y="0"/>
                  </a:lnTo>
                  <a:lnTo>
                    <a:pt x="2123066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3552" b="-183355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230666" cy="238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E8FF"/>
                  </a:solidFill>
                  <a:latin typeface="Arial"/>
                  <a:ea typeface="Arial"/>
                  <a:cs typeface="Arial"/>
                  <a:sym typeface="Arial"/>
                </a:rPr>
                <a:t>Меки умения за силни учители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207916" y="2893319"/>
            <a:ext cx="10065139" cy="6492745"/>
            <a:chOff x="0" y="0"/>
            <a:chExt cx="13420185" cy="8656993"/>
          </a:xfrm>
        </p:grpSpPr>
        <p:sp>
          <p:nvSpPr>
            <p:cNvPr id="11" name="Freeform 11" descr="/mnt/data/course_pages/valencia-01.png"/>
            <p:cNvSpPr/>
            <p:nvPr/>
          </p:nvSpPr>
          <p:spPr>
            <a:xfrm>
              <a:off x="0" y="0"/>
              <a:ext cx="13420139" cy="8656955"/>
            </a:xfrm>
            <a:custGeom>
              <a:avLst/>
              <a:gdLst/>
              <a:ahLst/>
              <a:cxnLst/>
              <a:rect l="l" t="t" r="r" b="b"/>
              <a:pathLst>
                <a:path w="13420139" h="8656955">
                  <a:moveTo>
                    <a:pt x="0" y="0"/>
                  </a:moveTo>
                  <a:lnTo>
                    <a:pt x="13420139" y="0"/>
                  </a:lnTo>
                  <a:lnTo>
                    <a:pt x="13420139" y="8656955"/>
                  </a:lnTo>
                  <a:lnTo>
                    <a:pt x="0" y="8656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319" r="-7320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539755" y="3157268"/>
            <a:ext cx="7137892" cy="713360"/>
            <a:chOff x="0" y="0"/>
            <a:chExt cx="9517190" cy="95114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17195" cy="951151"/>
            </a:xfrm>
            <a:custGeom>
              <a:avLst/>
              <a:gdLst/>
              <a:ahLst/>
              <a:cxnLst/>
              <a:rect l="l" t="t" r="r" b="b"/>
              <a:pathLst>
                <a:path w="9517195" h="951151">
                  <a:moveTo>
                    <a:pt x="0" y="0"/>
                  </a:moveTo>
                  <a:lnTo>
                    <a:pt x="9517195" y="0"/>
                  </a:lnTo>
                  <a:lnTo>
                    <a:pt x="9517195" y="951151"/>
                  </a:lnTo>
                  <a:lnTo>
                    <a:pt x="0" y="95115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4558" b="-13537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517190" cy="970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143"/>
                </a:lnSpc>
              </a:pPr>
              <a:r>
                <a:rPr lang="en-US" sz="3452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Меки умения за силни учители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80942" y="3972272"/>
            <a:ext cx="6726098" cy="1088537"/>
            <a:chOff x="0" y="0"/>
            <a:chExt cx="8968130" cy="14513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968126" cy="1451383"/>
            </a:xfrm>
            <a:custGeom>
              <a:avLst/>
              <a:gdLst/>
              <a:ahLst/>
              <a:cxnLst/>
              <a:rect l="l" t="t" r="r" b="b"/>
              <a:pathLst>
                <a:path w="8968126" h="1451383">
                  <a:moveTo>
                    <a:pt x="0" y="0"/>
                  </a:moveTo>
                  <a:lnTo>
                    <a:pt x="8968126" y="0"/>
                  </a:lnTo>
                  <a:lnTo>
                    <a:pt x="8968126" y="1451383"/>
                  </a:lnTo>
                  <a:lnTo>
                    <a:pt x="0" y="145138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5001" b="-6579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8968130" cy="14609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Обучението е насочено към развитие на комуникационни, социални, екипни и личностни умения, необходими за съвременния учител.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0571407" y="5506537"/>
            <a:ext cx="2901677" cy="620383"/>
            <a:chOff x="0" y="0"/>
            <a:chExt cx="3868903" cy="827177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68928" cy="827190"/>
            </a:xfrm>
            <a:custGeom>
              <a:avLst/>
              <a:gdLst/>
              <a:ahLst/>
              <a:cxnLst/>
              <a:rect l="l" t="t" r="r" b="b"/>
              <a:pathLst>
                <a:path w="3868928" h="827190">
                  <a:moveTo>
                    <a:pt x="0" y="196975"/>
                  </a:moveTo>
                  <a:cubicBezTo>
                    <a:pt x="0" y="88235"/>
                    <a:pt x="84709" y="0"/>
                    <a:pt x="189103" y="0"/>
                  </a:cubicBezTo>
                  <a:lnTo>
                    <a:pt x="3679825" y="0"/>
                  </a:lnTo>
                  <a:cubicBezTo>
                    <a:pt x="3784219" y="0"/>
                    <a:pt x="3868928" y="88235"/>
                    <a:pt x="3868928" y="196975"/>
                  </a:cubicBezTo>
                  <a:lnTo>
                    <a:pt x="3868928" y="630215"/>
                  </a:lnTo>
                  <a:cubicBezTo>
                    <a:pt x="3868928" y="738955"/>
                    <a:pt x="3784219" y="827190"/>
                    <a:pt x="3679825" y="827190"/>
                  </a:cubicBezTo>
                  <a:lnTo>
                    <a:pt x="189103" y="827190"/>
                  </a:lnTo>
                  <a:cubicBezTo>
                    <a:pt x="84709" y="827190"/>
                    <a:pt x="0" y="738955"/>
                    <a:pt x="0" y="630215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745657" y="5666601"/>
            <a:ext cx="2553167" cy="324629"/>
            <a:chOff x="0" y="0"/>
            <a:chExt cx="3404222" cy="4328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04227" cy="432834"/>
            </a:xfrm>
            <a:custGeom>
              <a:avLst/>
              <a:gdLst/>
              <a:ahLst/>
              <a:cxnLst/>
              <a:rect l="l" t="t" r="r" b="b"/>
              <a:pathLst>
                <a:path w="3404227" h="432834">
                  <a:moveTo>
                    <a:pt x="0" y="0"/>
                  </a:moveTo>
                  <a:lnTo>
                    <a:pt x="3404227" y="0"/>
                  </a:lnTo>
                  <a:lnTo>
                    <a:pt x="3404227" y="432834"/>
                  </a:lnTo>
                  <a:lnTo>
                    <a:pt x="0" y="43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649" b="-8284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3404222" cy="442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Валенсия, Испания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738088" y="5659448"/>
            <a:ext cx="4118019" cy="339921"/>
            <a:chOff x="0" y="0"/>
            <a:chExt cx="5490693" cy="4532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90690" cy="453223"/>
            </a:xfrm>
            <a:custGeom>
              <a:avLst/>
              <a:gdLst/>
              <a:ahLst/>
              <a:cxnLst/>
              <a:rect l="l" t="t" r="r" b="b"/>
              <a:pathLst>
                <a:path w="5490690" h="453223">
                  <a:moveTo>
                    <a:pt x="0" y="0"/>
                  </a:moveTo>
                  <a:lnTo>
                    <a:pt x="5490690" y="0"/>
                  </a:lnTo>
                  <a:lnTo>
                    <a:pt x="5490690" y="453223"/>
                  </a:lnTo>
                  <a:lnTo>
                    <a:pt x="0" y="453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788" b="-16432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490693" cy="472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20.04.2026 – 25.04.2026 г.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0580942" y="6374363"/>
            <a:ext cx="7824235" cy="500432"/>
            <a:chOff x="0" y="0"/>
            <a:chExt cx="10432313" cy="66724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32311" cy="667248"/>
            </a:xfrm>
            <a:custGeom>
              <a:avLst/>
              <a:gdLst/>
              <a:ahLst/>
              <a:cxnLst/>
              <a:rect l="l" t="t" r="r" b="b"/>
              <a:pathLst>
                <a:path w="10432311" h="667248">
                  <a:moveTo>
                    <a:pt x="0" y="0"/>
                  </a:moveTo>
                  <a:lnTo>
                    <a:pt x="10432311" y="0"/>
                  </a:lnTo>
                  <a:lnTo>
                    <a:pt x="10432311" y="667248"/>
                  </a:lnTo>
                  <a:lnTo>
                    <a:pt x="0" y="6672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644" b="-25264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0432313" cy="6767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9"/>
                </a:lnSpc>
              </a:pPr>
              <a:r>
                <a:rPr lang="en-US" sz="189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Участници: Гергана Узунова; Цветелина Узунова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0786843" y="8149533"/>
            <a:ext cx="6745157" cy="1335289"/>
            <a:chOff x="0" y="0"/>
            <a:chExt cx="8993543" cy="178038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993505" cy="1780319"/>
            </a:xfrm>
            <a:custGeom>
              <a:avLst/>
              <a:gdLst/>
              <a:ahLst/>
              <a:cxnLst/>
              <a:rect l="l" t="t" r="r" b="b"/>
              <a:pathLst>
                <a:path w="8993505" h="1780319">
                  <a:moveTo>
                    <a:pt x="0" y="154776"/>
                  </a:moveTo>
                  <a:cubicBezTo>
                    <a:pt x="0" y="69318"/>
                    <a:pt x="66548" y="0"/>
                    <a:pt x="148590" y="0"/>
                  </a:cubicBezTo>
                  <a:lnTo>
                    <a:pt x="8844915" y="0"/>
                  </a:lnTo>
                  <a:cubicBezTo>
                    <a:pt x="8926957" y="0"/>
                    <a:pt x="8993505" y="69318"/>
                    <a:pt x="8993505" y="154776"/>
                  </a:cubicBezTo>
                  <a:lnTo>
                    <a:pt x="8993505" y="1625543"/>
                  </a:lnTo>
                  <a:cubicBezTo>
                    <a:pt x="8993505" y="1711000"/>
                    <a:pt x="8926957" y="1780319"/>
                    <a:pt x="8844915" y="1780319"/>
                  </a:cubicBezTo>
                  <a:lnTo>
                    <a:pt x="148590" y="1780319"/>
                  </a:lnTo>
                  <a:cubicBezTo>
                    <a:pt x="66548" y="1780319"/>
                    <a:pt x="0" y="1711000"/>
                    <a:pt x="0" y="1625543"/>
                  </a:cubicBezTo>
                  <a:close/>
                </a:path>
              </a:pathLst>
            </a:custGeom>
            <a:solidFill>
              <a:srgbClr val="FFF7E1"/>
            </a:solidFill>
            <a:ln w="19065" cap="sq">
              <a:solidFill>
                <a:srgbClr val="F8E2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098359" y="8416828"/>
            <a:ext cx="1509941" cy="365562"/>
            <a:chOff x="0" y="0"/>
            <a:chExt cx="2013255" cy="48741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013253" cy="487416"/>
            </a:xfrm>
            <a:custGeom>
              <a:avLst/>
              <a:gdLst/>
              <a:ahLst/>
              <a:cxnLst/>
              <a:rect l="l" t="t" r="r" b="b"/>
              <a:pathLst>
                <a:path w="2013253" h="487416">
                  <a:moveTo>
                    <a:pt x="0" y="0"/>
                  </a:moveTo>
                  <a:lnTo>
                    <a:pt x="2013253" y="0"/>
                  </a:lnTo>
                  <a:lnTo>
                    <a:pt x="2013253" y="487416"/>
                  </a:lnTo>
                  <a:lnTo>
                    <a:pt x="0" y="487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442" b="-1052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2013255" cy="5064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Акценти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745574" y="8388225"/>
            <a:ext cx="4461186" cy="738281"/>
            <a:chOff x="0" y="0"/>
            <a:chExt cx="5948248" cy="98437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48247" cy="984374"/>
            </a:xfrm>
            <a:custGeom>
              <a:avLst/>
              <a:gdLst/>
              <a:ahLst/>
              <a:cxnLst/>
              <a:rect l="l" t="t" r="r" b="b"/>
              <a:pathLst>
                <a:path w="5948247" h="984374">
                  <a:moveTo>
                    <a:pt x="0" y="0"/>
                  </a:moveTo>
                  <a:lnTo>
                    <a:pt x="5948247" y="0"/>
                  </a:lnTo>
                  <a:lnTo>
                    <a:pt x="5948247" y="984374"/>
                  </a:lnTo>
                  <a:lnTo>
                    <a:pt x="0" y="98437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5430" b="-4005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19050"/>
              <a:ext cx="5948248" cy="10034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комуникация · лидерство · екипност · управление на времето · стрес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</a:p>
        </p:txBody>
      </p:sp>
      <p:sp>
        <p:nvSpPr>
          <p:cNvPr id="43" name="Freeform 43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0" y="1758567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5610" y="1946543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ВАЛЕНСИЯ · ДЕЙНОСТИ И ПРИДОБИТИ УМЕНИЯ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77884" y="2631210"/>
            <a:ext cx="7633583" cy="6535445"/>
            <a:chOff x="0" y="0"/>
            <a:chExt cx="10178110" cy="87139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178034" cy="8713851"/>
            </a:xfrm>
            <a:custGeom>
              <a:avLst/>
              <a:gdLst/>
              <a:ahLst/>
              <a:cxnLst/>
              <a:rect l="l" t="t" r="r" b="b"/>
              <a:pathLst>
                <a:path w="10178034" h="8713851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031349" y="0"/>
                  </a:lnTo>
                  <a:cubicBezTo>
                    <a:pt x="10112375" y="0"/>
                    <a:pt x="10178034" y="65659"/>
                    <a:pt x="10178034" y="146685"/>
                  </a:cubicBezTo>
                  <a:lnTo>
                    <a:pt x="10178034" y="8567166"/>
                  </a:lnTo>
                  <a:cubicBezTo>
                    <a:pt x="10178034" y="8648192"/>
                    <a:pt x="10112375" y="8713851"/>
                    <a:pt x="10031349" y="8713851"/>
                  </a:cubicBezTo>
                  <a:lnTo>
                    <a:pt x="146685" y="8713851"/>
                  </a:lnTo>
                  <a:cubicBezTo>
                    <a:pt x="65659" y="8713978"/>
                    <a:pt x="0" y="8648192"/>
                    <a:pt x="0" y="856716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3840" y="2819186"/>
            <a:ext cx="9571550" cy="6355471"/>
            <a:chOff x="0" y="0"/>
            <a:chExt cx="12762067" cy="8473961"/>
          </a:xfrm>
        </p:grpSpPr>
        <p:sp>
          <p:nvSpPr>
            <p:cNvPr id="10" name="Freeform 10" descr="/mnt/data/course_pages/valencia-03.png"/>
            <p:cNvSpPr/>
            <p:nvPr/>
          </p:nvSpPr>
          <p:spPr>
            <a:xfrm>
              <a:off x="0" y="0"/>
              <a:ext cx="12762051" cy="8473948"/>
            </a:xfrm>
            <a:custGeom>
              <a:avLst/>
              <a:gdLst/>
              <a:ahLst/>
              <a:cxnLst/>
              <a:rect l="l" t="t" r="r" b="b"/>
              <a:pathLst>
                <a:path w="12762051" h="8473948">
                  <a:moveTo>
                    <a:pt x="0" y="0"/>
                  </a:moveTo>
                  <a:lnTo>
                    <a:pt x="12762051" y="0"/>
                  </a:lnTo>
                  <a:lnTo>
                    <a:pt x="12762051" y="8473948"/>
                  </a:lnTo>
                  <a:lnTo>
                    <a:pt x="0" y="84739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001" r="-9001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77565" y="2669507"/>
            <a:ext cx="8182651" cy="3103769"/>
            <a:chOff x="0" y="0"/>
            <a:chExt cx="10910202" cy="413835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10316" cy="4138422"/>
            </a:xfrm>
            <a:custGeom>
              <a:avLst/>
              <a:gdLst/>
              <a:ahLst/>
              <a:cxnLst/>
              <a:rect l="l" t="t" r="r" b="b"/>
              <a:pathLst>
                <a:path w="10910316" h="4138422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0763124" y="0"/>
                  </a:lnTo>
                  <a:cubicBezTo>
                    <a:pt x="10844403" y="0"/>
                    <a:pt x="10910316" y="65913"/>
                    <a:pt x="10910316" y="147193"/>
                  </a:cubicBezTo>
                  <a:lnTo>
                    <a:pt x="10910316" y="3991229"/>
                  </a:lnTo>
                  <a:cubicBezTo>
                    <a:pt x="10910316" y="4072509"/>
                    <a:pt x="10844403" y="4138422"/>
                    <a:pt x="10763124" y="4138422"/>
                  </a:cubicBezTo>
                  <a:lnTo>
                    <a:pt x="147193" y="4138422"/>
                  </a:lnTo>
                  <a:cubicBezTo>
                    <a:pt x="65913" y="4138295"/>
                    <a:pt x="0" y="4072509"/>
                    <a:pt x="0" y="39912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67547" y="2759490"/>
            <a:ext cx="8002676" cy="2923794"/>
            <a:chOff x="0" y="0"/>
            <a:chExt cx="10670235" cy="3898392"/>
          </a:xfrm>
        </p:grpSpPr>
        <p:sp>
          <p:nvSpPr>
            <p:cNvPr id="14" name="Freeform 14" descr="/mnt/data/course_pages/valencia-04.png"/>
            <p:cNvSpPr/>
            <p:nvPr/>
          </p:nvSpPr>
          <p:spPr>
            <a:xfrm>
              <a:off x="0" y="0"/>
              <a:ext cx="10670286" cy="3898392"/>
            </a:xfrm>
            <a:custGeom>
              <a:avLst/>
              <a:gdLst/>
              <a:ahLst/>
              <a:cxnLst/>
              <a:rect l="l" t="t" r="r" b="b"/>
              <a:pathLst>
                <a:path w="10670286" h="3898392">
                  <a:moveTo>
                    <a:pt x="0" y="0"/>
                  </a:moveTo>
                  <a:lnTo>
                    <a:pt x="10670286" y="0"/>
                  </a:lnTo>
                  <a:lnTo>
                    <a:pt x="10670286" y="3898392"/>
                  </a:lnTo>
                  <a:lnTo>
                    <a:pt x="0" y="38983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7006" b="-27007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975660" y="5973267"/>
            <a:ext cx="183785" cy="595589"/>
            <a:chOff x="0" y="0"/>
            <a:chExt cx="245047" cy="79411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45110" cy="794131"/>
            </a:xfrm>
            <a:custGeom>
              <a:avLst/>
              <a:gdLst/>
              <a:ahLst/>
              <a:cxnLst/>
              <a:rect l="l" t="t" r="r" b="b"/>
              <a:pathLst>
                <a:path w="245110" h="794131">
                  <a:moveTo>
                    <a:pt x="0" y="0"/>
                  </a:moveTo>
                  <a:lnTo>
                    <a:pt x="245110" y="0"/>
                  </a:lnTo>
                  <a:lnTo>
                    <a:pt x="245110" y="794131"/>
                  </a:lnTo>
                  <a:lnTo>
                    <a:pt x="0" y="794131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87175" y="6051429"/>
            <a:ext cx="5216157" cy="247079"/>
            <a:chOff x="0" y="0"/>
            <a:chExt cx="6954876" cy="32943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954873" cy="329441"/>
            </a:xfrm>
            <a:custGeom>
              <a:avLst/>
              <a:gdLst/>
              <a:ahLst/>
              <a:cxnLst/>
              <a:rect l="l" t="t" r="r" b="b"/>
              <a:pathLst>
                <a:path w="6954873" h="329441">
                  <a:moveTo>
                    <a:pt x="0" y="0"/>
                  </a:moveTo>
                  <a:lnTo>
                    <a:pt x="6954873" y="0"/>
                  </a:lnTo>
                  <a:lnTo>
                    <a:pt x="6954873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1351" b="-36135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954876" cy="33896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Ключови резултати от обучението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975660" y="6895426"/>
            <a:ext cx="705402" cy="485775"/>
            <a:chOff x="0" y="0"/>
            <a:chExt cx="940537" cy="647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85185" y="7001048"/>
            <a:ext cx="686333" cy="429664"/>
            <a:chOff x="0" y="0"/>
            <a:chExt cx="915111" cy="5728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055871" y="6932411"/>
            <a:ext cx="7000627" cy="411804"/>
            <a:chOff x="0" y="0"/>
            <a:chExt cx="9334170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9334172" cy="549069"/>
            </a:xfrm>
            <a:custGeom>
              <a:avLst/>
              <a:gdLst/>
              <a:ahLst/>
              <a:cxnLst/>
              <a:rect l="l" t="t" r="r" b="b"/>
              <a:pathLst>
                <a:path w="9334172" h="549069">
                  <a:moveTo>
                    <a:pt x="0" y="0"/>
                  </a:moveTo>
                  <a:lnTo>
                    <a:pt x="9334172" y="0"/>
                  </a:lnTo>
                  <a:lnTo>
                    <a:pt x="933417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9334170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усъвършенстване на активното слушане и ефективната комуникация;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975660" y="7664122"/>
            <a:ext cx="705402" cy="485775"/>
            <a:chOff x="0" y="0"/>
            <a:chExt cx="940537" cy="647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985185" y="7769745"/>
            <a:ext cx="686333" cy="429664"/>
            <a:chOff x="0" y="0"/>
            <a:chExt cx="915111" cy="57288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055871" y="7701107"/>
            <a:ext cx="7000627" cy="411804"/>
            <a:chOff x="0" y="0"/>
            <a:chExt cx="9334170" cy="549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334172" cy="549069"/>
            </a:xfrm>
            <a:custGeom>
              <a:avLst/>
              <a:gdLst/>
              <a:ahLst/>
              <a:cxnLst/>
              <a:rect l="l" t="t" r="r" b="b"/>
              <a:pathLst>
                <a:path w="9334172" h="549069">
                  <a:moveTo>
                    <a:pt x="0" y="0"/>
                  </a:moveTo>
                  <a:lnTo>
                    <a:pt x="9334172" y="0"/>
                  </a:lnTo>
                  <a:lnTo>
                    <a:pt x="933417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9334170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практически ролеви игри и задачи за работа в екип;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975660" y="8432818"/>
            <a:ext cx="705402" cy="485775"/>
            <a:chOff x="0" y="0"/>
            <a:chExt cx="940537" cy="647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9985185" y="8538441"/>
            <a:ext cx="686333" cy="429664"/>
            <a:chOff x="0" y="0"/>
            <a:chExt cx="915111" cy="57288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055871" y="8469803"/>
            <a:ext cx="7000627" cy="411804"/>
            <a:chOff x="0" y="0"/>
            <a:chExt cx="9334170" cy="549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334172" cy="549069"/>
            </a:xfrm>
            <a:custGeom>
              <a:avLst/>
              <a:gdLst/>
              <a:ahLst/>
              <a:cxnLst/>
              <a:rect l="l" t="t" r="r" b="b"/>
              <a:pathLst>
                <a:path w="9334172" h="549069">
                  <a:moveTo>
                    <a:pt x="0" y="0"/>
                  </a:moveTo>
                  <a:lnTo>
                    <a:pt x="9334172" y="0"/>
                  </a:lnTo>
                  <a:lnTo>
                    <a:pt x="933417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9334170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техники за управление на стреса, осъзнатост и емоционално благополучие;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9975660" y="9201514"/>
            <a:ext cx="705402" cy="485775"/>
            <a:chOff x="0" y="0"/>
            <a:chExt cx="940537" cy="6477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9985185" y="9307137"/>
            <a:ext cx="686333" cy="429664"/>
            <a:chOff x="0" y="0"/>
            <a:chExt cx="915111" cy="57288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055871" y="9238500"/>
            <a:ext cx="7000627" cy="411804"/>
            <a:chOff x="0" y="0"/>
            <a:chExt cx="9334170" cy="549072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334172" cy="549069"/>
            </a:xfrm>
            <a:custGeom>
              <a:avLst/>
              <a:gdLst/>
              <a:ahLst/>
              <a:cxnLst/>
              <a:rect l="l" t="t" r="r" b="b"/>
              <a:pathLst>
                <a:path w="9334172" h="549069">
                  <a:moveTo>
                    <a:pt x="0" y="0"/>
                  </a:moveTo>
                  <a:lnTo>
                    <a:pt x="9334172" y="0"/>
                  </a:lnTo>
                  <a:lnTo>
                    <a:pt x="9334172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245" b="-28124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9334170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развитие на креативност, критично мислене и сътрудничество.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</a:p>
        </p:txBody>
      </p:sp>
      <p:sp>
        <p:nvSpPr>
          <p:cNvPr id="58" name="Freeform 58"/>
          <p:cNvSpPr/>
          <p:nvPr/>
        </p:nvSpPr>
        <p:spPr>
          <a:xfrm>
            <a:off x="13840" y="0"/>
            <a:ext cx="18297535" cy="1758567"/>
          </a:xfrm>
          <a:custGeom>
            <a:avLst/>
            <a:gdLst/>
            <a:ahLst/>
            <a:cxnLst/>
            <a:rect l="l" t="t" r="r" b="b"/>
            <a:pathLst>
              <a:path w="18297535" h="1758567">
                <a:moveTo>
                  <a:pt x="0" y="0"/>
                </a:moveTo>
                <a:lnTo>
                  <a:pt x="18297534" y="0"/>
                </a:lnTo>
                <a:lnTo>
                  <a:pt x="18297534" y="1758567"/>
                </a:lnTo>
                <a:lnTo>
                  <a:pt x="0" y="17585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11547" b="-135062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1770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ВАЛЕНСИЯ · ПРИЛОЖЕНИЕ В УЧИЛИЩНАТА СРЕДА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8137" y="2948444"/>
            <a:ext cx="16060264" cy="907181"/>
            <a:chOff x="0" y="0"/>
            <a:chExt cx="21413686" cy="12095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413690" cy="1209580"/>
            </a:xfrm>
            <a:custGeom>
              <a:avLst/>
              <a:gdLst/>
              <a:ahLst/>
              <a:cxnLst/>
              <a:rect l="l" t="t" r="r" b="b"/>
              <a:pathLst>
                <a:path w="21413690" h="1209580">
                  <a:moveTo>
                    <a:pt x="0" y="0"/>
                  </a:moveTo>
                  <a:lnTo>
                    <a:pt x="21413690" y="0"/>
                  </a:lnTo>
                  <a:lnTo>
                    <a:pt x="21413690" y="1209580"/>
                  </a:lnTo>
                  <a:lnTo>
                    <a:pt x="0" y="1209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472" b="-27143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413686" cy="1228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6"/>
                </a:lnSpc>
              </a:pPr>
              <a:r>
                <a:rPr lang="en-US" sz="229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Меките умения подкрепят не само преподаването, но и цялостната училищна комуникация, работа в екип и позитивен климат.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71920" y="4124077"/>
            <a:ext cx="5162769" cy="3421313"/>
            <a:chOff x="0" y="0"/>
            <a:chExt cx="6883692" cy="456175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883781" cy="4561815"/>
            </a:xfrm>
            <a:custGeom>
              <a:avLst/>
              <a:gdLst/>
              <a:ahLst/>
              <a:cxnLst/>
              <a:rect l="l" t="t" r="r" b="b"/>
              <a:pathLst>
                <a:path w="6883781" h="4561815">
                  <a:moveTo>
                    <a:pt x="0" y="135205"/>
                  </a:moveTo>
                  <a:cubicBezTo>
                    <a:pt x="0" y="60480"/>
                    <a:pt x="65786" y="0"/>
                    <a:pt x="147066" y="0"/>
                  </a:cubicBezTo>
                  <a:lnTo>
                    <a:pt x="6736715" y="0"/>
                  </a:lnTo>
                  <a:cubicBezTo>
                    <a:pt x="6817868" y="0"/>
                    <a:pt x="6883781" y="60480"/>
                    <a:pt x="6883781" y="135205"/>
                  </a:cubicBezTo>
                  <a:lnTo>
                    <a:pt x="6883781" y="4426605"/>
                  </a:lnTo>
                  <a:cubicBezTo>
                    <a:pt x="6883781" y="4501213"/>
                    <a:pt x="6817995" y="4561815"/>
                    <a:pt x="6736715" y="4561815"/>
                  </a:cubicBezTo>
                  <a:lnTo>
                    <a:pt x="147066" y="4561815"/>
                  </a:lnTo>
                  <a:cubicBezTo>
                    <a:pt x="65786" y="4561815"/>
                    <a:pt x="0" y="4501213"/>
                    <a:pt x="0" y="442660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70015" y="4122325"/>
            <a:ext cx="5166589" cy="118488"/>
            <a:chOff x="0" y="0"/>
            <a:chExt cx="6888785" cy="1579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888734" cy="157972"/>
            </a:xfrm>
            <a:custGeom>
              <a:avLst/>
              <a:gdLst/>
              <a:ahLst/>
              <a:cxnLst/>
              <a:rect l="l" t="t" r="r" b="b"/>
              <a:pathLst>
                <a:path w="6888734" h="157972">
                  <a:moveTo>
                    <a:pt x="0" y="0"/>
                  </a:moveTo>
                  <a:lnTo>
                    <a:pt x="6888734" y="0"/>
                  </a:lnTo>
                  <a:lnTo>
                    <a:pt x="6888734" y="157972"/>
                  </a:lnTo>
                  <a:lnTo>
                    <a:pt x="0" y="157972"/>
                  </a:ln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26628" y="4194634"/>
            <a:ext cx="4653363" cy="506028"/>
            <a:chOff x="0" y="0"/>
            <a:chExt cx="6204483" cy="6747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204479" cy="674705"/>
            </a:xfrm>
            <a:custGeom>
              <a:avLst/>
              <a:gdLst/>
              <a:ahLst/>
              <a:cxnLst/>
              <a:rect l="l" t="t" r="r" b="b"/>
              <a:pathLst>
                <a:path w="6204479" h="674705">
                  <a:moveTo>
                    <a:pt x="0" y="0"/>
                  </a:moveTo>
                  <a:lnTo>
                    <a:pt x="6204479" y="0"/>
                  </a:lnTo>
                  <a:lnTo>
                    <a:pt x="6204479" y="674705"/>
                  </a:lnTo>
                  <a:lnTo>
                    <a:pt x="0" y="674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629" b="-11173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6204483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42"/>
                </a:lnSpc>
              </a:pPr>
              <a:r>
                <a:rPr lang="en-US" sz="2451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В класната стая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26628" y="4863025"/>
            <a:ext cx="4653363" cy="2460827"/>
            <a:chOff x="0" y="0"/>
            <a:chExt cx="6204483" cy="32811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204479" cy="3281098"/>
            </a:xfrm>
            <a:custGeom>
              <a:avLst/>
              <a:gdLst/>
              <a:ahLst/>
              <a:cxnLst/>
              <a:rect l="l" t="t" r="r" b="b"/>
              <a:pathLst>
                <a:path w="6204479" h="3281098">
                  <a:moveTo>
                    <a:pt x="0" y="0"/>
                  </a:moveTo>
                  <a:lnTo>
                    <a:pt x="6204479" y="0"/>
                  </a:lnTo>
                  <a:lnTo>
                    <a:pt x="6204479" y="3281098"/>
                  </a:lnTo>
                  <a:lnTo>
                    <a:pt x="0" y="3281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03" r="-23803" b="-87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6204483" cy="3290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дейности за доверие, диалог, активно участие и съвместно решаване на проблеми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562606" y="4124077"/>
            <a:ext cx="5162769" cy="3421313"/>
            <a:chOff x="0" y="0"/>
            <a:chExt cx="6883692" cy="456175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6883781" cy="4561815"/>
            </a:xfrm>
            <a:custGeom>
              <a:avLst/>
              <a:gdLst/>
              <a:ahLst/>
              <a:cxnLst/>
              <a:rect l="l" t="t" r="r" b="b"/>
              <a:pathLst>
                <a:path w="6883781" h="4561815">
                  <a:moveTo>
                    <a:pt x="0" y="135205"/>
                  </a:moveTo>
                  <a:cubicBezTo>
                    <a:pt x="0" y="60480"/>
                    <a:pt x="65786" y="0"/>
                    <a:pt x="147066" y="0"/>
                  </a:cubicBezTo>
                  <a:lnTo>
                    <a:pt x="6736715" y="0"/>
                  </a:lnTo>
                  <a:cubicBezTo>
                    <a:pt x="6817868" y="0"/>
                    <a:pt x="6883781" y="60480"/>
                    <a:pt x="6883781" y="135205"/>
                  </a:cubicBezTo>
                  <a:lnTo>
                    <a:pt x="6883781" y="4426605"/>
                  </a:lnTo>
                  <a:cubicBezTo>
                    <a:pt x="6883781" y="4501213"/>
                    <a:pt x="6817995" y="4561815"/>
                    <a:pt x="6736715" y="4561815"/>
                  </a:cubicBezTo>
                  <a:lnTo>
                    <a:pt x="147066" y="4561815"/>
                  </a:lnTo>
                  <a:cubicBezTo>
                    <a:pt x="65786" y="4561815"/>
                    <a:pt x="0" y="4501213"/>
                    <a:pt x="0" y="442660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60701" y="4122325"/>
            <a:ext cx="5166589" cy="118488"/>
            <a:chOff x="0" y="0"/>
            <a:chExt cx="6888785" cy="15798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888734" cy="157972"/>
            </a:xfrm>
            <a:custGeom>
              <a:avLst/>
              <a:gdLst/>
              <a:ahLst/>
              <a:cxnLst/>
              <a:rect l="l" t="t" r="r" b="b"/>
              <a:pathLst>
                <a:path w="6888734" h="157972">
                  <a:moveTo>
                    <a:pt x="0" y="0"/>
                  </a:moveTo>
                  <a:lnTo>
                    <a:pt x="6888734" y="0"/>
                  </a:lnTo>
                  <a:lnTo>
                    <a:pt x="6888734" y="157972"/>
                  </a:lnTo>
                  <a:lnTo>
                    <a:pt x="0" y="157972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17314" y="4194634"/>
            <a:ext cx="4653363" cy="506028"/>
            <a:chOff x="0" y="0"/>
            <a:chExt cx="6204483" cy="6747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04479" cy="674705"/>
            </a:xfrm>
            <a:custGeom>
              <a:avLst/>
              <a:gdLst/>
              <a:ahLst/>
              <a:cxnLst/>
              <a:rect l="l" t="t" r="r" b="b"/>
              <a:pathLst>
                <a:path w="6204479" h="674705">
                  <a:moveTo>
                    <a:pt x="0" y="0"/>
                  </a:moveTo>
                  <a:lnTo>
                    <a:pt x="6204479" y="0"/>
                  </a:lnTo>
                  <a:lnTo>
                    <a:pt x="6204479" y="674705"/>
                  </a:lnTo>
                  <a:lnTo>
                    <a:pt x="0" y="674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629" b="-11173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6204483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42"/>
                </a:lnSpc>
              </a:pPr>
              <a:r>
                <a:rPr lang="en-US" sz="24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В учителския екип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17314" y="4863025"/>
            <a:ext cx="4653363" cy="2460827"/>
            <a:chOff x="0" y="0"/>
            <a:chExt cx="6204483" cy="328110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204479" cy="3281098"/>
            </a:xfrm>
            <a:custGeom>
              <a:avLst/>
              <a:gdLst/>
              <a:ahLst/>
              <a:cxnLst/>
              <a:rect l="l" t="t" r="r" b="b"/>
              <a:pathLst>
                <a:path w="6204479" h="3281098">
                  <a:moveTo>
                    <a:pt x="0" y="0"/>
                  </a:moveTo>
                  <a:lnTo>
                    <a:pt x="6204479" y="0"/>
                  </a:lnTo>
                  <a:lnTo>
                    <a:pt x="6204479" y="3281098"/>
                  </a:lnTo>
                  <a:lnTo>
                    <a:pt x="0" y="3281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03" r="-23803" b="-87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6204483" cy="3290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по-добра комуникация, споделяне на отговорности, обратна връзка и сътрудничество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053302" y="4124077"/>
            <a:ext cx="5162769" cy="3421313"/>
            <a:chOff x="0" y="0"/>
            <a:chExt cx="6883692" cy="456175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883781" cy="4561815"/>
            </a:xfrm>
            <a:custGeom>
              <a:avLst/>
              <a:gdLst/>
              <a:ahLst/>
              <a:cxnLst/>
              <a:rect l="l" t="t" r="r" b="b"/>
              <a:pathLst>
                <a:path w="6883781" h="4561815">
                  <a:moveTo>
                    <a:pt x="0" y="135205"/>
                  </a:moveTo>
                  <a:cubicBezTo>
                    <a:pt x="0" y="60480"/>
                    <a:pt x="65786" y="0"/>
                    <a:pt x="147066" y="0"/>
                  </a:cubicBezTo>
                  <a:lnTo>
                    <a:pt x="6736715" y="0"/>
                  </a:lnTo>
                  <a:cubicBezTo>
                    <a:pt x="6817868" y="0"/>
                    <a:pt x="6883781" y="60480"/>
                    <a:pt x="6883781" y="135205"/>
                  </a:cubicBezTo>
                  <a:lnTo>
                    <a:pt x="6883781" y="4426605"/>
                  </a:lnTo>
                  <a:cubicBezTo>
                    <a:pt x="6883781" y="4501213"/>
                    <a:pt x="6817995" y="4561815"/>
                    <a:pt x="6736715" y="4561815"/>
                  </a:cubicBezTo>
                  <a:lnTo>
                    <a:pt x="147066" y="4561815"/>
                  </a:lnTo>
                  <a:cubicBezTo>
                    <a:pt x="65786" y="4561815"/>
                    <a:pt x="0" y="4501213"/>
                    <a:pt x="0" y="442660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051397" y="4122325"/>
            <a:ext cx="5166589" cy="118488"/>
            <a:chOff x="0" y="0"/>
            <a:chExt cx="6888785" cy="15798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888734" cy="157972"/>
            </a:xfrm>
            <a:custGeom>
              <a:avLst/>
              <a:gdLst/>
              <a:ahLst/>
              <a:cxnLst/>
              <a:rect l="l" t="t" r="r" b="b"/>
              <a:pathLst>
                <a:path w="6888734" h="157972">
                  <a:moveTo>
                    <a:pt x="0" y="0"/>
                  </a:moveTo>
                  <a:lnTo>
                    <a:pt x="6888734" y="0"/>
                  </a:lnTo>
                  <a:lnTo>
                    <a:pt x="6888734" y="157972"/>
                  </a:lnTo>
                  <a:lnTo>
                    <a:pt x="0" y="157972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308010" y="4194634"/>
            <a:ext cx="4653363" cy="506028"/>
            <a:chOff x="0" y="0"/>
            <a:chExt cx="6204483" cy="6747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204479" cy="674705"/>
            </a:xfrm>
            <a:custGeom>
              <a:avLst/>
              <a:gdLst/>
              <a:ahLst/>
              <a:cxnLst/>
              <a:rect l="l" t="t" r="r" b="b"/>
              <a:pathLst>
                <a:path w="6204479" h="674705">
                  <a:moveTo>
                    <a:pt x="0" y="0"/>
                  </a:moveTo>
                  <a:lnTo>
                    <a:pt x="6204479" y="0"/>
                  </a:lnTo>
                  <a:lnTo>
                    <a:pt x="6204479" y="674705"/>
                  </a:lnTo>
                  <a:lnTo>
                    <a:pt x="0" y="674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6629" b="-11173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6204483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42"/>
                </a:lnSpc>
              </a:pPr>
              <a:r>
                <a:rPr lang="en-US" sz="24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За личната ефективност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308010" y="4863025"/>
            <a:ext cx="4653363" cy="2460827"/>
            <a:chOff x="0" y="0"/>
            <a:chExt cx="6204483" cy="328110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204479" cy="3281098"/>
            </a:xfrm>
            <a:custGeom>
              <a:avLst/>
              <a:gdLst/>
              <a:ahLst/>
              <a:cxnLst/>
              <a:rect l="l" t="t" r="r" b="b"/>
              <a:pathLst>
                <a:path w="6204479" h="3281098">
                  <a:moveTo>
                    <a:pt x="0" y="0"/>
                  </a:moveTo>
                  <a:lnTo>
                    <a:pt x="6204479" y="0"/>
                  </a:lnTo>
                  <a:lnTo>
                    <a:pt x="6204479" y="3281098"/>
                  </a:lnTo>
                  <a:lnTo>
                    <a:pt x="0" y="32810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803" r="-23803" b="-87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6204483" cy="32906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71"/>
                </a:lnSpc>
              </a:pPr>
              <a:r>
                <a:rPr lang="en-US" sz="22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управление на времето, стреса и емоционалната устойчивост в професионалната среда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524492" y="7707315"/>
            <a:ext cx="14866039" cy="3580395"/>
            <a:chOff x="0" y="0"/>
            <a:chExt cx="19821385" cy="4773860"/>
          </a:xfrm>
        </p:grpSpPr>
        <p:sp>
          <p:nvSpPr>
            <p:cNvPr id="41" name="Freeform 41" descr="/mnt/data/course_pages/valencia-11.png"/>
            <p:cNvSpPr/>
            <p:nvPr/>
          </p:nvSpPr>
          <p:spPr>
            <a:xfrm>
              <a:off x="0" y="0"/>
              <a:ext cx="19821398" cy="4773911"/>
            </a:xfrm>
            <a:custGeom>
              <a:avLst/>
              <a:gdLst/>
              <a:ahLst/>
              <a:cxnLst/>
              <a:rect l="l" t="t" r="r" b="b"/>
              <a:pathLst>
                <a:path w="19821398" h="4773911">
                  <a:moveTo>
                    <a:pt x="0" y="0"/>
                  </a:moveTo>
                  <a:lnTo>
                    <a:pt x="19821398" y="0"/>
                  </a:lnTo>
                  <a:lnTo>
                    <a:pt x="19821398" y="4773911"/>
                  </a:lnTo>
                  <a:lnTo>
                    <a:pt x="0" y="47739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6816" b="-6681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</a:p>
        </p:txBody>
      </p:sp>
      <p:sp>
        <p:nvSpPr>
          <p:cNvPr id="48" name="Freeform 48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25144" y="2063439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КУРС 4 · AI AND THE 6Cs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52595" y="2530145"/>
            <a:ext cx="15923000" cy="164725"/>
            <a:chOff x="0" y="0"/>
            <a:chExt cx="21230666" cy="21963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30667" cy="219628"/>
            </a:xfrm>
            <a:custGeom>
              <a:avLst/>
              <a:gdLst/>
              <a:ahLst/>
              <a:cxnLst/>
              <a:rect l="l" t="t" r="r" b="b"/>
              <a:pathLst>
                <a:path w="21230667" h="219628">
                  <a:moveTo>
                    <a:pt x="0" y="0"/>
                  </a:moveTo>
                  <a:lnTo>
                    <a:pt x="21230667" y="0"/>
                  </a:lnTo>
                  <a:lnTo>
                    <a:pt x="21230667" y="219628"/>
                  </a:lnTo>
                  <a:lnTo>
                    <a:pt x="0" y="2196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3552" b="-183355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230666" cy="2386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D9E8FF"/>
                  </a:solidFill>
                  <a:latin typeface="Arial"/>
                  <a:ea typeface="Arial"/>
                  <a:cs typeface="Arial"/>
                  <a:sym typeface="Arial"/>
                </a:rPr>
                <a:t>Future-Ready Teaching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50079" y="3302345"/>
            <a:ext cx="10878389" cy="5955955"/>
            <a:chOff x="0" y="0"/>
            <a:chExt cx="12324315" cy="6747605"/>
          </a:xfrm>
        </p:grpSpPr>
        <p:sp>
          <p:nvSpPr>
            <p:cNvPr id="11" name="Freeform 11" descr="/mnt/data/course_pages/rome-2.png"/>
            <p:cNvSpPr/>
            <p:nvPr/>
          </p:nvSpPr>
          <p:spPr>
            <a:xfrm>
              <a:off x="0" y="0"/>
              <a:ext cx="12324272" cy="6747575"/>
            </a:xfrm>
            <a:custGeom>
              <a:avLst/>
              <a:gdLst/>
              <a:ahLst/>
              <a:cxnLst/>
              <a:rect l="l" t="t" r="r" b="b"/>
              <a:pathLst>
                <a:path w="12324272" h="6747575">
                  <a:moveTo>
                    <a:pt x="0" y="0"/>
                  </a:moveTo>
                  <a:lnTo>
                    <a:pt x="12324272" y="0"/>
                  </a:lnTo>
                  <a:lnTo>
                    <a:pt x="12324272" y="6747575"/>
                  </a:lnTo>
                  <a:lnTo>
                    <a:pt x="0" y="67475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87" b="-1387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295168" y="3071822"/>
            <a:ext cx="7137892" cy="1214066"/>
            <a:chOff x="0" y="0"/>
            <a:chExt cx="9517190" cy="16187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517195" cy="1618746"/>
            </a:xfrm>
            <a:custGeom>
              <a:avLst/>
              <a:gdLst/>
              <a:ahLst/>
              <a:cxnLst/>
              <a:rect l="l" t="t" r="r" b="b"/>
              <a:pathLst>
                <a:path w="9517195" h="1618746">
                  <a:moveTo>
                    <a:pt x="0" y="0"/>
                  </a:moveTo>
                  <a:lnTo>
                    <a:pt x="9517195" y="0"/>
                  </a:lnTo>
                  <a:lnTo>
                    <a:pt x="9517195" y="1618746"/>
                  </a:lnTo>
                  <a:lnTo>
                    <a:pt x="0" y="161874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639" b="-4847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19050"/>
              <a:ext cx="9517190" cy="1637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053"/>
                </a:lnSpc>
              </a:pPr>
              <a:r>
                <a:rPr lang="en-US" sz="3377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and the 6 C’s for Future-Ready Teaching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336355" y="4156864"/>
            <a:ext cx="6726098" cy="1088537"/>
            <a:chOff x="0" y="0"/>
            <a:chExt cx="8968130" cy="14513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968126" cy="1451379"/>
            </a:xfrm>
            <a:custGeom>
              <a:avLst/>
              <a:gdLst/>
              <a:ahLst/>
              <a:cxnLst/>
              <a:rect l="l" t="t" r="r" b="b"/>
              <a:pathLst>
                <a:path w="8968126" h="1451379">
                  <a:moveTo>
                    <a:pt x="0" y="0"/>
                  </a:moveTo>
                  <a:lnTo>
                    <a:pt x="8968126" y="0"/>
                  </a:lnTo>
                  <a:lnTo>
                    <a:pt x="8968126" y="1451379"/>
                  </a:lnTo>
                  <a:lnTo>
                    <a:pt x="0" y="145137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306" b="-5949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8968130" cy="14609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57"/>
                </a:lnSpc>
              </a:pPr>
              <a:r>
                <a:rPr lang="en-US" sz="21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Курсът съчетава компетентностите на бъдещето с възможностите на изкуствения интелект и поставя акцент върху етичната му употреба.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326820" y="5496807"/>
            <a:ext cx="2901677" cy="621467"/>
            <a:chOff x="0" y="0"/>
            <a:chExt cx="3868903" cy="82862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868928" cy="828636"/>
            </a:xfrm>
            <a:custGeom>
              <a:avLst/>
              <a:gdLst/>
              <a:ahLst/>
              <a:cxnLst/>
              <a:rect l="l" t="t" r="r" b="b"/>
              <a:pathLst>
                <a:path w="3868928" h="828636">
                  <a:moveTo>
                    <a:pt x="0" y="197320"/>
                  </a:moveTo>
                  <a:cubicBezTo>
                    <a:pt x="0" y="88390"/>
                    <a:pt x="84709" y="0"/>
                    <a:pt x="189103" y="0"/>
                  </a:cubicBezTo>
                  <a:lnTo>
                    <a:pt x="3679825" y="0"/>
                  </a:lnTo>
                  <a:cubicBezTo>
                    <a:pt x="3784219" y="0"/>
                    <a:pt x="3868928" y="88390"/>
                    <a:pt x="3868928" y="197320"/>
                  </a:cubicBezTo>
                  <a:lnTo>
                    <a:pt x="3868928" y="631317"/>
                  </a:lnTo>
                  <a:cubicBezTo>
                    <a:pt x="3868928" y="740247"/>
                    <a:pt x="3784219" y="828636"/>
                    <a:pt x="3679825" y="828636"/>
                  </a:cubicBezTo>
                  <a:lnTo>
                    <a:pt x="189103" y="828636"/>
                  </a:lnTo>
                  <a:cubicBezTo>
                    <a:pt x="84709" y="828636"/>
                    <a:pt x="0" y="740247"/>
                    <a:pt x="0" y="631317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501070" y="5651832"/>
            <a:ext cx="2553167" cy="324629"/>
            <a:chOff x="0" y="0"/>
            <a:chExt cx="3404222" cy="4328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404227" cy="432834"/>
            </a:xfrm>
            <a:custGeom>
              <a:avLst/>
              <a:gdLst/>
              <a:ahLst/>
              <a:cxnLst/>
              <a:rect l="l" t="t" r="r" b="b"/>
              <a:pathLst>
                <a:path w="3404227" h="432834">
                  <a:moveTo>
                    <a:pt x="0" y="0"/>
                  </a:moveTo>
                  <a:lnTo>
                    <a:pt x="3404227" y="0"/>
                  </a:lnTo>
                  <a:lnTo>
                    <a:pt x="3404227" y="432834"/>
                  </a:lnTo>
                  <a:lnTo>
                    <a:pt x="0" y="4328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649" b="-8284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3404222" cy="4423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1"/>
                </a:lnSpc>
              </a:pPr>
              <a:r>
                <a:rPr lang="en-US" sz="1576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Рим, Италия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493502" y="5644415"/>
            <a:ext cx="4118019" cy="339921"/>
            <a:chOff x="0" y="0"/>
            <a:chExt cx="5490693" cy="4532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490690" cy="453223"/>
            </a:xfrm>
            <a:custGeom>
              <a:avLst/>
              <a:gdLst/>
              <a:ahLst/>
              <a:cxnLst/>
              <a:rect l="l" t="t" r="r" b="b"/>
              <a:pathLst>
                <a:path w="5490690" h="453223">
                  <a:moveTo>
                    <a:pt x="0" y="0"/>
                  </a:moveTo>
                  <a:lnTo>
                    <a:pt x="5490690" y="0"/>
                  </a:lnTo>
                  <a:lnTo>
                    <a:pt x="5490690" y="453223"/>
                  </a:lnTo>
                  <a:lnTo>
                    <a:pt x="0" y="4532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7788" b="-16432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490693" cy="4722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23.03.2026 – 29.03.2026 г.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336355" y="6366149"/>
            <a:ext cx="7824235" cy="501307"/>
            <a:chOff x="0" y="0"/>
            <a:chExt cx="10432313" cy="66840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432311" cy="668414"/>
            </a:xfrm>
            <a:custGeom>
              <a:avLst/>
              <a:gdLst/>
              <a:ahLst/>
              <a:cxnLst/>
              <a:rect l="l" t="t" r="r" b="b"/>
              <a:pathLst>
                <a:path w="10432311" h="668414">
                  <a:moveTo>
                    <a:pt x="0" y="0"/>
                  </a:moveTo>
                  <a:lnTo>
                    <a:pt x="10432311" y="0"/>
                  </a:lnTo>
                  <a:lnTo>
                    <a:pt x="10432311" y="668414"/>
                  </a:lnTo>
                  <a:lnTo>
                    <a:pt x="0" y="66841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196" b="-25203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10432313" cy="6779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69"/>
                </a:lnSpc>
              </a:pPr>
              <a:r>
                <a:rPr lang="en-US" sz="189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Участници: Нина Стоицова; Зорка Милчева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636621" y="7021942"/>
            <a:ext cx="3974391" cy="2236358"/>
            <a:chOff x="0" y="0"/>
            <a:chExt cx="3675469" cy="2068157"/>
          </a:xfrm>
        </p:grpSpPr>
        <p:sp>
          <p:nvSpPr>
            <p:cNvPr id="30" name="Freeform 30" descr="/mnt/data/course_pages/rome-1.png"/>
            <p:cNvSpPr/>
            <p:nvPr/>
          </p:nvSpPr>
          <p:spPr>
            <a:xfrm>
              <a:off x="0" y="0"/>
              <a:ext cx="3675507" cy="2068195"/>
            </a:xfrm>
            <a:custGeom>
              <a:avLst/>
              <a:gdLst/>
              <a:ahLst/>
              <a:cxnLst/>
              <a:rect l="l" t="t" r="r" b="b"/>
              <a:pathLst>
                <a:path w="3675507" h="2068195">
                  <a:moveTo>
                    <a:pt x="0" y="0"/>
                  </a:moveTo>
                  <a:lnTo>
                    <a:pt x="3675507" y="0"/>
                  </a:lnTo>
                  <a:lnTo>
                    <a:pt x="3675507" y="2068195"/>
                  </a:lnTo>
                  <a:lnTo>
                    <a:pt x="0" y="2068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1" b="1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</a:p>
        </p:txBody>
      </p:sp>
      <p:sp>
        <p:nvSpPr>
          <p:cNvPr id="37" name="Freeform 37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2909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68861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РИМ · AI, 6Cs И ЕТИЧНИ АСПЕКТИ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3235" y="4201498"/>
            <a:ext cx="7713674" cy="4432609"/>
            <a:chOff x="0" y="0"/>
            <a:chExt cx="10284898" cy="5910146"/>
          </a:xfrm>
        </p:grpSpPr>
        <p:sp>
          <p:nvSpPr>
            <p:cNvPr id="8" name="Freeform 8" descr="/mnt/data/course_pages/rome-6.png"/>
            <p:cNvSpPr/>
            <p:nvPr/>
          </p:nvSpPr>
          <p:spPr>
            <a:xfrm>
              <a:off x="0" y="0"/>
              <a:ext cx="10284850" cy="5910184"/>
            </a:xfrm>
            <a:custGeom>
              <a:avLst/>
              <a:gdLst/>
              <a:ahLst/>
              <a:cxnLst/>
              <a:rect l="l" t="t" r="r" b="b"/>
              <a:pathLst>
                <a:path w="10284850" h="5910184">
                  <a:moveTo>
                    <a:pt x="0" y="0"/>
                  </a:moveTo>
                  <a:lnTo>
                    <a:pt x="10284850" y="0"/>
                  </a:lnTo>
                  <a:lnTo>
                    <a:pt x="10284850" y="5910184"/>
                  </a:lnTo>
                  <a:lnTo>
                    <a:pt x="0" y="59101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62" r="-1062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66509" y="3452868"/>
            <a:ext cx="4068451" cy="925030"/>
            <a:chOff x="0" y="0"/>
            <a:chExt cx="5424602" cy="123337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24551" cy="1233424"/>
            </a:xfrm>
            <a:custGeom>
              <a:avLst/>
              <a:gdLst/>
              <a:ahLst/>
              <a:cxnLst/>
              <a:rect l="l" t="t" r="r" b="b"/>
              <a:pathLst>
                <a:path w="5424551" h="1233424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5162931" y="0"/>
                  </a:lnTo>
                  <a:cubicBezTo>
                    <a:pt x="5307457" y="0"/>
                    <a:pt x="5424551" y="117094"/>
                    <a:pt x="5424551" y="261620"/>
                  </a:cubicBezTo>
                  <a:lnTo>
                    <a:pt x="5424551" y="971804"/>
                  </a:lnTo>
                  <a:cubicBezTo>
                    <a:pt x="5424551" y="1116330"/>
                    <a:pt x="5307457" y="1233424"/>
                    <a:pt x="5162931" y="1233424"/>
                  </a:cubicBezTo>
                  <a:lnTo>
                    <a:pt x="261620" y="1233424"/>
                  </a:lnTo>
                  <a:cubicBezTo>
                    <a:pt x="117094" y="1233424"/>
                    <a:pt x="0" y="1116203"/>
                    <a:pt x="0" y="97180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81945" y="3736932"/>
            <a:ext cx="3637578" cy="428003"/>
            <a:chOff x="0" y="0"/>
            <a:chExt cx="4850105" cy="57067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50109" cy="570660"/>
            </a:xfrm>
            <a:custGeom>
              <a:avLst/>
              <a:gdLst/>
              <a:ahLst/>
              <a:cxnLst/>
              <a:rect l="l" t="t" r="r" b="b"/>
              <a:pathLst>
                <a:path w="4850109" h="570660">
                  <a:moveTo>
                    <a:pt x="0" y="0"/>
                  </a:moveTo>
                  <a:lnTo>
                    <a:pt x="4850109" y="0"/>
                  </a:lnTo>
                  <a:lnTo>
                    <a:pt x="4850109" y="570660"/>
                  </a:lnTo>
                  <a:lnTo>
                    <a:pt x="0" y="570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58" b="-8645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4850105" cy="580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2071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Creativity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827695" y="3452868"/>
            <a:ext cx="4068451" cy="925030"/>
            <a:chOff x="0" y="0"/>
            <a:chExt cx="5424602" cy="12333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424551" cy="1233424"/>
            </a:xfrm>
            <a:custGeom>
              <a:avLst/>
              <a:gdLst/>
              <a:ahLst/>
              <a:cxnLst/>
              <a:rect l="l" t="t" r="r" b="b"/>
              <a:pathLst>
                <a:path w="5424551" h="1233424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5162931" y="0"/>
                  </a:lnTo>
                  <a:cubicBezTo>
                    <a:pt x="5307457" y="0"/>
                    <a:pt x="5424551" y="117094"/>
                    <a:pt x="5424551" y="261620"/>
                  </a:cubicBezTo>
                  <a:lnTo>
                    <a:pt x="5424551" y="971804"/>
                  </a:lnTo>
                  <a:cubicBezTo>
                    <a:pt x="5424551" y="1116330"/>
                    <a:pt x="5307457" y="1233424"/>
                    <a:pt x="5162931" y="1233424"/>
                  </a:cubicBezTo>
                  <a:lnTo>
                    <a:pt x="261620" y="1233424"/>
                  </a:lnTo>
                  <a:cubicBezTo>
                    <a:pt x="117094" y="1233424"/>
                    <a:pt x="0" y="1116203"/>
                    <a:pt x="0" y="97180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043131" y="3736932"/>
            <a:ext cx="3637578" cy="428003"/>
            <a:chOff x="0" y="0"/>
            <a:chExt cx="4850105" cy="57067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850109" cy="570660"/>
            </a:xfrm>
            <a:custGeom>
              <a:avLst/>
              <a:gdLst/>
              <a:ahLst/>
              <a:cxnLst/>
              <a:rect l="l" t="t" r="r" b="b"/>
              <a:pathLst>
                <a:path w="4850109" h="570660">
                  <a:moveTo>
                    <a:pt x="0" y="0"/>
                  </a:moveTo>
                  <a:lnTo>
                    <a:pt x="4850109" y="0"/>
                  </a:lnTo>
                  <a:lnTo>
                    <a:pt x="4850109" y="570660"/>
                  </a:lnTo>
                  <a:lnTo>
                    <a:pt x="0" y="570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58" b="-8645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4850105" cy="580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207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Critical Thinking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66509" y="4894172"/>
            <a:ext cx="4068451" cy="925030"/>
            <a:chOff x="0" y="0"/>
            <a:chExt cx="5424602" cy="1233373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24551" cy="1233424"/>
            </a:xfrm>
            <a:custGeom>
              <a:avLst/>
              <a:gdLst/>
              <a:ahLst/>
              <a:cxnLst/>
              <a:rect l="l" t="t" r="r" b="b"/>
              <a:pathLst>
                <a:path w="5424551" h="1233424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5162931" y="0"/>
                  </a:lnTo>
                  <a:cubicBezTo>
                    <a:pt x="5307457" y="0"/>
                    <a:pt x="5424551" y="117094"/>
                    <a:pt x="5424551" y="261620"/>
                  </a:cubicBezTo>
                  <a:lnTo>
                    <a:pt x="5424551" y="971804"/>
                  </a:lnTo>
                  <a:cubicBezTo>
                    <a:pt x="5424551" y="1116330"/>
                    <a:pt x="5307457" y="1233424"/>
                    <a:pt x="5162931" y="1233424"/>
                  </a:cubicBezTo>
                  <a:lnTo>
                    <a:pt x="261620" y="1233424"/>
                  </a:lnTo>
                  <a:cubicBezTo>
                    <a:pt x="117094" y="1233424"/>
                    <a:pt x="0" y="1116203"/>
                    <a:pt x="0" y="97180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581945" y="5178246"/>
            <a:ext cx="3637578" cy="428003"/>
            <a:chOff x="0" y="0"/>
            <a:chExt cx="4850105" cy="57067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4850109" cy="570660"/>
            </a:xfrm>
            <a:custGeom>
              <a:avLst/>
              <a:gdLst/>
              <a:ahLst/>
              <a:cxnLst/>
              <a:rect l="l" t="t" r="r" b="b"/>
              <a:pathLst>
                <a:path w="4850109" h="570660">
                  <a:moveTo>
                    <a:pt x="0" y="0"/>
                  </a:moveTo>
                  <a:lnTo>
                    <a:pt x="4850109" y="0"/>
                  </a:lnTo>
                  <a:lnTo>
                    <a:pt x="4850109" y="570660"/>
                  </a:lnTo>
                  <a:lnTo>
                    <a:pt x="0" y="570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58" b="-8645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4850105" cy="580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207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Communication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3827695" y="4894172"/>
            <a:ext cx="4068451" cy="925030"/>
            <a:chOff x="0" y="0"/>
            <a:chExt cx="5424602" cy="123337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424551" cy="1233424"/>
            </a:xfrm>
            <a:custGeom>
              <a:avLst/>
              <a:gdLst/>
              <a:ahLst/>
              <a:cxnLst/>
              <a:rect l="l" t="t" r="r" b="b"/>
              <a:pathLst>
                <a:path w="5424551" h="1233424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5162931" y="0"/>
                  </a:lnTo>
                  <a:cubicBezTo>
                    <a:pt x="5307457" y="0"/>
                    <a:pt x="5424551" y="117094"/>
                    <a:pt x="5424551" y="261620"/>
                  </a:cubicBezTo>
                  <a:lnTo>
                    <a:pt x="5424551" y="971804"/>
                  </a:lnTo>
                  <a:cubicBezTo>
                    <a:pt x="5424551" y="1116330"/>
                    <a:pt x="5307457" y="1233424"/>
                    <a:pt x="5162931" y="1233424"/>
                  </a:cubicBezTo>
                  <a:lnTo>
                    <a:pt x="261620" y="1233424"/>
                  </a:lnTo>
                  <a:cubicBezTo>
                    <a:pt x="117094" y="1233424"/>
                    <a:pt x="0" y="1116203"/>
                    <a:pt x="0" y="97180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043131" y="5178246"/>
            <a:ext cx="3637578" cy="428003"/>
            <a:chOff x="0" y="0"/>
            <a:chExt cx="4850105" cy="57067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850109" cy="570660"/>
            </a:xfrm>
            <a:custGeom>
              <a:avLst/>
              <a:gdLst/>
              <a:ahLst/>
              <a:cxnLst/>
              <a:rect l="l" t="t" r="r" b="b"/>
              <a:pathLst>
                <a:path w="4850109" h="570660">
                  <a:moveTo>
                    <a:pt x="0" y="0"/>
                  </a:moveTo>
                  <a:lnTo>
                    <a:pt x="4850109" y="0"/>
                  </a:lnTo>
                  <a:lnTo>
                    <a:pt x="4850109" y="570660"/>
                  </a:lnTo>
                  <a:lnTo>
                    <a:pt x="0" y="570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58" b="-8645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4850105" cy="580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207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Collaboration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66509" y="6335486"/>
            <a:ext cx="4068451" cy="925030"/>
            <a:chOff x="0" y="0"/>
            <a:chExt cx="5424602" cy="1233373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424551" cy="1233424"/>
            </a:xfrm>
            <a:custGeom>
              <a:avLst/>
              <a:gdLst/>
              <a:ahLst/>
              <a:cxnLst/>
              <a:rect l="l" t="t" r="r" b="b"/>
              <a:pathLst>
                <a:path w="5424551" h="1233424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5162931" y="0"/>
                  </a:lnTo>
                  <a:cubicBezTo>
                    <a:pt x="5307457" y="0"/>
                    <a:pt x="5424551" y="117094"/>
                    <a:pt x="5424551" y="261620"/>
                  </a:cubicBezTo>
                  <a:lnTo>
                    <a:pt x="5424551" y="971804"/>
                  </a:lnTo>
                  <a:cubicBezTo>
                    <a:pt x="5424551" y="1116330"/>
                    <a:pt x="5307457" y="1233424"/>
                    <a:pt x="5162931" y="1233424"/>
                  </a:cubicBezTo>
                  <a:lnTo>
                    <a:pt x="261620" y="1233424"/>
                  </a:lnTo>
                  <a:cubicBezTo>
                    <a:pt x="117094" y="1233424"/>
                    <a:pt x="0" y="1116203"/>
                    <a:pt x="0" y="97180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2F6B2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581945" y="6619550"/>
            <a:ext cx="3637578" cy="428003"/>
            <a:chOff x="0" y="0"/>
            <a:chExt cx="4850105" cy="570671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4850109" cy="570660"/>
            </a:xfrm>
            <a:custGeom>
              <a:avLst/>
              <a:gdLst/>
              <a:ahLst/>
              <a:cxnLst/>
              <a:rect l="l" t="t" r="r" b="b"/>
              <a:pathLst>
                <a:path w="4850109" h="570660">
                  <a:moveTo>
                    <a:pt x="0" y="0"/>
                  </a:moveTo>
                  <a:lnTo>
                    <a:pt x="4850109" y="0"/>
                  </a:lnTo>
                  <a:lnTo>
                    <a:pt x="4850109" y="570660"/>
                  </a:lnTo>
                  <a:lnTo>
                    <a:pt x="0" y="570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58" b="-8645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9525"/>
              <a:ext cx="4850105" cy="580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2071" b="1">
                  <a:solidFill>
                    <a:srgbClr val="2F6B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Character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3827695" y="6335486"/>
            <a:ext cx="4068451" cy="925030"/>
            <a:chOff x="0" y="0"/>
            <a:chExt cx="5424602" cy="1233373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424551" cy="1233424"/>
            </a:xfrm>
            <a:custGeom>
              <a:avLst/>
              <a:gdLst/>
              <a:ahLst/>
              <a:cxnLst/>
              <a:rect l="l" t="t" r="r" b="b"/>
              <a:pathLst>
                <a:path w="5424551" h="1233424">
                  <a:moveTo>
                    <a:pt x="0" y="261620"/>
                  </a:moveTo>
                  <a:cubicBezTo>
                    <a:pt x="0" y="117094"/>
                    <a:pt x="117094" y="0"/>
                    <a:pt x="261620" y="0"/>
                  </a:cubicBezTo>
                  <a:lnTo>
                    <a:pt x="5162931" y="0"/>
                  </a:lnTo>
                  <a:cubicBezTo>
                    <a:pt x="5307457" y="0"/>
                    <a:pt x="5424551" y="117094"/>
                    <a:pt x="5424551" y="261620"/>
                  </a:cubicBezTo>
                  <a:lnTo>
                    <a:pt x="5424551" y="971804"/>
                  </a:lnTo>
                  <a:cubicBezTo>
                    <a:pt x="5424551" y="1116330"/>
                    <a:pt x="5307457" y="1233424"/>
                    <a:pt x="5162931" y="1233424"/>
                  </a:cubicBezTo>
                  <a:lnTo>
                    <a:pt x="261620" y="1233424"/>
                  </a:lnTo>
                  <a:cubicBezTo>
                    <a:pt x="117094" y="1233424"/>
                    <a:pt x="0" y="1116203"/>
                    <a:pt x="0" y="971804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9368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4043131" y="6619550"/>
            <a:ext cx="3637578" cy="428003"/>
            <a:chOff x="0" y="0"/>
            <a:chExt cx="4850105" cy="57067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850109" cy="570660"/>
            </a:xfrm>
            <a:custGeom>
              <a:avLst/>
              <a:gdLst/>
              <a:ahLst/>
              <a:cxnLst/>
              <a:rect l="l" t="t" r="r" b="b"/>
              <a:pathLst>
                <a:path w="4850109" h="570660">
                  <a:moveTo>
                    <a:pt x="0" y="0"/>
                  </a:moveTo>
                  <a:lnTo>
                    <a:pt x="4850109" y="0"/>
                  </a:lnTo>
                  <a:lnTo>
                    <a:pt x="4850109" y="570660"/>
                  </a:lnTo>
                  <a:lnTo>
                    <a:pt x="0" y="570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758" b="-8645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4850105" cy="5801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85"/>
                </a:lnSpc>
              </a:pPr>
              <a:r>
                <a:rPr lang="en-US" sz="2071" b="1">
                  <a:solidFill>
                    <a:srgbClr val="D9368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Citizenship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9366509" y="8023868"/>
            <a:ext cx="8529638" cy="1460373"/>
            <a:chOff x="0" y="0"/>
            <a:chExt cx="11372850" cy="194716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372850" cy="1947164"/>
            </a:xfrm>
            <a:custGeom>
              <a:avLst/>
              <a:gdLst/>
              <a:ahLst/>
              <a:cxnLst/>
              <a:rect l="l" t="t" r="r" b="b"/>
              <a:pathLst>
                <a:path w="11372850" h="1947164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11224514" y="0"/>
                  </a:lnTo>
                  <a:cubicBezTo>
                    <a:pt x="11306429" y="0"/>
                    <a:pt x="11372850" y="66421"/>
                    <a:pt x="11372850" y="148336"/>
                  </a:cubicBezTo>
                  <a:lnTo>
                    <a:pt x="11372850" y="1798828"/>
                  </a:lnTo>
                  <a:cubicBezTo>
                    <a:pt x="11372850" y="1880743"/>
                    <a:pt x="11306429" y="1947164"/>
                    <a:pt x="11224514" y="1947164"/>
                  </a:cubicBezTo>
                  <a:lnTo>
                    <a:pt x="148336" y="1947164"/>
                  </a:lnTo>
                  <a:cubicBezTo>
                    <a:pt x="66421" y="1947164"/>
                    <a:pt x="0" y="1880743"/>
                    <a:pt x="0" y="1798828"/>
                  </a:cubicBezTo>
                  <a:close/>
                </a:path>
              </a:pathLst>
            </a:custGeom>
            <a:solidFill>
              <a:srgbClr val="F4FAFF"/>
            </a:solidFill>
            <a:ln w="19065" cap="sq">
              <a:solidFill>
                <a:srgbClr val="CDE1F3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9719210" y="8307932"/>
            <a:ext cx="1990373" cy="446122"/>
            <a:chOff x="0" y="0"/>
            <a:chExt cx="2653830" cy="59483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653833" cy="594830"/>
            </a:xfrm>
            <a:custGeom>
              <a:avLst/>
              <a:gdLst/>
              <a:ahLst/>
              <a:cxnLst/>
              <a:rect l="l" t="t" r="r" b="b"/>
              <a:pathLst>
                <a:path w="2653833" h="594830">
                  <a:moveTo>
                    <a:pt x="0" y="0"/>
                  </a:moveTo>
                  <a:lnTo>
                    <a:pt x="2653833" y="0"/>
                  </a:lnTo>
                  <a:lnTo>
                    <a:pt x="2653833" y="594830"/>
                  </a:lnTo>
                  <a:lnTo>
                    <a:pt x="0" y="59483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2317" b="-1154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2653830" cy="623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1"/>
                </a:lnSpc>
              </a:pPr>
              <a:r>
                <a:rPr lang="en-US" sz="1876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Етичен фокус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052749" y="8225579"/>
            <a:ext cx="5422059" cy="1032721"/>
            <a:chOff x="0" y="0"/>
            <a:chExt cx="7229412" cy="137696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7229408" cy="1376962"/>
            </a:xfrm>
            <a:custGeom>
              <a:avLst/>
              <a:gdLst/>
              <a:ahLst/>
              <a:cxnLst/>
              <a:rect l="l" t="t" r="r" b="b"/>
              <a:pathLst>
                <a:path w="7229408" h="1376962">
                  <a:moveTo>
                    <a:pt x="0" y="0"/>
                  </a:moveTo>
                  <a:lnTo>
                    <a:pt x="7229408" y="0"/>
                  </a:lnTo>
                  <a:lnTo>
                    <a:pt x="7229408" y="1376962"/>
                  </a:lnTo>
                  <a:lnTo>
                    <a:pt x="0" y="1376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1034" b="-2356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7229412" cy="13960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37"/>
                </a:lnSpc>
              </a:pPr>
              <a:r>
                <a:rPr lang="en-US" sz="153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отговорна употреба на AI, дигитално гражданство, критична оценка на съдържанието и защита на човешкия фактор в обучението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</a:p>
        </p:txBody>
      </p:sp>
      <p:sp>
        <p:nvSpPr>
          <p:cNvPr id="53" name="Freeform 53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29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3899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РИМ · ПРИЛОЖЕНИЕ В БЪДЕЩОТО ПРЕПОДАВАНЕ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43230" y="3630720"/>
            <a:ext cx="4982804" cy="2649255"/>
            <a:chOff x="0" y="0"/>
            <a:chExt cx="6643738" cy="3532340"/>
          </a:xfrm>
        </p:grpSpPr>
        <p:sp>
          <p:nvSpPr>
            <p:cNvPr id="8" name="Freeform 8" descr="/mnt/data/course_pages/rome-5.png"/>
            <p:cNvSpPr/>
            <p:nvPr/>
          </p:nvSpPr>
          <p:spPr>
            <a:xfrm>
              <a:off x="0" y="0"/>
              <a:ext cx="6643751" cy="3532378"/>
            </a:xfrm>
            <a:custGeom>
              <a:avLst/>
              <a:gdLst/>
              <a:ahLst/>
              <a:cxnLst/>
              <a:rect l="l" t="t" r="r" b="b"/>
              <a:pathLst>
                <a:path w="6643751" h="3532378">
                  <a:moveTo>
                    <a:pt x="0" y="0"/>
                  </a:moveTo>
                  <a:lnTo>
                    <a:pt x="6643751" y="0"/>
                  </a:lnTo>
                  <a:lnTo>
                    <a:pt x="6643751" y="3532378"/>
                  </a:lnTo>
                  <a:lnTo>
                    <a:pt x="0" y="3532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916" b="-291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671181" y="3630720"/>
            <a:ext cx="4982804" cy="2649255"/>
            <a:chOff x="0" y="0"/>
            <a:chExt cx="6643738" cy="3532340"/>
          </a:xfrm>
        </p:grpSpPr>
        <p:sp>
          <p:nvSpPr>
            <p:cNvPr id="10" name="Freeform 10" descr="/mnt/data/course_pages/rome-7.png"/>
            <p:cNvSpPr/>
            <p:nvPr/>
          </p:nvSpPr>
          <p:spPr>
            <a:xfrm>
              <a:off x="0" y="0"/>
              <a:ext cx="6643751" cy="3532378"/>
            </a:xfrm>
            <a:custGeom>
              <a:avLst/>
              <a:gdLst/>
              <a:ahLst/>
              <a:cxnLst/>
              <a:rect l="l" t="t" r="r" b="b"/>
              <a:pathLst>
                <a:path w="6643751" h="3532378">
                  <a:moveTo>
                    <a:pt x="0" y="0"/>
                  </a:moveTo>
                  <a:lnTo>
                    <a:pt x="6643751" y="0"/>
                  </a:lnTo>
                  <a:lnTo>
                    <a:pt x="6643751" y="3532378"/>
                  </a:lnTo>
                  <a:lnTo>
                    <a:pt x="0" y="3532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916" b="-291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299142" y="3630720"/>
            <a:ext cx="4982804" cy="2649255"/>
            <a:chOff x="0" y="0"/>
            <a:chExt cx="6643738" cy="3532340"/>
          </a:xfrm>
        </p:grpSpPr>
        <p:sp>
          <p:nvSpPr>
            <p:cNvPr id="12" name="Freeform 12" descr="/mnt/data/course_pages/rome-8.png"/>
            <p:cNvSpPr/>
            <p:nvPr/>
          </p:nvSpPr>
          <p:spPr>
            <a:xfrm>
              <a:off x="0" y="0"/>
              <a:ext cx="6643751" cy="3532378"/>
            </a:xfrm>
            <a:custGeom>
              <a:avLst/>
              <a:gdLst/>
              <a:ahLst/>
              <a:cxnLst/>
              <a:rect l="l" t="t" r="r" b="b"/>
              <a:pathLst>
                <a:path w="6643751" h="3532378">
                  <a:moveTo>
                    <a:pt x="0" y="0"/>
                  </a:moveTo>
                  <a:lnTo>
                    <a:pt x="6643751" y="0"/>
                  </a:lnTo>
                  <a:lnTo>
                    <a:pt x="6643751" y="3532378"/>
                  </a:lnTo>
                  <a:lnTo>
                    <a:pt x="0" y="35323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2916" b="-291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30605" y="6669762"/>
            <a:ext cx="4888240" cy="2829230"/>
            <a:chOff x="0" y="0"/>
            <a:chExt cx="6517653" cy="3772306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517640" cy="3772281"/>
            </a:xfrm>
            <a:custGeom>
              <a:avLst/>
              <a:gdLst/>
              <a:ahLst/>
              <a:cxnLst/>
              <a:rect l="l" t="t" r="r" b="b"/>
              <a:pathLst>
                <a:path w="6517640" h="377228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370447" y="0"/>
                  </a:lnTo>
                  <a:cubicBezTo>
                    <a:pt x="6451727" y="0"/>
                    <a:pt x="6517640" y="65913"/>
                    <a:pt x="6517640" y="147193"/>
                  </a:cubicBezTo>
                  <a:lnTo>
                    <a:pt x="6517640" y="3625088"/>
                  </a:lnTo>
                  <a:cubicBezTo>
                    <a:pt x="6517640" y="3706368"/>
                    <a:pt x="6451727" y="3772281"/>
                    <a:pt x="6370447" y="3772281"/>
                  </a:cubicBezTo>
                  <a:lnTo>
                    <a:pt x="147193" y="3772281"/>
                  </a:lnTo>
                  <a:cubicBezTo>
                    <a:pt x="65913" y="3772281"/>
                    <a:pt x="0" y="3706368"/>
                    <a:pt x="0" y="36250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28700" y="6667857"/>
            <a:ext cx="4892050" cy="128883"/>
            <a:chOff x="0" y="0"/>
            <a:chExt cx="6522733" cy="1718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522720" cy="171831"/>
            </a:xfrm>
            <a:custGeom>
              <a:avLst/>
              <a:gdLst/>
              <a:ahLst/>
              <a:cxnLst/>
              <a:rect l="l" t="t" r="r" b="b"/>
              <a:pathLst>
                <a:path w="6522720" h="171831">
                  <a:moveTo>
                    <a:pt x="0" y="0"/>
                  </a:moveTo>
                  <a:lnTo>
                    <a:pt x="6522720" y="0"/>
                  </a:lnTo>
                  <a:lnTo>
                    <a:pt x="6522720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85313" y="6924470"/>
            <a:ext cx="4378823" cy="833915"/>
            <a:chOff x="0" y="0"/>
            <a:chExt cx="5838431" cy="111188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838433" cy="1111888"/>
            </a:xfrm>
            <a:custGeom>
              <a:avLst/>
              <a:gdLst/>
              <a:ahLst/>
              <a:cxnLst/>
              <a:rect l="l" t="t" r="r" b="b"/>
              <a:pathLst>
                <a:path w="5838433" h="1111888">
                  <a:moveTo>
                    <a:pt x="0" y="0"/>
                  </a:moveTo>
                  <a:lnTo>
                    <a:pt x="5838433" y="0"/>
                  </a:lnTo>
                  <a:lnTo>
                    <a:pt x="5838433" y="1111888"/>
                  </a:lnTo>
                  <a:lnTo>
                    <a:pt x="0" y="1111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561" b="-2206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838431" cy="11309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22"/>
                </a:lnSpc>
              </a:pPr>
              <a:r>
                <a:rPr lang="en-US" sz="23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Уроци, ориентирани към бъдещето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85313" y="7473539"/>
            <a:ext cx="4378823" cy="1784474"/>
            <a:chOff x="0" y="0"/>
            <a:chExt cx="5838431" cy="237929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838433" cy="2379303"/>
            </a:xfrm>
            <a:custGeom>
              <a:avLst/>
              <a:gdLst/>
              <a:ahLst/>
              <a:cxnLst/>
              <a:rect l="l" t="t" r="r" b="b"/>
              <a:pathLst>
                <a:path w="5838433" h="2379303">
                  <a:moveTo>
                    <a:pt x="0" y="0"/>
                  </a:moveTo>
                  <a:lnTo>
                    <a:pt x="5838433" y="0"/>
                  </a:lnTo>
                  <a:lnTo>
                    <a:pt x="5838433" y="2379303"/>
                  </a:lnTo>
                  <a:lnTo>
                    <a:pt x="0" y="2379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6" r="-228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838431" cy="2388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уроци, които развиват знания, умения и нагласи за бъдещето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589928" y="6669762"/>
            <a:ext cx="4888240" cy="2829230"/>
            <a:chOff x="0" y="0"/>
            <a:chExt cx="6517653" cy="3772306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517640" cy="3772281"/>
            </a:xfrm>
            <a:custGeom>
              <a:avLst/>
              <a:gdLst/>
              <a:ahLst/>
              <a:cxnLst/>
              <a:rect l="l" t="t" r="r" b="b"/>
              <a:pathLst>
                <a:path w="6517640" h="377228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370447" y="0"/>
                  </a:lnTo>
                  <a:cubicBezTo>
                    <a:pt x="6451727" y="0"/>
                    <a:pt x="6517640" y="65913"/>
                    <a:pt x="6517640" y="147193"/>
                  </a:cubicBezTo>
                  <a:lnTo>
                    <a:pt x="6517640" y="3625088"/>
                  </a:lnTo>
                  <a:cubicBezTo>
                    <a:pt x="6517640" y="3706368"/>
                    <a:pt x="6451727" y="3772281"/>
                    <a:pt x="6370447" y="3772281"/>
                  </a:cubicBezTo>
                  <a:lnTo>
                    <a:pt x="147193" y="3772281"/>
                  </a:lnTo>
                  <a:cubicBezTo>
                    <a:pt x="65913" y="3772281"/>
                    <a:pt x="0" y="3706368"/>
                    <a:pt x="0" y="36250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588023" y="6667857"/>
            <a:ext cx="4892050" cy="128883"/>
            <a:chOff x="0" y="0"/>
            <a:chExt cx="6522733" cy="17184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522720" cy="171831"/>
            </a:xfrm>
            <a:custGeom>
              <a:avLst/>
              <a:gdLst/>
              <a:ahLst/>
              <a:cxnLst/>
              <a:rect l="l" t="t" r="r" b="b"/>
              <a:pathLst>
                <a:path w="6522720" h="171831">
                  <a:moveTo>
                    <a:pt x="0" y="0"/>
                  </a:moveTo>
                  <a:lnTo>
                    <a:pt x="6522720" y="0"/>
                  </a:lnTo>
                  <a:lnTo>
                    <a:pt x="6522720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44636" y="6924470"/>
            <a:ext cx="4378823" cy="481490"/>
            <a:chOff x="0" y="0"/>
            <a:chExt cx="5838431" cy="64198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5838433" cy="641988"/>
            </a:xfrm>
            <a:custGeom>
              <a:avLst/>
              <a:gdLst/>
              <a:ahLst/>
              <a:cxnLst/>
              <a:rect l="l" t="t" r="r" b="b"/>
              <a:pathLst>
                <a:path w="5838433" h="641988">
                  <a:moveTo>
                    <a:pt x="0" y="0"/>
                  </a:moveTo>
                  <a:lnTo>
                    <a:pt x="5838433" y="0"/>
                  </a:lnTo>
                  <a:lnTo>
                    <a:pt x="5838433" y="641988"/>
                  </a:lnTo>
                  <a:lnTo>
                    <a:pt x="0" y="641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992" b="-11141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5838431" cy="661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22"/>
                </a:lnSpc>
              </a:pPr>
              <a:r>
                <a:rPr lang="en-US" sz="23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като подкрепа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44636" y="7473539"/>
            <a:ext cx="4378823" cy="1784474"/>
            <a:chOff x="0" y="0"/>
            <a:chExt cx="5838431" cy="23792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838433" cy="2379303"/>
            </a:xfrm>
            <a:custGeom>
              <a:avLst/>
              <a:gdLst/>
              <a:ahLst/>
              <a:cxnLst/>
              <a:rect l="l" t="t" r="r" b="b"/>
              <a:pathLst>
                <a:path w="5838433" h="2379303">
                  <a:moveTo>
                    <a:pt x="0" y="0"/>
                  </a:moveTo>
                  <a:lnTo>
                    <a:pt x="5838433" y="0"/>
                  </a:lnTo>
                  <a:lnTo>
                    <a:pt x="5838433" y="2379303"/>
                  </a:lnTo>
                  <a:lnTo>
                    <a:pt x="0" y="2379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6" r="-228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5838431" cy="2388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използване на AI инструменти за идеи, ресурси, адаптиране и ангажиране на учениците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149252" y="6669762"/>
            <a:ext cx="4888240" cy="2829230"/>
            <a:chOff x="0" y="0"/>
            <a:chExt cx="6517653" cy="3772306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6517640" cy="3772281"/>
            </a:xfrm>
            <a:custGeom>
              <a:avLst/>
              <a:gdLst/>
              <a:ahLst/>
              <a:cxnLst/>
              <a:rect l="l" t="t" r="r" b="b"/>
              <a:pathLst>
                <a:path w="6517640" h="3772281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370447" y="0"/>
                  </a:lnTo>
                  <a:cubicBezTo>
                    <a:pt x="6451727" y="0"/>
                    <a:pt x="6517640" y="65913"/>
                    <a:pt x="6517640" y="147193"/>
                  </a:cubicBezTo>
                  <a:lnTo>
                    <a:pt x="6517640" y="3625088"/>
                  </a:lnTo>
                  <a:cubicBezTo>
                    <a:pt x="6517640" y="3706368"/>
                    <a:pt x="6451727" y="3772281"/>
                    <a:pt x="6370447" y="3772281"/>
                  </a:cubicBezTo>
                  <a:lnTo>
                    <a:pt x="147193" y="3772281"/>
                  </a:lnTo>
                  <a:cubicBezTo>
                    <a:pt x="65913" y="3772281"/>
                    <a:pt x="0" y="3706368"/>
                    <a:pt x="0" y="3625088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147347" y="6667857"/>
            <a:ext cx="4892050" cy="128883"/>
            <a:chOff x="0" y="0"/>
            <a:chExt cx="6522733" cy="1718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522720" cy="171831"/>
            </a:xfrm>
            <a:custGeom>
              <a:avLst/>
              <a:gdLst/>
              <a:ahLst/>
              <a:cxnLst/>
              <a:rect l="l" t="t" r="r" b="b"/>
              <a:pathLst>
                <a:path w="6522720" h="171831">
                  <a:moveTo>
                    <a:pt x="0" y="0"/>
                  </a:moveTo>
                  <a:lnTo>
                    <a:pt x="6522720" y="0"/>
                  </a:lnTo>
                  <a:lnTo>
                    <a:pt x="6522720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D93682"/>
            </a:solidFill>
            <a:ln w="19065" cap="sq">
              <a:solidFill>
                <a:srgbClr val="D9368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2403960" y="6924470"/>
            <a:ext cx="4378823" cy="481490"/>
            <a:chOff x="0" y="0"/>
            <a:chExt cx="5838431" cy="641987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838433" cy="641988"/>
            </a:xfrm>
            <a:custGeom>
              <a:avLst/>
              <a:gdLst/>
              <a:ahLst/>
              <a:cxnLst/>
              <a:rect l="l" t="t" r="r" b="b"/>
              <a:pathLst>
                <a:path w="5838433" h="641988">
                  <a:moveTo>
                    <a:pt x="0" y="0"/>
                  </a:moveTo>
                  <a:lnTo>
                    <a:pt x="5838433" y="0"/>
                  </a:lnTo>
                  <a:lnTo>
                    <a:pt x="5838433" y="641988"/>
                  </a:lnTo>
                  <a:lnTo>
                    <a:pt x="0" y="6419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2992" b="-11141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838431" cy="6610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22"/>
                </a:lnSpc>
              </a:pPr>
              <a:r>
                <a:rPr lang="en-US" sz="2351" b="1">
                  <a:solidFill>
                    <a:srgbClr val="D9368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Отговорно прилагане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403960" y="7473539"/>
            <a:ext cx="4378823" cy="1784474"/>
            <a:chOff x="0" y="0"/>
            <a:chExt cx="5838431" cy="2379299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38433" cy="2379303"/>
            </a:xfrm>
            <a:custGeom>
              <a:avLst/>
              <a:gdLst/>
              <a:ahLst/>
              <a:cxnLst/>
              <a:rect l="l" t="t" r="r" b="b"/>
              <a:pathLst>
                <a:path w="5838433" h="2379303">
                  <a:moveTo>
                    <a:pt x="0" y="0"/>
                  </a:moveTo>
                  <a:lnTo>
                    <a:pt x="5838433" y="0"/>
                  </a:lnTo>
                  <a:lnTo>
                    <a:pt x="5838433" y="2379303"/>
                  </a:lnTo>
                  <a:lnTo>
                    <a:pt x="0" y="237930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6" r="-228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5838431" cy="238882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31"/>
                </a:lnSpc>
              </a:pPr>
              <a:r>
                <a:rPr lang="en-US" sz="20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етични правила, критичност, дигитално гражданство и безопасна употреба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</a:p>
        </p:txBody>
      </p:sp>
      <p:sp>
        <p:nvSpPr>
          <p:cNvPr id="49" name="Freeform 49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0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5610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ОБОБЩЕНИЕ НА ПРИДОБИТИТЕ КОМПЕТЕНТНОСТИ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3279223"/>
            <a:ext cx="15991637" cy="480431"/>
            <a:chOff x="0" y="0"/>
            <a:chExt cx="21322182" cy="64057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22178" cy="640580"/>
            </a:xfrm>
            <a:custGeom>
              <a:avLst/>
              <a:gdLst/>
              <a:ahLst/>
              <a:cxnLst/>
              <a:rect l="l" t="t" r="r" b="b"/>
              <a:pathLst>
                <a:path w="21322178" h="640580">
                  <a:moveTo>
                    <a:pt x="0" y="0"/>
                  </a:moveTo>
                  <a:lnTo>
                    <a:pt x="21322178" y="0"/>
                  </a:lnTo>
                  <a:lnTo>
                    <a:pt x="2132217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98573" b="-5985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322182" cy="659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56"/>
                </a:lnSpc>
              </a:pPr>
              <a:r>
                <a:rPr lang="en-US" sz="229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Четирите курса надграждат професионалните умения на учителите в няколко взаимно свързани направления.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6774" y="4340679"/>
            <a:ext cx="2833040" cy="3588010"/>
            <a:chOff x="0" y="0"/>
            <a:chExt cx="3777386" cy="478401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77361" cy="4783963"/>
            </a:xfrm>
            <a:custGeom>
              <a:avLst/>
              <a:gdLst/>
              <a:ahLst/>
              <a:cxnLst/>
              <a:rect l="l" t="t" r="r" b="b"/>
              <a:pathLst>
                <a:path w="3777361" h="4783963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556254" y="0"/>
                  </a:lnTo>
                  <a:cubicBezTo>
                    <a:pt x="3678428" y="0"/>
                    <a:pt x="3777361" y="99060"/>
                    <a:pt x="3777361" y="221107"/>
                  </a:cubicBezTo>
                  <a:lnTo>
                    <a:pt x="3777361" y="4562856"/>
                  </a:lnTo>
                  <a:cubicBezTo>
                    <a:pt x="3777361" y="4685030"/>
                    <a:pt x="3678301" y="4783963"/>
                    <a:pt x="3556254" y="4783963"/>
                  </a:cubicBezTo>
                  <a:lnTo>
                    <a:pt x="221107" y="4783963"/>
                  </a:lnTo>
                  <a:cubicBezTo>
                    <a:pt x="99060" y="4783963"/>
                    <a:pt x="0" y="4685030"/>
                    <a:pt x="0" y="456285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27647" y="4683846"/>
            <a:ext cx="911304" cy="911304"/>
            <a:chOff x="0" y="0"/>
            <a:chExt cx="1215072" cy="12150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215009" cy="1215009"/>
            </a:xfrm>
            <a:custGeom>
              <a:avLst/>
              <a:gdLst/>
              <a:ahLst/>
              <a:cxnLst/>
              <a:rect l="l" t="t" r="r" b="b"/>
              <a:pathLst>
                <a:path w="1215009" h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137181" y="4913008"/>
            <a:ext cx="892235" cy="434750"/>
            <a:chOff x="0" y="0"/>
            <a:chExt cx="1189647" cy="57966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89649" cy="579650"/>
            </a:xfrm>
            <a:custGeom>
              <a:avLst/>
              <a:gdLst/>
              <a:ahLst/>
              <a:cxnLst/>
              <a:rect l="l" t="t" r="r" b="b"/>
              <a:pathLst>
                <a:path w="1189649" h="579650">
                  <a:moveTo>
                    <a:pt x="0" y="0"/>
                  </a:moveTo>
                  <a:lnTo>
                    <a:pt x="1189649" y="0"/>
                  </a:lnTo>
                  <a:lnTo>
                    <a:pt x="1189649" y="579650"/>
                  </a:lnTo>
                  <a:lnTo>
                    <a:pt x="0" y="57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44" b="4106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189647" cy="589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341025" y="5928782"/>
            <a:ext cx="2498265" cy="403744"/>
            <a:chOff x="0" y="0"/>
            <a:chExt cx="3331020" cy="53832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331018" cy="538319"/>
            </a:xfrm>
            <a:custGeom>
              <a:avLst/>
              <a:gdLst/>
              <a:ahLst/>
              <a:cxnLst/>
              <a:rect l="l" t="t" r="r" b="b"/>
              <a:pathLst>
                <a:path w="3331018" h="538319">
                  <a:moveTo>
                    <a:pt x="0" y="0"/>
                  </a:moveTo>
                  <a:lnTo>
                    <a:pt x="3331018" y="0"/>
                  </a:lnTo>
                  <a:lnTo>
                    <a:pt x="3331018" y="538319"/>
                  </a:lnTo>
                  <a:lnTo>
                    <a:pt x="0" y="538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70" b="-6816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3331020" cy="547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976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Професионални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09662" y="6683753"/>
            <a:ext cx="2361000" cy="1039270"/>
            <a:chOff x="0" y="0"/>
            <a:chExt cx="3148000" cy="138569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147995" cy="1385692"/>
            </a:xfrm>
            <a:custGeom>
              <a:avLst/>
              <a:gdLst/>
              <a:ahLst/>
              <a:cxnLst/>
              <a:rect l="l" t="t" r="r" b="b"/>
              <a:pathLst>
                <a:path w="3147995" h="1385692">
                  <a:moveTo>
                    <a:pt x="0" y="0"/>
                  </a:moveTo>
                  <a:lnTo>
                    <a:pt x="3147995" y="0"/>
                  </a:lnTo>
                  <a:lnTo>
                    <a:pt x="3147995" y="1385692"/>
                  </a:lnTo>
                  <a:lnTo>
                    <a:pt x="0" y="1385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43" b="1941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3148000" cy="1395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5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нови подходи за планиране и организиране на учебни дейности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571000" y="4340679"/>
            <a:ext cx="2833040" cy="3588010"/>
            <a:chOff x="0" y="0"/>
            <a:chExt cx="3777386" cy="478401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3777361" cy="4783963"/>
            </a:xfrm>
            <a:custGeom>
              <a:avLst/>
              <a:gdLst/>
              <a:ahLst/>
              <a:cxnLst/>
              <a:rect l="l" t="t" r="r" b="b"/>
              <a:pathLst>
                <a:path w="3777361" h="4783963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556254" y="0"/>
                  </a:lnTo>
                  <a:cubicBezTo>
                    <a:pt x="3678428" y="0"/>
                    <a:pt x="3777361" y="99060"/>
                    <a:pt x="3777361" y="221107"/>
                  </a:cubicBezTo>
                  <a:lnTo>
                    <a:pt x="3777361" y="4562856"/>
                  </a:lnTo>
                  <a:cubicBezTo>
                    <a:pt x="3777361" y="4685030"/>
                    <a:pt x="3678301" y="4783963"/>
                    <a:pt x="3556254" y="4783963"/>
                  </a:cubicBezTo>
                  <a:lnTo>
                    <a:pt x="221107" y="4783963"/>
                  </a:lnTo>
                  <a:cubicBezTo>
                    <a:pt x="99060" y="4783963"/>
                    <a:pt x="0" y="4685030"/>
                    <a:pt x="0" y="456285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5531872" y="4683846"/>
            <a:ext cx="911304" cy="911304"/>
            <a:chOff x="0" y="0"/>
            <a:chExt cx="1215072" cy="1215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215009" cy="1215009"/>
            </a:xfrm>
            <a:custGeom>
              <a:avLst/>
              <a:gdLst/>
              <a:ahLst/>
              <a:cxnLst/>
              <a:rect l="l" t="t" r="r" b="b"/>
              <a:pathLst>
                <a:path w="1215009" h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541407" y="4913008"/>
            <a:ext cx="892235" cy="434750"/>
            <a:chOff x="0" y="0"/>
            <a:chExt cx="1189647" cy="57966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89649" cy="579650"/>
            </a:xfrm>
            <a:custGeom>
              <a:avLst/>
              <a:gdLst/>
              <a:ahLst/>
              <a:cxnLst/>
              <a:rect l="l" t="t" r="r" b="b"/>
              <a:pathLst>
                <a:path w="1189649" h="579650">
                  <a:moveTo>
                    <a:pt x="0" y="0"/>
                  </a:moveTo>
                  <a:lnTo>
                    <a:pt x="1189649" y="0"/>
                  </a:lnTo>
                  <a:lnTo>
                    <a:pt x="1189649" y="579650"/>
                  </a:lnTo>
                  <a:lnTo>
                    <a:pt x="0" y="57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44" b="4106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189647" cy="589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745260" y="5928782"/>
            <a:ext cx="2498265" cy="403744"/>
            <a:chOff x="0" y="0"/>
            <a:chExt cx="3331020" cy="53832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331018" cy="538319"/>
            </a:xfrm>
            <a:custGeom>
              <a:avLst/>
              <a:gdLst/>
              <a:ahLst/>
              <a:cxnLst/>
              <a:rect l="l" t="t" r="r" b="b"/>
              <a:pathLst>
                <a:path w="3331018" h="538319">
                  <a:moveTo>
                    <a:pt x="0" y="0"/>
                  </a:moveTo>
                  <a:lnTo>
                    <a:pt x="3331018" y="0"/>
                  </a:lnTo>
                  <a:lnTo>
                    <a:pt x="3331018" y="538319"/>
                  </a:lnTo>
                  <a:lnTo>
                    <a:pt x="0" y="538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70" b="-6816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3331020" cy="547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976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Дигитални и AI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813887" y="6683753"/>
            <a:ext cx="2361000" cy="1277395"/>
            <a:chOff x="0" y="0"/>
            <a:chExt cx="3148000" cy="1703193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147995" cy="1703192"/>
            </a:xfrm>
            <a:custGeom>
              <a:avLst/>
              <a:gdLst/>
              <a:ahLst/>
              <a:cxnLst/>
              <a:rect l="l" t="t" r="r" b="b"/>
              <a:pathLst>
                <a:path w="3147995" h="1703192">
                  <a:moveTo>
                    <a:pt x="0" y="0"/>
                  </a:moveTo>
                  <a:lnTo>
                    <a:pt x="3147995" y="0"/>
                  </a:lnTo>
                  <a:lnTo>
                    <a:pt x="3147995" y="1703192"/>
                  </a:lnTo>
                  <a:lnTo>
                    <a:pt x="0" y="1703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62" b="3443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3148000" cy="1712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5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използване на инструменти за съдържание, визуализации и интерактивност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975235" y="4340679"/>
            <a:ext cx="2833040" cy="3588010"/>
            <a:chOff x="0" y="0"/>
            <a:chExt cx="3777386" cy="478401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3777361" cy="4783963"/>
            </a:xfrm>
            <a:custGeom>
              <a:avLst/>
              <a:gdLst/>
              <a:ahLst/>
              <a:cxnLst/>
              <a:rect l="l" t="t" r="r" b="b"/>
              <a:pathLst>
                <a:path w="3777361" h="4783963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556254" y="0"/>
                  </a:lnTo>
                  <a:cubicBezTo>
                    <a:pt x="3678428" y="0"/>
                    <a:pt x="3777361" y="99060"/>
                    <a:pt x="3777361" y="221107"/>
                  </a:cubicBezTo>
                  <a:lnTo>
                    <a:pt x="3777361" y="4562856"/>
                  </a:lnTo>
                  <a:cubicBezTo>
                    <a:pt x="3777361" y="4685030"/>
                    <a:pt x="3678301" y="4783963"/>
                    <a:pt x="3556254" y="4783963"/>
                  </a:cubicBezTo>
                  <a:lnTo>
                    <a:pt x="221107" y="4783963"/>
                  </a:lnTo>
                  <a:cubicBezTo>
                    <a:pt x="99060" y="4783963"/>
                    <a:pt x="0" y="4685030"/>
                    <a:pt x="0" y="456285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936098" y="4683846"/>
            <a:ext cx="911304" cy="911304"/>
            <a:chOff x="0" y="0"/>
            <a:chExt cx="1215072" cy="121507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15009" cy="1215009"/>
            </a:xfrm>
            <a:custGeom>
              <a:avLst/>
              <a:gdLst/>
              <a:ahLst/>
              <a:cxnLst/>
              <a:rect l="l" t="t" r="r" b="b"/>
              <a:pathLst>
                <a:path w="1215009" h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8945632" y="4913008"/>
            <a:ext cx="892235" cy="434750"/>
            <a:chOff x="0" y="0"/>
            <a:chExt cx="1189647" cy="579666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89649" cy="579650"/>
            </a:xfrm>
            <a:custGeom>
              <a:avLst/>
              <a:gdLst/>
              <a:ahLst/>
              <a:cxnLst/>
              <a:rect l="l" t="t" r="r" b="b"/>
              <a:pathLst>
                <a:path w="1189649" h="579650">
                  <a:moveTo>
                    <a:pt x="0" y="0"/>
                  </a:moveTo>
                  <a:lnTo>
                    <a:pt x="1189649" y="0"/>
                  </a:lnTo>
                  <a:lnTo>
                    <a:pt x="1189649" y="579650"/>
                  </a:lnTo>
                  <a:lnTo>
                    <a:pt x="0" y="57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44" b="4106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9525"/>
              <a:ext cx="1189647" cy="589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149485" y="5928782"/>
            <a:ext cx="2498265" cy="403744"/>
            <a:chOff x="0" y="0"/>
            <a:chExt cx="3331020" cy="53832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331018" cy="538319"/>
            </a:xfrm>
            <a:custGeom>
              <a:avLst/>
              <a:gdLst/>
              <a:ahLst/>
              <a:cxnLst/>
              <a:rect l="l" t="t" r="r" b="b"/>
              <a:pathLst>
                <a:path w="3331018" h="538319">
                  <a:moveTo>
                    <a:pt x="0" y="0"/>
                  </a:moveTo>
                  <a:lnTo>
                    <a:pt x="3331018" y="0"/>
                  </a:lnTo>
                  <a:lnTo>
                    <a:pt x="3331018" y="538319"/>
                  </a:lnTo>
                  <a:lnTo>
                    <a:pt x="0" y="538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70" b="-6816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3331020" cy="547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976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Комуникационни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218122" y="6683753"/>
            <a:ext cx="2361000" cy="1039270"/>
            <a:chOff x="0" y="0"/>
            <a:chExt cx="3148000" cy="138569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3147995" cy="1385692"/>
            </a:xfrm>
            <a:custGeom>
              <a:avLst/>
              <a:gdLst/>
              <a:ahLst/>
              <a:cxnLst/>
              <a:rect l="l" t="t" r="r" b="b"/>
              <a:pathLst>
                <a:path w="3147995" h="1385692">
                  <a:moveTo>
                    <a:pt x="0" y="0"/>
                  </a:moveTo>
                  <a:lnTo>
                    <a:pt x="3147995" y="0"/>
                  </a:lnTo>
                  <a:lnTo>
                    <a:pt x="3147995" y="1385692"/>
                  </a:lnTo>
                  <a:lnTo>
                    <a:pt x="0" y="1385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43" b="1941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9525"/>
              <a:ext cx="3148000" cy="1395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5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по-ефективно представяне, активно слушане и обратна връзка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379460" y="4340679"/>
            <a:ext cx="2833040" cy="3588010"/>
            <a:chOff x="0" y="0"/>
            <a:chExt cx="3777386" cy="478401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777361" cy="4783963"/>
            </a:xfrm>
            <a:custGeom>
              <a:avLst/>
              <a:gdLst/>
              <a:ahLst/>
              <a:cxnLst/>
              <a:rect l="l" t="t" r="r" b="b"/>
              <a:pathLst>
                <a:path w="3777361" h="4783963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556254" y="0"/>
                  </a:lnTo>
                  <a:cubicBezTo>
                    <a:pt x="3678428" y="0"/>
                    <a:pt x="3777361" y="99060"/>
                    <a:pt x="3777361" y="221107"/>
                  </a:cubicBezTo>
                  <a:lnTo>
                    <a:pt x="3777361" y="4562856"/>
                  </a:lnTo>
                  <a:cubicBezTo>
                    <a:pt x="3777361" y="4685030"/>
                    <a:pt x="3678301" y="4783963"/>
                    <a:pt x="3556254" y="4783963"/>
                  </a:cubicBezTo>
                  <a:lnTo>
                    <a:pt x="221107" y="4783963"/>
                  </a:lnTo>
                  <a:cubicBezTo>
                    <a:pt x="99060" y="4783963"/>
                    <a:pt x="0" y="4685030"/>
                    <a:pt x="0" y="456285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40333" y="4683846"/>
            <a:ext cx="911304" cy="911304"/>
            <a:chOff x="0" y="0"/>
            <a:chExt cx="1215072" cy="121507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215009" cy="1215009"/>
            </a:xfrm>
            <a:custGeom>
              <a:avLst/>
              <a:gdLst/>
              <a:ahLst/>
              <a:cxnLst/>
              <a:rect l="l" t="t" r="r" b="b"/>
              <a:pathLst>
                <a:path w="1215009" h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349858" y="4913008"/>
            <a:ext cx="892235" cy="434750"/>
            <a:chOff x="0" y="0"/>
            <a:chExt cx="1189647" cy="579666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89649" cy="579650"/>
            </a:xfrm>
            <a:custGeom>
              <a:avLst/>
              <a:gdLst/>
              <a:ahLst/>
              <a:cxnLst/>
              <a:rect l="l" t="t" r="r" b="b"/>
              <a:pathLst>
                <a:path w="1189649" h="579650">
                  <a:moveTo>
                    <a:pt x="0" y="0"/>
                  </a:moveTo>
                  <a:lnTo>
                    <a:pt x="1189649" y="0"/>
                  </a:lnTo>
                  <a:lnTo>
                    <a:pt x="1189649" y="579650"/>
                  </a:lnTo>
                  <a:lnTo>
                    <a:pt x="0" y="57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44" b="4106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189647" cy="589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553711" y="5928782"/>
            <a:ext cx="2498265" cy="403744"/>
            <a:chOff x="0" y="0"/>
            <a:chExt cx="3331020" cy="538326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331018" cy="538319"/>
            </a:xfrm>
            <a:custGeom>
              <a:avLst/>
              <a:gdLst/>
              <a:ahLst/>
              <a:cxnLst/>
              <a:rect l="l" t="t" r="r" b="b"/>
              <a:pathLst>
                <a:path w="3331018" h="538319">
                  <a:moveTo>
                    <a:pt x="0" y="0"/>
                  </a:moveTo>
                  <a:lnTo>
                    <a:pt x="3331018" y="0"/>
                  </a:lnTo>
                  <a:lnTo>
                    <a:pt x="3331018" y="538319"/>
                  </a:lnTo>
                  <a:lnTo>
                    <a:pt x="0" y="5383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70" b="-6816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0" y="-9525"/>
              <a:ext cx="3331020" cy="5478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976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Социални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1622348" y="6683753"/>
            <a:ext cx="2361000" cy="1039270"/>
            <a:chOff x="0" y="0"/>
            <a:chExt cx="3148000" cy="138569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3147995" cy="1385692"/>
            </a:xfrm>
            <a:custGeom>
              <a:avLst/>
              <a:gdLst/>
              <a:ahLst/>
              <a:cxnLst/>
              <a:rect l="l" t="t" r="r" b="b"/>
              <a:pathLst>
                <a:path w="3147995" h="1385692">
                  <a:moveTo>
                    <a:pt x="0" y="0"/>
                  </a:moveTo>
                  <a:lnTo>
                    <a:pt x="3147995" y="0"/>
                  </a:lnTo>
                  <a:lnTo>
                    <a:pt x="3147995" y="1385692"/>
                  </a:lnTo>
                  <a:lnTo>
                    <a:pt x="0" y="13856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943" b="1941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0" y="-9525"/>
              <a:ext cx="3148000" cy="13952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5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работа в екип, сътрудничество, лидерство и управление на стреса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4783686" y="4340679"/>
            <a:ext cx="2833040" cy="3588010"/>
            <a:chOff x="0" y="0"/>
            <a:chExt cx="3777386" cy="478401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777361" cy="4783963"/>
            </a:xfrm>
            <a:custGeom>
              <a:avLst/>
              <a:gdLst/>
              <a:ahLst/>
              <a:cxnLst/>
              <a:rect l="l" t="t" r="r" b="b"/>
              <a:pathLst>
                <a:path w="3777361" h="4783963">
                  <a:moveTo>
                    <a:pt x="0" y="221107"/>
                  </a:moveTo>
                  <a:cubicBezTo>
                    <a:pt x="0" y="99060"/>
                    <a:pt x="99060" y="0"/>
                    <a:pt x="221107" y="0"/>
                  </a:cubicBezTo>
                  <a:lnTo>
                    <a:pt x="3556254" y="0"/>
                  </a:lnTo>
                  <a:cubicBezTo>
                    <a:pt x="3678428" y="0"/>
                    <a:pt x="3777361" y="99060"/>
                    <a:pt x="3777361" y="221107"/>
                  </a:cubicBezTo>
                  <a:lnTo>
                    <a:pt x="3777361" y="4562856"/>
                  </a:lnTo>
                  <a:cubicBezTo>
                    <a:pt x="3777361" y="4685030"/>
                    <a:pt x="3678301" y="4783963"/>
                    <a:pt x="3556254" y="4783963"/>
                  </a:cubicBezTo>
                  <a:lnTo>
                    <a:pt x="221107" y="4783963"/>
                  </a:lnTo>
                  <a:cubicBezTo>
                    <a:pt x="99060" y="4783963"/>
                    <a:pt x="0" y="4685030"/>
                    <a:pt x="0" y="4562856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5744558" y="4683846"/>
            <a:ext cx="911304" cy="911304"/>
            <a:chOff x="0" y="0"/>
            <a:chExt cx="1215072" cy="1215072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215009" cy="1215009"/>
            </a:xfrm>
            <a:custGeom>
              <a:avLst/>
              <a:gdLst/>
              <a:ahLst/>
              <a:cxnLst/>
              <a:rect l="l" t="t" r="r" b="b"/>
              <a:pathLst>
                <a:path w="1215009" h="1215009">
                  <a:moveTo>
                    <a:pt x="0" y="607568"/>
                  </a:moveTo>
                  <a:cubicBezTo>
                    <a:pt x="0" y="272034"/>
                    <a:pt x="272034" y="0"/>
                    <a:pt x="607568" y="0"/>
                  </a:cubicBezTo>
                  <a:cubicBezTo>
                    <a:pt x="943102" y="0"/>
                    <a:pt x="1215009" y="272034"/>
                    <a:pt x="1215009" y="607568"/>
                  </a:cubicBezTo>
                  <a:cubicBezTo>
                    <a:pt x="1215009" y="943102"/>
                    <a:pt x="943102" y="1215009"/>
                    <a:pt x="607568" y="1215009"/>
                  </a:cubicBezTo>
                  <a:cubicBezTo>
                    <a:pt x="272034" y="1215009"/>
                    <a:pt x="0" y="943102"/>
                    <a:pt x="0" y="607568"/>
                  </a:cubicBezTo>
                  <a:close/>
                </a:path>
              </a:pathLst>
            </a:custGeom>
            <a:solidFill>
              <a:srgbClr val="D93682"/>
            </a:solidFill>
            <a:ln w="19065" cap="sq">
              <a:solidFill>
                <a:srgbClr val="D9368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754093" y="4913008"/>
            <a:ext cx="892235" cy="434750"/>
            <a:chOff x="0" y="0"/>
            <a:chExt cx="1189647" cy="579666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89649" cy="579650"/>
            </a:xfrm>
            <a:custGeom>
              <a:avLst/>
              <a:gdLst/>
              <a:ahLst/>
              <a:cxnLst/>
              <a:rect l="l" t="t" r="r" b="b"/>
              <a:pathLst>
                <a:path w="1189649" h="579650">
                  <a:moveTo>
                    <a:pt x="0" y="0"/>
                  </a:moveTo>
                  <a:lnTo>
                    <a:pt x="1189649" y="0"/>
                  </a:lnTo>
                  <a:lnTo>
                    <a:pt x="1189649" y="579650"/>
                  </a:lnTo>
                  <a:lnTo>
                    <a:pt x="0" y="5796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44" b="4106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1189647" cy="5891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4957936" y="5928782"/>
            <a:ext cx="2498265" cy="699019"/>
            <a:chOff x="0" y="0"/>
            <a:chExt cx="3331020" cy="93202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3331018" cy="932015"/>
            </a:xfrm>
            <a:custGeom>
              <a:avLst/>
              <a:gdLst/>
              <a:ahLst/>
              <a:cxnLst/>
              <a:rect l="l" t="t" r="r" b="b"/>
              <a:pathLst>
                <a:path w="3331018" h="932015">
                  <a:moveTo>
                    <a:pt x="0" y="0"/>
                  </a:moveTo>
                  <a:lnTo>
                    <a:pt x="3331018" y="0"/>
                  </a:lnTo>
                  <a:lnTo>
                    <a:pt x="3331018" y="932015"/>
                  </a:lnTo>
                  <a:lnTo>
                    <a:pt x="0" y="9320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46" b="286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0" y="-9525"/>
              <a:ext cx="3331020" cy="9415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976" b="1">
                  <a:solidFill>
                    <a:srgbClr val="D9368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Креативни и аналитични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15026573" y="6683753"/>
            <a:ext cx="2361000" cy="801145"/>
            <a:chOff x="0" y="0"/>
            <a:chExt cx="3148000" cy="1068193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3147995" cy="1068192"/>
            </a:xfrm>
            <a:custGeom>
              <a:avLst/>
              <a:gdLst/>
              <a:ahLst/>
              <a:cxnLst/>
              <a:rect l="l" t="t" r="r" b="b"/>
              <a:pathLst>
                <a:path w="3147995" h="1068192">
                  <a:moveTo>
                    <a:pt x="0" y="0"/>
                  </a:moveTo>
                  <a:lnTo>
                    <a:pt x="3147995" y="0"/>
                  </a:lnTo>
                  <a:lnTo>
                    <a:pt x="3147995" y="1068192"/>
                  </a:lnTo>
                  <a:lnTo>
                    <a:pt x="0" y="1068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04" b="-454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9525"/>
              <a:ext cx="3148000" cy="10777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97"/>
                </a:lnSpc>
              </a:pPr>
              <a:r>
                <a:rPr lang="en-US" sz="15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критично мислене, генериране на идеи и решаване на проблеми</a:t>
              </a: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1468755" y="8509714"/>
            <a:ext cx="15187098" cy="1034844"/>
            <a:chOff x="0" y="0"/>
            <a:chExt cx="20249464" cy="1379792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20249514" cy="1379855"/>
            </a:xfrm>
            <a:custGeom>
              <a:avLst/>
              <a:gdLst/>
              <a:ahLst/>
              <a:cxnLst/>
              <a:rect l="l" t="t" r="r" b="b"/>
              <a:pathLst>
                <a:path w="20249514" h="1379855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20100289" y="0"/>
                  </a:lnTo>
                  <a:cubicBezTo>
                    <a:pt x="20182712" y="0"/>
                    <a:pt x="20249514" y="66802"/>
                    <a:pt x="20249514" y="149225"/>
                  </a:cubicBezTo>
                  <a:lnTo>
                    <a:pt x="20249514" y="1230630"/>
                  </a:lnTo>
                  <a:cubicBezTo>
                    <a:pt x="20249514" y="1313053"/>
                    <a:pt x="20182712" y="1379855"/>
                    <a:pt x="20100289" y="1379855"/>
                  </a:cubicBezTo>
                  <a:lnTo>
                    <a:pt x="149225" y="1379855"/>
                  </a:lnTo>
                  <a:cubicBezTo>
                    <a:pt x="66802" y="1379728"/>
                    <a:pt x="0" y="1313053"/>
                    <a:pt x="0" y="1230630"/>
                  </a:cubicBezTo>
                  <a:close/>
                </a:path>
              </a:pathLst>
            </a:custGeom>
            <a:solidFill>
              <a:srgbClr val="EAF7FF"/>
            </a:solidFill>
            <a:ln w="19065" cap="sq">
              <a:solidFill>
                <a:srgbClr val="CFE8FA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752819" y="8903592"/>
            <a:ext cx="14618960" cy="429664"/>
            <a:chOff x="0" y="0"/>
            <a:chExt cx="19491947" cy="572885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9491948" cy="572885"/>
            </a:xfrm>
            <a:custGeom>
              <a:avLst/>
              <a:gdLst/>
              <a:ahLst/>
              <a:cxnLst/>
              <a:rect l="l" t="t" r="r" b="b"/>
              <a:pathLst>
                <a:path w="19491948" h="572885">
                  <a:moveTo>
                    <a:pt x="0" y="0"/>
                  </a:moveTo>
                  <a:lnTo>
                    <a:pt x="19491948" y="0"/>
                  </a:lnTo>
                  <a:lnTo>
                    <a:pt x="19491948" y="572885"/>
                  </a:lnTo>
                  <a:lnTo>
                    <a:pt x="0" y="5728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7404" b="-58852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0" y="-9525"/>
              <a:ext cx="19491947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Общ ефект: по-голяма готовност за модерно, интерактивно и ориентирано към ученика преподаване.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</a:p>
        </p:txBody>
      </p:sp>
      <p:sp>
        <p:nvSpPr>
          <p:cNvPr id="86" name="Freeform 86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120" y="1985577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49890" y="2173553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ПРИЛАГАНЕ НА РЕЗУЛТАТИТЕ В УЧИЛИЩЕ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57849" y="3256995"/>
            <a:ext cx="16101451" cy="2110157"/>
            <a:chOff x="0" y="0"/>
            <a:chExt cx="21468601" cy="2813542"/>
          </a:xfrm>
        </p:grpSpPr>
        <p:sp>
          <p:nvSpPr>
            <p:cNvPr id="8" name="Freeform 8" descr="/mnt/data/assets/school_photo_strip.png"/>
            <p:cNvSpPr/>
            <p:nvPr/>
          </p:nvSpPr>
          <p:spPr>
            <a:xfrm>
              <a:off x="0" y="0"/>
              <a:ext cx="21468587" cy="2813542"/>
            </a:xfrm>
            <a:custGeom>
              <a:avLst/>
              <a:gdLst/>
              <a:ahLst/>
              <a:cxnLst/>
              <a:rect l="l" t="t" r="r" b="b"/>
              <a:pathLst>
                <a:path w="21468587" h="2813542">
                  <a:moveTo>
                    <a:pt x="0" y="0"/>
                  </a:moveTo>
                  <a:lnTo>
                    <a:pt x="21468587" y="0"/>
                  </a:lnTo>
                  <a:lnTo>
                    <a:pt x="21468587" y="2813542"/>
                  </a:lnTo>
                  <a:lnTo>
                    <a:pt x="0" y="2813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0740" b="-20741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81957" y="6203455"/>
            <a:ext cx="15000256" cy="38129"/>
            <a:chOff x="0" y="0"/>
            <a:chExt cx="20000341" cy="5083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00340" cy="50800"/>
            </a:xfrm>
            <a:custGeom>
              <a:avLst/>
              <a:gdLst/>
              <a:ahLst/>
              <a:cxnLst/>
              <a:rect l="l" t="t" r="r" b="b"/>
              <a:pathLst>
                <a:path w="20000340" h="50800">
                  <a:moveTo>
                    <a:pt x="0" y="0"/>
                  </a:moveTo>
                  <a:lnTo>
                    <a:pt x="20000340" y="50800"/>
                  </a:lnTo>
                </a:path>
              </a:pathLst>
            </a:custGeom>
            <a:blipFill>
              <a:blip r:embed="rId3">
                <a:alphaModFix amt="0"/>
              </a:blip>
              <a:stretch>
                <a:fillRect t="-7621368" b="-7621443"/>
              </a:stretch>
            </a:blipFill>
            <a:ln w="38130" cap="sq">
              <a:solidFill>
                <a:srgbClr val="B7CBE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079831" y="5716918"/>
            <a:ext cx="1011203" cy="1011203"/>
            <a:chOff x="0" y="0"/>
            <a:chExt cx="1348270" cy="134827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48232" cy="1348232"/>
            </a:xfrm>
            <a:custGeom>
              <a:avLst/>
              <a:gdLst/>
              <a:ahLst/>
              <a:cxnLst/>
              <a:rect l="l" t="t" r="r" b="b"/>
              <a:pathLst>
                <a:path w="1348232" h="1348232">
                  <a:moveTo>
                    <a:pt x="0" y="674116"/>
                  </a:moveTo>
                  <a:cubicBezTo>
                    <a:pt x="0" y="301879"/>
                    <a:pt x="301879" y="0"/>
                    <a:pt x="674116" y="0"/>
                  </a:cubicBezTo>
                  <a:cubicBezTo>
                    <a:pt x="1046353" y="0"/>
                    <a:pt x="1348232" y="301879"/>
                    <a:pt x="1348232" y="674116"/>
                  </a:cubicBezTo>
                  <a:cubicBezTo>
                    <a:pt x="1348232" y="1046353"/>
                    <a:pt x="1046353" y="1348232"/>
                    <a:pt x="674116" y="1348232"/>
                  </a:cubicBezTo>
                  <a:cubicBezTo>
                    <a:pt x="301879" y="1348232"/>
                    <a:pt x="0" y="1046480"/>
                    <a:pt x="0" y="674116"/>
                  </a:cubicBezTo>
                  <a:close/>
                </a:path>
              </a:pathLst>
            </a:custGeom>
            <a:solidFill>
              <a:srgbClr val="004494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91271" y="5989161"/>
            <a:ext cx="988324" cy="466477"/>
            <a:chOff x="0" y="0"/>
            <a:chExt cx="1317765" cy="6219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17765" cy="621952"/>
            </a:xfrm>
            <a:custGeom>
              <a:avLst/>
              <a:gdLst/>
              <a:ahLst/>
              <a:cxnLst/>
              <a:rect l="l" t="t" r="r" b="b"/>
              <a:pathLst>
                <a:path w="1317765" h="621952">
                  <a:moveTo>
                    <a:pt x="0" y="0"/>
                  </a:moveTo>
                  <a:lnTo>
                    <a:pt x="1317765" y="0"/>
                  </a:lnTo>
                  <a:lnTo>
                    <a:pt x="1317765" y="621952"/>
                  </a:lnTo>
                  <a:lnTo>
                    <a:pt x="0" y="62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27" b="410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317765" cy="641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95124" y="7142210"/>
            <a:ext cx="2676716" cy="428282"/>
            <a:chOff x="0" y="0"/>
            <a:chExt cx="3568954" cy="57104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568948" cy="571039"/>
            </a:xfrm>
            <a:custGeom>
              <a:avLst/>
              <a:gdLst/>
              <a:ahLst/>
              <a:cxnLst/>
              <a:rect l="l" t="t" r="r" b="b"/>
              <a:pathLst>
                <a:path w="3568948" h="571039">
                  <a:moveTo>
                    <a:pt x="0" y="0"/>
                  </a:moveTo>
                  <a:lnTo>
                    <a:pt x="3568948" y="0"/>
                  </a:lnTo>
                  <a:lnTo>
                    <a:pt x="3568948" y="571039"/>
                  </a:lnTo>
                  <a:lnTo>
                    <a:pt x="0" y="57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523" b="-5703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3568954" cy="580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1"/>
                </a:lnSpc>
              </a:pPr>
              <a:r>
                <a:rPr lang="en-US" sz="2076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Обучение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157849" y="7787367"/>
            <a:ext cx="2951245" cy="658883"/>
            <a:chOff x="0" y="0"/>
            <a:chExt cx="3934993" cy="87851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934994" cy="878511"/>
            </a:xfrm>
            <a:custGeom>
              <a:avLst/>
              <a:gdLst/>
              <a:ahLst/>
              <a:cxnLst/>
              <a:rect l="l" t="t" r="r" b="b"/>
              <a:pathLst>
                <a:path w="3934994" h="878511">
                  <a:moveTo>
                    <a:pt x="0" y="0"/>
                  </a:moveTo>
                  <a:lnTo>
                    <a:pt x="3934994" y="0"/>
                  </a:lnTo>
                  <a:lnTo>
                    <a:pt x="3934994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76" b="-3727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3934993" cy="897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69"/>
                </a:lnSpc>
              </a:pPr>
              <a:r>
                <a:rPr lang="en-US" sz="164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учителите придобиват нови знания и практически умения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70331" y="5716918"/>
            <a:ext cx="1011203" cy="1011203"/>
            <a:chOff x="0" y="0"/>
            <a:chExt cx="1348270" cy="134827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348232" cy="1348232"/>
            </a:xfrm>
            <a:custGeom>
              <a:avLst/>
              <a:gdLst/>
              <a:ahLst/>
              <a:cxnLst/>
              <a:rect l="l" t="t" r="r" b="b"/>
              <a:pathLst>
                <a:path w="1348232" h="1348232">
                  <a:moveTo>
                    <a:pt x="0" y="674116"/>
                  </a:moveTo>
                  <a:cubicBezTo>
                    <a:pt x="0" y="301879"/>
                    <a:pt x="301879" y="0"/>
                    <a:pt x="674116" y="0"/>
                  </a:cubicBezTo>
                  <a:cubicBezTo>
                    <a:pt x="1046353" y="0"/>
                    <a:pt x="1348232" y="301879"/>
                    <a:pt x="1348232" y="674116"/>
                  </a:cubicBezTo>
                  <a:cubicBezTo>
                    <a:pt x="1348232" y="1046353"/>
                    <a:pt x="1046353" y="1348232"/>
                    <a:pt x="674116" y="1348232"/>
                  </a:cubicBezTo>
                  <a:cubicBezTo>
                    <a:pt x="301879" y="1348232"/>
                    <a:pt x="0" y="1046480"/>
                    <a:pt x="0" y="674116"/>
                  </a:cubicBezTo>
                  <a:close/>
                </a:path>
              </a:pathLst>
            </a:custGeom>
            <a:solidFill>
              <a:srgbClr val="32A7E2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481771" y="5989161"/>
            <a:ext cx="988324" cy="466477"/>
            <a:chOff x="0" y="0"/>
            <a:chExt cx="1317765" cy="62197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317765" cy="621952"/>
            </a:xfrm>
            <a:custGeom>
              <a:avLst/>
              <a:gdLst/>
              <a:ahLst/>
              <a:cxnLst/>
              <a:rect l="l" t="t" r="r" b="b"/>
              <a:pathLst>
                <a:path w="1317765" h="621952">
                  <a:moveTo>
                    <a:pt x="0" y="0"/>
                  </a:moveTo>
                  <a:lnTo>
                    <a:pt x="1317765" y="0"/>
                  </a:lnTo>
                  <a:lnTo>
                    <a:pt x="1317765" y="621952"/>
                  </a:lnTo>
                  <a:lnTo>
                    <a:pt x="0" y="62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27" b="410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317765" cy="641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685624" y="7142210"/>
            <a:ext cx="2676716" cy="428282"/>
            <a:chOff x="0" y="0"/>
            <a:chExt cx="3568954" cy="5710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568948" cy="571039"/>
            </a:xfrm>
            <a:custGeom>
              <a:avLst/>
              <a:gdLst/>
              <a:ahLst/>
              <a:cxnLst/>
              <a:rect l="l" t="t" r="r" b="b"/>
              <a:pathLst>
                <a:path w="3568948" h="571039">
                  <a:moveTo>
                    <a:pt x="0" y="0"/>
                  </a:moveTo>
                  <a:lnTo>
                    <a:pt x="3568948" y="0"/>
                  </a:lnTo>
                  <a:lnTo>
                    <a:pt x="3568948" y="571039"/>
                  </a:lnTo>
                  <a:lnTo>
                    <a:pt x="0" y="57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523" b="-5703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568954" cy="580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1"/>
                </a:lnSpc>
              </a:pPr>
              <a:r>
                <a:rPr lang="en-US" sz="2076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Методи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48349" y="7787367"/>
            <a:ext cx="2951245" cy="833015"/>
            <a:chOff x="0" y="0"/>
            <a:chExt cx="3934993" cy="1110687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934994" cy="1110688"/>
            </a:xfrm>
            <a:custGeom>
              <a:avLst/>
              <a:gdLst/>
              <a:ahLst/>
              <a:cxnLst/>
              <a:rect l="l" t="t" r="r" b="b"/>
              <a:pathLst>
                <a:path w="3934994" h="1110688">
                  <a:moveTo>
                    <a:pt x="0" y="0"/>
                  </a:moveTo>
                  <a:lnTo>
                    <a:pt x="3934994" y="0"/>
                  </a:lnTo>
                  <a:lnTo>
                    <a:pt x="3934994" y="1110688"/>
                  </a:lnTo>
                  <a:lnTo>
                    <a:pt x="0" y="111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84" b="-858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3934993" cy="1129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69"/>
                </a:lnSpc>
              </a:pPr>
              <a:r>
                <a:rPr lang="en-US" sz="164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подбират се приложими стратегии за конкретни учебни предмети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860831" y="5716918"/>
            <a:ext cx="1011203" cy="1011203"/>
            <a:chOff x="0" y="0"/>
            <a:chExt cx="1348270" cy="134827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348232" cy="1348232"/>
            </a:xfrm>
            <a:custGeom>
              <a:avLst/>
              <a:gdLst/>
              <a:ahLst/>
              <a:cxnLst/>
              <a:rect l="l" t="t" r="r" b="b"/>
              <a:pathLst>
                <a:path w="1348232" h="1348232">
                  <a:moveTo>
                    <a:pt x="0" y="674116"/>
                  </a:moveTo>
                  <a:cubicBezTo>
                    <a:pt x="0" y="301879"/>
                    <a:pt x="301879" y="0"/>
                    <a:pt x="674116" y="0"/>
                  </a:cubicBezTo>
                  <a:cubicBezTo>
                    <a:pt x="1046353" y="0"/>
                    <a:pt x="1348232" y="301879"/>
                    <a:pt x="1348232" y="674116"/>
                  </a:cubicBezTo>
                  <a:cubicBezTo>
                    <a:pt x="1348232" y="1046353"/>
                    <a:pt x="1046353" y="1348232"/>
                    <a:pt x="674116" y="1348232"/>
                  </a:cubicBezTo>
                  <a:cubicBezTo>
                    <a:pt x="301879" y="1348232"/>
                    <a:pt x="0" y="1046480"/>
                    <a:pt x="0" y="674116"/>
                  </a:cubicBezTo>
                  <a:close/>
                </a:path>
              </a:pathLst>
            </a:custGeom>
            <a:solidFill>
              <a:srgbClr val="0EA5A8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872271" y="5989161"/>
            <a:ext cx="988324" cy="466477"/>
            <a:chOff x="0" y="0"/>
            <a:chExt cx="1317765" cy="6219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317765" cy="621952"/>
            </a:xfrm>
            <a:custGeom>
              <a:avLst/>
              <a:gdLst/>
              <a:ahLst/>
              <a:cxnLst/>
              <a:rect l="l" t="t" r="r" b="b"/>
              <a:pathLst>
                <a:path w="1317765" h="621952">
                  <a:moveTo>
                    <a:pt x="0" y="0"/>
                  </a:moveTo>
                  <a:lnTo>
                    <a:pt x="1317765" y="0"/>
                  </a:lnTo>
                  <a:lnTo>
                    <a:pt x="1317765" y="621952"/>
                  </a:lnTo>
                  <a:lnTo>
                    <a:pt x="0" y="62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27" b="410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0" y="-19050"/>
              <a:ext cx="1317765" cy="641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076124" y="7142210"/>
            <a:ext cx="2676716" cy="428282"/>
            <a:chOff x="0" y="0"/>
            <a:chExt cx="3568954" cy="571043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568948" cy="571039"/>
            </a:xfrm>
            <a:custGeom>
              <a:avLst/>
              <a:gdLst/>
              <a:ahLst/>
              <a:cxnLst/>
              <a:rect l="l" t="t" r="r" b="b"/>
              <a:pathLst>
                <a:path w="3568948" h="571039">
                  <a:moveTo>
                    <a:pt x="0" y="0"/>
                  </a:moveTo>
                  <a:lnTo>
                    <a:pt x="3568948" y="0"/>
                  </a:lnTo>
                  <a:lnTo>
                    <a:pt x="3568948" y="571039"/>
                  </a:lnTo>
                  <a:lnTo>
                    <a:pt x="0" y="57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523" b="-5703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3568954" cy="580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1"/>
                </a:lnSpc>
              </a:pPr>
              <a:r>
                <a:rPr lang="en-US" sz="2076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Ресурси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938859" y="7787367"/>
            <a:ext cx="2951245" cy="833015"/>
            <a:chOff x="0" y="0"/>
            <a:chExt cx="3934993" cy="1110687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34994" cy="1110688"/>
            </a:xfrm>
            <a:custGeom>
              <a:avLst/>
              <a:gdLst/>
              <a:ahLst/>
              <a:cxnLst/>
              <a:rect l="l" t="t" r="r" b="b"/>
              <a:pathLst>
                <a:path w="3934994" h="1110688">
                  <a:moveTo>
                    <a:pt x="0" y="0"/>
                  </a:moveTo>
                  <a:lnTo>
                    <a:pt x="3934994" y="0"/>
                  </a:lnTo>
                  <a:lnTo>
                    <a:pt x="3934994" y="1110688"/>
                  </a:lnTo>
                  <a:lnTo>
                    <a:pt x="0" y="111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84" b="-858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3934993" cy="1129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69"/>
                </a:lnSpc>
              </a:pPr>
              <a:r>
                <a:rPr lang="en-US" sz="164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създават се дигитални, мултимедийни и интерактивни материали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251331" y="5716918"/>
            <a:ext cx="1011203" cy="1011203"/>
            <a:chOff x="0" y="0"/>
            <a:chExt cx="1348270" cy="134827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348232" cy="1348232"/>
            </a:xfrm>
            <a:custGeom>
              <a:avLst/>
              <a:gdLst/>
              <a:ahLst/>
              <a:cxnLst/>
              <a:rect l="l" t="t" r="r" b="b"/>
              <a:pathLst>
                <a:path w="1348232" h="1348232">
                  <a:moveTo>
                    <a:pt x="0" y="674116"/>
                  </a:moveTo>
                  <a:cubicBezTo>
                    <a:pt x="0" y="301879"/>
                    <a:pt x="301879" y="0"/>
                    <a:pt x="674116" y="0"/>
                  </a:cubicBezTo>
                  <a:cubicBezTo>
                    <a:pt x="1046353" y="0"/>
                    <a:pt x="1348232" y="301879"/>
                    <a:pt x="1348232" y="674116"/>
                  </a:cubicBezTo>
                  <a:cubicBezTo>
                    <a:pt x="1348232" y="1046353"/>
                    <a:pt x="1046353" y="1348232"/>
                    <a:pt x="674116" y="1348232"/>
                  </a:cubicBezTo>
                  <a:cubicBezTo>
                    <a:pt x="301879" y="1348232"/>
                    <a:pt x="0" y="1046480"/>
                    <a:pt x="0" y="674116"/>
                  </a:cubicBezTo>
                  <a:close/>
                </a:path>
              </a:pathLst>
            </a:custGeom>
            <a:solidFill>
              <a:srgbClr val="F6B300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262771" y="5989161"/>
            <a:ext cx="988324" cy="466477"/>
            <a:chOff x="0" y="0"/>
            <a:chExt cx="1317765" cy="62197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1317765" cy="621952"/>
            </a:xfrm>
            <a:custGeom>
              <a:avLst/>
              <a:gdLst/>
              <a:ahLst/>
              <a:cxnLst/>
              <a:rect l="l" t="t" r="r" b="b"/>
              <a:pathLst>
                <a:path w="1317765" h="621952">
                  <a:moveTo>
                    <a:pt x="0" y="0"/>
                  </a:moveTo>
                  <a:lnTo>
                    <a:pt x="1317765" y="0"/>
                  </a:lnTo>
                  <a:lnTo>
                    <a:pt x="1317765" y="621952"/>
                  </a:lnTo>
                  <a:lnTo>
                    <a:pt x="0" y="62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27" b="410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1317765" cy="641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466624" y="7142210"/>
            <a:ext cx="2676716" cy="428282"/>
            <a:chOff x="0" y="0"/>
            <a:chExt cx="3568954" cy="57104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568948" cy="571039"/>
            </a:xfrm>
            <a:custGeom>
              <a:avLst/>
              <a:gdLst/>
              <a:ahLst/>
              <a:cxnLst/>
              <a:rect l="l" t="t" r="r" b="b"/>
              <a:pathLst>
                <a:path w="3568948" h="571039">
                  <a:moveTo>
                    <a:pt x="0" y="0"/>
                  </a:moveTo>
                  <a:lnTo>
                    <a:pt x="3568948" y="0"/>
                  </a:lnTo>
                  <a:lnTo>
                    <a:pt x="3568948" y="571039"/>
                  </a:lnTo>
                  <a:lnTo>
                    <a:pt x="0" y="57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523" b="-5703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0" y="-9525"/>
              <a:ext cx="3568954" cy="580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1"/>
                </a:lnSpc>
              </a:pPr>
              <a:r>
                <a:rPr lang="en-US" sz="2076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Практика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329359" y="7787367"/>
            <a:ext cx="2951245" cy="658883"/>
            <a:chOff x="0" y="0"/>
            <a:chExt cx="3934993" cy="87851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3934994" cy="878511"/>
            </a:xfrm>
            <a:custGeom>
              <a:avLst/>
              <a:gdLst/>
              <a:ahLst/>
              <a:cxnLst/>
              <a:rect l="l" t="t" r="r" b="b"/>
              <a:pathLst>
                <a:path w="3934994" h="878511">
                  <a:moveTo>
                    <a:pt x="0" y="0"/>
                  </a:moveTo>
                  <a:lnTo>
                    <a:pt x="3934994" y="0"/>
                  </a:lnTo>
                  <a:lnTo>
                    <a:pt x="3934994" y="878511"/>
                  </a:lnTo>
                  <a:lnTo>
                    <a:pt x="0" y="878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276" b="-3727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3934993" cy="897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69"/>
                </a:lnSpc>
              </a:pPr>
              <a:r>
                <a:rPr lang="en-US" sz="164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новите подходи се интегрират в учебния процес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15641831" y="5716918"/>
            <a:ext cx="1011203" cy="1011203"/>
            <a:chOff x="0" y="0"/>
            <a:chExt cx="1348270" cy="134827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348232" cy="1348232"/>
            </a:xfrm>
            <a:custGeom>
              <a:avLst/>
              <a:gdLst/>
              <a:ahLst/>
              <a:cxnLst/>
              <a:rect l="l" t="t" r="r" b="b"/>
              <a:pathLst>
                <a:path w="1348232" h="1348232">
                  <a:moveTo>
                    <a:pt x="0" y="674116"/>
                  </a:moveTo>
                  <a:cubicBezTo>
                    <a:pt x="0" y="301879"/>
                    <a:pt x="301879" y="0"/>
                    <a:pt x="674116" y="0"/>
                  </a:cubicBezTo>
                  <a:cubicBezTo>
                    <a:pt x="1046353" y="0"/>
                    <a:pt x="1348232" y="301879"/>
                    <a:pt x="1348232" y="674116"/>
                  </a:cubicBezTo>
                  <a:cubicBezTo>
                    <a:pt x="1348232" y="1046353"/>
                    <a:pt x="1046353" y="1348232"/>
                    <a:pt x="674116" y="1348232"/>
                  </a:cubicBezTo>
                  <a:cubicBezTo>
                    <a:pt x="301879" y="1348232"/>
                    <a:pt x="0" y="1046480"/>
                    <a:pt x="0" y="674116"/>
                  </a:cubicBezTo>
                  <a:close/>
                </a:path>
              </a:pathLst>
            </a:custGeom>
            <a:solidFill>
              <a:srgbClr val="D93682"/>
            </a:solidFill>
            <a:ln w="22878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5653271" y="5989161"/>
            <a:ext cx="988324" cy="466477"/>
            <a:chOff x="0" y="0"/>
            <a:chExt cx="1317765" cy="62197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317765" cy="621952"/>
            </a:xfrm>
            <a:custGeom>
              <a:avLst/>
              <a:gdLst/>
              <a:ahLst/>
              <a:cxnLst/>
              <a:rect l="l" t="t" r="r" b="b"/>
              <a:pathLst>
                <a:path w="1317765" h="621952">
                  <a:moveTo>
                    <a:pt x="0" y="0"/>
                  </a:moveTo>
                  <a:lnTo>
                    <a:pt x="1317765" y="0"/>
                  </a:lnTo>
                  <a:lnTo>
                    <a:pt x="1317765" y="621952"/>
                  </a:lnTo>
                  <a:lnTo>
                    <a:pt x="0" y="6219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27" b="4105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317765" cy="6410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02"/>
                </a:lnSpc>
              </a:pPr>
              <a:r>
                <a:rPr lang="en-US" sz="225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4857124" y="7142210"/>
            <a:ext cx="2676716" cy="428282"/>
            <a:chOff x="0" y="0"/>
            <a:chExt cx="3568954" cy="571043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3568948" cy="571039"/>
            </a:xfrm>
            <a:custGeom>
              <a:avLst/>
              <a:gdLst/>
              <a:ahLst/>
              <a:cxnLst/>
              <a:rect l="l" t="t" r="r" b="b"/>
              <a:pathLst>
                <a:path w="3568948" h="571039">
                  <a:moveTo>
                    <a:pt x="0" y="0"/>
                  </a:moveTo>
                  <a:lnTo>
                    <a:pt x="3568948" y="0"/>
                  </a:lnTo>
                  <a:lnTo>
                    <a:pt x="3568948" y="571039"/>
                  </a:lnTo>
                  <a:lnTo>
                    <a:pt x="0" y="5710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523" b="-5703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3568954" cy="5805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91"/>
                </a:lnSpc>
              </a:pPr>
              <a:r>
                <a:rPr lang="en-US" sz="2076" b="1">
                  <a:solidFill>
                    <a:srgbClr val="D9368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Ефект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4719859" y="7787367"/>
            <a:ext cx="2951245" cy="833015"/>
            <a:chOff x="0" y="0"/>
            <a:chExt cx="3934993" cy="1110687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3934994" cy="1110688"/>
            </a:xfrm>
            <a:custGeom>
              <a:avLst/>
              <a:gdLst/>
              <a:ahLst/>
              <a:cxnLst/>
              <a:rect l="l" t="t" r="r" b="b"/>
              <a:pathLst>
                <a:path w="3934994" h="1110688">
                  <a:moveTo>
                    <a:pt x="0" y="0"/>
                  </a:moveTo>
                  <a:lnTo>
                    <a:pt x="3934994" y="0"/>
                  </a:lnTo>
                  <a:lnTo>
                    <a:pt x="3934994" y="1110688"/>
                  </a:lnTo>
                  <a:lnTo>
                    <a:pt x="0" y="11106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484" b="-858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3934993" cy="1129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69"/>
                </a:lnSpc>
              </a:pPr>
              <a:r>
                <a:rPr lang="en-US" sz="164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повишена активност, мотивация и ангажираност на учениците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67591" y="8847554"/>
            <a:ext cx="15236666" cy="821493"/>
            <a:chOff x="0" y="0"/>
            <a:chExt cx="20315555" cy="109532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0315552" cy="1095320"/>
            </a:xfrm>
            <a:custGeom>
              <a:avLst/>
              <a:gdLst/>
              <a:ahLst/>
              <a:cxnLst/>
              <a:rect l="l" t="t" r="r" b="b"/>
              <a:pathLst>
                <a:path w="20315552" h="1095320">
                  <a:moveTo>
                    <a:pt x="0" y="0"/>
                  </a:moveTo>
                  <a:lnTo>
                    <a:pt x="20315552" y="0"/>
                  </a:lnTo>
                  <a:lnTo>
                    <a:pt x="20315552" y="1095320"/>
                  </a:lnTo>
                  <a:lnTo>
                    <a:pt x="0" y="10953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84" b="-28061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0" y="-9525"/>
              <a:ext cx="20315555" cy="11048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13"/>
                </a:lnSpc>
              </a:pPr>
              <a:r>
                <a:rPr lang="en-US" sz="201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Практическото прилагане е ключовата връзка между международната мобилност и реалната промяна в училищната среда.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</a:p>
        </p:txBody>
      </p:sp>
      <p:sp>
        <p:nvSpPr>
          <p:cNvPr id="75" name="Freeform 75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0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5610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РАЗПРОСТРАНЕНИЕ НА ДОБРИ ПРАКТИКИ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25588" y="3001010"/>
            <a:ext cx="15991637" cy="938792"/>
            <a:chOff x="0" y="0"/>
            <a:chExt cx="21322182" cy="12517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322178" cy="1251728"/>
            </a:xfrm>
            <a:custGeom>
              <a:avLst/>
              <a:gdLst/>
              <a:ahLst/>
              <a:cxnLst/>
              <a:rect l="l" t="t" r="r" b="b"/>
              <a:pathLst>
                <a:path w="21322178" h="1251728">
                  <a:moveTo>
                    <a:pt x="0" y="0"/>
                  </a:moveTo>
                  <a:lnTo>
                    <a:pt x="21322178" y="0"/>
                  </a:lnTo>
                  <a:lnTo>
                    <a:pt x="21322178" y="1251728"/>
                  </a:lnTo>
                  <a:lnTo>
                    <a:pt x="0" y="12517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6324" b="-25749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21322182" cy="12707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20"/>
                </a:lnSpc>
              </a:pPr>
              <a:r>
                <a:rPr lang="en-US" sz="226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Разпространението на резултатите осигурява споделяне на придобития опит с педагогическата общност и устойчивост на проекта.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68679" y="4236982"/>
            <a:ext cx="3515563" cy="2897867"/>
            <a:chOff x="0" y="0"/>
            <a:chExt cx="4687418" cy="38638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87443" cy="3863848"/>
            </a:xfrm>
            <a:custGeom>
              <a:avLst/>
              <a:gdLst/>
              <a:ahLst/>
              <a:cxnLst/>
              <a:rect l="l" t="t" r="r" b="b"/>
              <a:pathLst>
                <a:path w="4687443" h="386384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540250" y="0"/>
                  </a:lnTo>
                  <a:cubicBezTo>
                    <a:pt x="4621530" y="0"/>
                    <a:pt x="4687443" y="65913"/>
                    <a:pt x="4687443" y="147193"/>
                  </a:cubicBezTo>
                  <a:lnTo>
                    <a:pt x="4687443" y="3716655"/>
                  </a:lnTo>
                  <a:cubicBezTo>
                    <a:pt x="4687443" y="3797935"/>
                    <a:pt x="4621530" y="3863848"/>
                    <a:pt x="4540250" y="3863848"/>
                  </a:cubicBezTo>
                  <a:lnTo>
                    <a:pt x="147193" y="3863848"/>
                  </a:lnTo>
                  <a:cubicBezTo>
                    <a:pt x="65913" y="3863848"/>
                    <a:pt x="0" y="3797935"/>
                    <a:pt x="0" y="371665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66774" y="4235077"/>
            <a:ext cx="3519383" cy="128883"/>
            <a:chOff x="0" y="0"/>
            <a:chExt cx="4692510" cy="17184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92523" cy="171831"/>
            </a:xfrm>
            <a:custGeom>
              <a:avLst/>
              <a:gdLst/>
              <a:ahLst/>
              <a:cxnLst/>
              <a:rect l="l" t="t" r="r" b="b"/>
              <a:pathLst>
                <a:path w="4692523" h="171831">
                  <a:moveTo>
                    <a:pt x="0" y="0"/>
                  </a:moveTo>
                  <a:lnTo>
                    <a:pt x="4692523" y="0"/>
                  </a:lnTo>
                  <a:lnTo>
                    <a:pt x="4692523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23387" y="4491690"/>
            <a:ext cx="3006157" cy="877503"/>
            <a:chOff x="0" y="0"/>
            <a:chExt cx="4008209" cy="11700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008203" cy="1170005"/>
            </a:xfrm>
            <a:custGeom>
              <a:avLst/>
              <a:gdLst/>
              <a:ahLst/>
              <a:cxnLst/>
              <a:rect l="l" t="t" r="r" b="b"/>
              <a:pathLst>
                <a:path w="4008203" h="1170005">
                  <a:moveTo>
                    <a:pt x="0" y="0"/>
                  </a:moveTo>
                  <a:lnTo>
                    <a:pt x="4008203" y="0"/>
                  </a:lnTo>
                  <a:lnTo>
                    <a:pt x="4008203" y="1170005"/>
                  </a:lnTo>
                  <a:lnTo>
                    <a:pt x="0" y="11700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980" b="1447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4008209" cy="11795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42"/>
                </a:lnSpc>
              </a:pPr>
              <a:r>
                <a:rPr lang="en-US" sz="24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Вътрешно споделяне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23387" y="5040759"/>
            <a:ext cx="3006157" cy="1853108"/>
            <a:chOff x="0" y="0"/>
            <a:chExt cx="4008209" cy="247081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08203" cy="2470810"/>
            </a:xfrm>
            <a:custGeom>
              <a:avLst/>
              <a:gdLst/>
              <a:ahLst/>
              <a:cxnLst/>
              <a:rect l="l" t="t" r="r" b="b"/>
              <a:pathLst>
                <a:path w="4008203" h="2470810">
                  <a:moveTo>
                    <a:pt x="0" y="0"/>
                  </a:moveTo>
                  <a:lnTo>
                    <a:pt x="4008203" y="0"/>
                  </a:lnTo>
                  <a:lnTo>
                    <a:pt x="400820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91" r="-2909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4008209" cy="2489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представяне на резултатите пред колеги и в педагогическата общност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423964" y="4236982"/>
            <a:ext cx="3515563" cy="2897867"/>
            <a:chOff x="0" y="0"/>
            <a:chExt cx="4687418" cy="38638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687443" cy="3863848"/>
            </a:xfrm>
            <a:custGeom>
              <a:avLst/>
              <a:gdLst/>
              <a:ahLst/>
              <a:cxnLst/>
              <a:rect l="l" t="t" r="r" b="b"/>
              <a:pathLst>
                <a:path w="4687443" h="386384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540250" y="0"/>
                  </a:lnTo>
                  <a:cubicBezTo>
                    <a:pt x="4621530" y="0"/>
                    <a:pt x="4687443" y="65913"/>
                    <a:pt x="4687443" y="147193"/>
                  </a:cubicBezTo>
                  <a:lnTo>
                    <a:pt x="4687443" y="3716655"/>
                  </a:lnTo>
                  <a:cubicBezTo>
                    <a:pt x="4687443" y="3797935"/>
                    <a:pt x="4621530" y="3863848"/>
                    <a:pt x="4540250" y="3863848"/>
                  </a:cubicBezTo>
                  <a:lnTo>
                    <a:pt x="147193" y="3863848"/>
                  </a:lnTo>
                  <a:cubicBezTo>
                    <a:pt x="65913" y="3863848"/>
                    <a:pt x="0" y="3797935"/>
                    <a:pt x="0" y="371665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422059" y="4235077"/>
            <a:ext cx="3519383" cy="128883"/>
            <a:chOff x="0" y="0"/>
            <a:chExt cx="4692510" cy="17184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92523" cy="171831"/>
            </a:xfrm>
            <a:custGeom>
              <a:avLst/>
              <a:gdLst/>
              <a:ahLst/>
              <a:cxnLst/>
              <a:rect l="l" t="t" r="r" b="b"/>
              <a:pathLst>
                <a:path w="4692523" h="171831">
                  <a:moveTo>
                    <a:pt x="0" y="0"/>
                  </a:moveTo>
                  <a:lnTo>
                    <a:pt x="4692523" y="0"/>
                  </a:lnTo>
                  <a:lnTo>
                    <a:pt x="4692523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678672" y="4491690"/>
            <a:ext cx="3006157" cy="877503"/>
            <a:chOff x="0" y="0"/>
            <a:chExt cx="4008209" cy="117000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08203" cy="1170005"/>
            </a:xfrm>
            <a:custGeom>
              <a:avLst/>
              <a:gdLst/>
              <a:ahLst/>
              <a:cxnLst/>
              <a:rect l="l" t="t" r="r" b="b"/>
              <a:pathLst>
                <a:path w="4008203" h="1170005">
                  <a:moveTo>
                    <a:pt x="0" y="0"/>
                  </a:moveTo>
                  <a:lnTo>
                    <a:pt x="4008203" y="0"/>
                  </a:lnTo>
                  <a:lnTo>
                    <a:pt x="4008203" y="1170005"/>
                  </a:lnTo>
                  <a:lnTo>
                    <a:pt x="0" y="11700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980" b="1447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4008209" cy="11795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42"/>
                </a:lnSpc>
              </a:pPr>
              <a:r>
                <a:rPr lang="en-US" sz="245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Презентации по курсове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678672" y="5040759"/>
            <a:ext cx="3006157" cy="1853108"/>
            <a:chOff x="0" y="0"/>
            <a:chExt cx="4008209" cy="247081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08203" cy="2470810"/>
            </a:xfrm>
            <a:custGeom>
              <a:avLst/>
              <a:gdLst/>
              <a:ahLst/>
              <a:cxnLst/>
              <a:rect l="l" t="t" r="r" b="b"/>
              <a:pathLst>
                <a:path w="4008203" h="2470810">
                  <a:moveTo>
                    <a:pt x="0" y="0"/>
                  </a:moveTo>
                  <a:lnTo>
                    <a:pt x="4008203" y="0"/>
                  </a:lnTo>
                  <a:lnTo>
                    <a:pt x="400820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91" r="-2909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4008209" cy="2489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отделни материали за всяка мобилност с дейности, инструменти и изводи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679248" y="4236982"/>
            <a:ext cx="3515563" cy="2897867"/>
            <a:chOff x="0" y="0"/>
            <a:chExt cx="4687418" cy="386382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87443" cy="3863848"/>
            </a:xfrm>
            <a:custGeom>
              <a:avLst/>
              <a:gdLst/>
              <a:ahLst/>
              <a:cxnLst/>
              <a:rect l="l" t="t" r="r" b="b"/>
              <a:pathLst>
                <a:path w="4687443" h="386384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540250" y="0"/>
                  </a:lnTo>
                  <a:cubicBezTo>
                    <a:pt x="4621530" y="0"/>
                    <a:pt x="4687443" y="65913"/>
                    <a:pt x="4687443" y="147193"/>
                  </a:cubicBezTo>
                  <a:lnTo>
                    <a:pt x="4687443" y="3716655"/>
                  </a:lnTo>
                  <a:cubicBezTo>
                    <a:pt x="4687443" y="3797935"/>
                    <a:pt x="4621530" y="3863848"/>
                    <a:pt x="4540250" y="3863848"/>
                  </a:cubicBezTo>
                  <a:lnTo>
                    <a:pt x="147193" y="3863848"/>
                  </a:lnTo>
                  <a:cubicBezTo>
                    <a:pt x="65913" y="3863848"/>
                    <a:pt x="0" y="3797935"/>
                    <a:pt x="0" y="371665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677343" y="4235077"/>
            <a:ext cx="3519383" cy="128883"/>
            <a:chOff x="0" y="0"/>
            <a:chExt cx="4692510" cy="1718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692523" cy="171831"/>
            </a:xfrm>
            <a:custGeom>
              <a:avLst/>
              <a:gdLst/>
              <a:ahLst/>
              <a:cxnLst/>
              <a:rect l="l" t="t" r="r" b="b"/>
              <a:pathLst>
                <a:path w="4692523" h="171831">
                  <a:moveTo>
                    <a:pt x="0" y="0"/>
                  </a:moveTo>
                  <a:lnTo>
                    <a:pt x="4692523" y="0"/>
                  </a:lnTo>
                  <a:lnTo>
                    <a:pt x="4692523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933956" y="4491690"/>
            <a:ext cx="3006157" cy="506028"/>
            <a:chOff x="0" y="0"/>
            <a:chExt cx="4008209" cy="67470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008203" cy="674705"/>
            </a:xfrm>
            <a:custGeom>
              <a:avLst/>
              <a:gdLst/>
              <a:ahLst/>
              <a:cxnLst/>
              <a:rect l="l" t="t" r="r" b="b"/>
              <a:pathLst>
                <a:path w="4008203" h="674705">
                  <a:moveTo>
                    <a:pt x="0" y="0"/>
                  </a:moveTo>
                  <a:lnTo>
                    <a:pt x="4008203" y="0"/>
                  </a:lnTo>
                  <a:lnTo>
                    <a:pt x="4008203" y="674705"/>
                  </a:lnTo>
                  <a:lnTo>
                    <a:pt x="0" y="674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202" b="-4830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4008209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42"/>
                </a:lnSpc>
              </a:pPr>
              <a:r>
                <a:rPr lang="en-US" sz="24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Сайт на проекта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9933956" y="5040759"/>
            <a:ext cx="3006157" cy="1853108"/>
            <a:chOff x="0" y="0"/>
            <a:chExt cx="4008209" cy="247081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008203" cy="2470810"/>
            </a:xfrm>
            <a:custGeom>
              <a:avLst/>
              <a:gdLst/>
              <a:ahLst/>
              <a:cxnLst/>
              <a:rect l="l" t="t" r="r" b="b"/>
              <a:pathLst>
                <a:path w="4008203" h="2470810">
                  <a:moveTo>
                    <a:pt x="0" y="0"/>
                  </a:moveTo>
                  <a:lnTo>
                    <a:pt x="4008203" y="0"/>
                  </a:lnTo>
                  <a:lnTo>
                    <a:pt x="400820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91" r="-2909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008209" cy="2489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публикуване на информация, материали и визуални доказателства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3934542" y="4236982"/>
            <a:ext cx="3515563" cy="2897867"/>
            <a:chOff x="0" y="0"/>
            <a:chExt cx="4687418" cy="386382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687443" cy="3863848"/>
            </a:xfrm>
            <a:custGeom>
              <a:avLst/>
              <a:gdLst/>
              <a:ahLst/>
              <a:cxnLst/>
              <a:rect l="l" t="t" r="r" b="b"/>
              <a:pathLst>
                <a:path w="4687443" h="386384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4540250" y="0"/>
                  </a:lnTo>
                  <a:cubicBezTo>
                    <a:pt x="4621530" y="0"/>
                    <a:pt x="4687443" y="65913"/>
                    <a:pt x="4687443" y="147193"/>
                  </a:cubicBezTo>
                  <a:lnTo>
                    <a:pt x="4687443" y="3716655"/>
                  </a:lnTo>
                  <a:cubicBezTo>
                    <a:pt x="4687443" y="3797935"/>
                    <a:pt x="4621530" y="3863848"/>
                    <a:pt x="4540250" y="3863848"/>
                  </a:cubicBezTo>
                  <a:lnTo>
                    <a:pt x="147193" y="3863848"/>
                  </a:lnTo>
                  <a:cubicBezTo>
                    <a:pt x="65913" y="3863848"/>
                    <a:pt x="0" y="3797935"/>
                    <a:pt x="0" y="3716655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932627" y="4235077"/>
            <a:ext cx="3519383" cy="128883"/>
            <a:chOff x="0" y="0"/>
            <a:chExt cx="4692510" cy="17184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692523" cy="171831"/>
            </a:xfrm>
            <a:custGeom>
              <a:avLst/>
              <a:gdLst/>
              <a:ahLst/>
              <a:cxnLst/>
              <a:rect l="l" t="t" r="r" b="b"/>
              <a:pathLst>
                <a:path w="4692523" h="171831">
                  <a:moveTo>
                    <a:pt x="0" y="0"/>
                  </a:moveTo>
                  <a:lnTo>
                    <a:pt x="4692523" y="0"/>
                  </a:lnTo>
                  <a:lnTo>
                    <a:pt x="4692523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189240" y="4491690"/>
            <a:ext cx="3006157" cy="506028"/>
            <a:chOff x="0" y="0"/>
            <a:chExt cx="4008209" cy="67470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008203" cy="674705"/>
            </a:xfrm>
            <a:custGeom>
              <a:avLst/>
              <a:gdLst/>
              <a:ahLst/>
              <a:cxnLst/>
              <a:rect l="l" t="t" r="r" b="b"/>
              <a:pathLst>
                <a:path w="4008203" h="674705">
                  <a:moveTo>
                    <a:pt x="0" y="0"/>
                  </a:moveTo>
                  <a:lnTo>
                    <a:pt x="4008203" y="0"/>
                  </a:lnTo>
                  <a:lnTo>
                    <a:pt x="4008203" y="674705"/>
                  </a:lnTo>
                  <a:lnTo>
                    <a:pt x="0" y="6747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3202" b="-4830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4008209" cy="6842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942"/>
                </a:lnSpc>
              </a:pPr>
              <a:r>
                <a:rPr lang="en-US" sz="2451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Учебна практика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4189240" y="5040759"/>
            <a:ext cx="3006157" cy="1853108"/>
            <a:chOff x="0" y="0"/>
            <a:chExt cx="4008209" cy="247081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008203" cy="2470810"/>
            </a:xfrm>
            <a:custGeom>
              <a:avLst/>
              <a:gdLst/>
              <a:ahLst/>
              <a:cxnLst/>
              <a:rect l="l" t="t" r="r" b="b"/>
              <a:pathLst>
                <a:path w="4008203" h="2470810">
                  <a:moveTo>
                    <a:pt x="0" y="0"/>
                  </a:moveTo>
                  <a:lnTo>
                    <a:pt x="4008203" y="0"/>
                  </a:lnTo>
                  <a:lnTo>
                    <a:pt x="4008203" y="2470810"/>
                  </a:lnTo>
                  <a:lnTo>
                    <a:pt x="0" y="247081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9091" r="-2909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4008209" cy="2489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11"/>
                </a:lnSpc>
              </a:pPr>
              <a:r>
                <a:rPr lang="en-US" sz="19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прилагане и мултиплициране на работещи методи в часовете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522133" y="7426557"/>
            <a:ext cx="3241034" cy="1525191"/>
            <a:chOff x="0" y="0"/>
            <a:chExt cx="4321378" cy="203358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4321429" cy="2033651"/>
            </a:xfrm>
            <a:custGeom>
              <a:avLst/>
              <a:gdLst/>
              <a:ahLst/>
              <a:cxnLst/>
              <a:rect l="l" t="t" r="r" b="b"/>
              <a:pathLst>
                <a:path w="4321429" h="2033651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4173474" y="0"/>
                  </a:lnTo>
                  <a:cubicBezTo>
                    <a:pt x="4255135" y="0"/>
                    <a:pt x="4321429" y="66167"/>
                    <a:pt x="4321429" y="147955"/>
                  </a:cubicBezTo>
                  <a:lnTo>
                    <a:pt x="4321429" y="1885696"/>
                  </a:lnTo>
                  <a:cubicBezTo>
                    <a:pt x="4321429" y="1967357"/>
                    <a:pt x="4255262" y="2033651"/>
                    <a:pt x="4173474" y="2033651"/>
                  </a:cubicBezTo>
                  <a:lnTo>
                    <a:pt x="147955" y="2033651"/>
                  </a:lnTo>
                  <a:cubicBezTo>
                    <a:pt x="66167" y="2033651"/>
                    <a:pt x="0" y="1967357"/>
                    <a:pt x="0" y="188569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612125" y="7516549"/>
            <a:ext cx="3061059" cy="1345216"/>
            <a:chOff x="0" y="0"/>
            <a:chExt cx="4081412" cy="1793621"/>
          </a:xfrm>
        </p:grpSpPr>
        <p:sp>
          <p:nvSpPr>
            <p:cNvPr id="53" name="Freeform 53" descr="/mnt/data/course_pages/nice-02.png"/>
            <p:cNvSpPr/>
            <p:nvPr/>
          </p:nvSpPr>
          <p:spPr>
            <a:xfrm>
              <a:off x="0" y="0"/>
              <a:ext cx="4081399" cy="1793621"/>
            </a:xfrm>
            <a:custGeom>
              <a:avLst/>
              <a:gdLst/>
              <a:ahLst/>
              <a:cxnLst/>
              <a:rect l="l" t="t" r="r" b="b"/>
              <a:pathLst>
                <a:path w="4081399" h="1793621">
                  <a:moveTo>
                    <a:pt x="0" y="0"/>
                  </a:moveTo>
                  <a:lnTo>
                    <a:pt x="4081399" y="0"/>
                  </a:lnTo>
                  <a:lnTo>
                    <a:pt x="4081399" y="1793621"/>
                  </a:lnTo>
                  <a:lnTo>
                    <a:pt x="0" y="1793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3974" r="-1" b="-1397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40153" y="7426557"/>
            <a:ext cx="3241034" cy="1525191"/>
            <a:chOff x="0" y="0"/>
            <a:chExt cx="4321378" cy="203358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321429" cy="2033651"/>
            </a:xfrm>
            <a:custGeom>
              <a:avLst/>
              <a:gdLst/>
              <a:ahLst/>
              <a:cxnLst/>
              <a:rect l="l" t="t" r="r" b="b"/>
              <a:pathLst>
                <a:path w="4321429" h="2033651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4173474" y="0"/>
                  </a:lnTo>
                  <a:cubicBezTo>
                    <a:pt x="4255135" y="0"/>
                    <a:pt x="4321429" y="66167"/>
                    <a:pt x="4321429" y="147955"/>
                  </a:cubicBezTo>
                  <a:lnTo>
                    <a:pt x="4321429" y="1885696"/>
                  </a:lnTo>
                  <a:cubicBezTo>
                    <a:pt x="4321429" y="1967357"/>
                    <a:pt x="4255262" y="2033651"/>
                    <a:pt x="4173474" y="2033651"/>
                  </a:cubicBezTo>
                  <a:lnTo>
                    <a:pt x="147955" y="2033651"/>
                  </a:lnTo>
                  <a:cubicBezTo>
                    <a:pt x="66167" y="2033651"/>
                    <a:pt x="0" y="1967357"/>
                    <a:pt x="0" y="188569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730145" y="7516549"/>
            <a:ext cx="3061059" cy="1345216"/>
            <a:chOff x="0" y="0"/>
            <a:chExt cx="4081412" cy="1793621"/>
          </a:xfrm>
        </p:grpSpPr>
        <p:sp>
          <p:nvSpPr>
            <p:cNvPr id="57" name="Freeform 57" descr="/mnt/data/course_pages/florence-01.png"/>
            <p:cNvSpPr/>
            <p:nvPr/>
          </p:nvSpPr>
          <p:spPr>
            <a:xfrm>
              <a:off x="0" y="0"/>
              <a:ext cx="4081399" cy="1793621"/>
            </a:xfrm>
            <a:custGeom>
              <a:avLst/>
              <a:gdLst/>
              <a:ahLst/>
              <a:cxnLst/>
              <a:rect l="l" t="t" r="r" b="b"/>
              <a:pathLst>
                <a:path w="4081399" h="1793621">
                  <a:moveTo>
                    <a:pt x="0" y="0"/>
                  </a:moveTo>
                  <a:lnTo>
                    <a:pt x="4081399" y="0"/>
                  </a:lnTo>
                  <a:lnTo>
                    <a:pt x="4081399" y="1793621"/>
                  </a:lnTo>
                  <a:lnTo>
                    <a:pt x="0" y="1793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14020" b="-14021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9758172" y="7426557"/>
            <a:ext cx="3241034" cy="1525191"/>
            <a:chOff x="0" y="0"/>
            <a:chExt cx="4321378" cy="2033588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4321429" cy="2033651"/>
            </a:xfrm>
            <a:custGeom>
              <a:avLst/>
              <a:gdLst/>
              <a:ahLst/>
              <a:cxnLst/>
              <a:rect l="l" t="t" r="r" b="b"/>
              <a:pathLst>
                <a:path w="4321429" h="2033651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4173474" y="0"/>
                  </a:lnTo>
                  <a:cubicBezTo>
                    <a:pt x="4255135" y="0"/>
                    <a:pt x="4321429" y="66167"/>
                    <a:pt x="4321429" y="147955"/>
                  </a:cubicBezTo>
                  <a:lnTo>
                    <a:pt x="4321429" y="1885696"/>
                  </a:lnTo>
                  <a:cubicBezTo>
                    <a:pt x="4321429" y="1967357"/>
                    <a:pt x="4255262" y="2033651"/>
                    <a:pt x="4173474" y="2033651"/>
                  </a:cubicBezTo>
                  <a:lnTo>
                    <a:pt x="147955" y="2033651"/>
                  </a:lnTo>
                  <a:cubicBezTo>
                    <a:pt x="66167" y="2033651"/>
                    <a:pt x="0" y="1967357"/>
                    <a:pt x="0" y="188569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848155" y="7516549"/>
            <a:ext cx="3061059" cy="1345216"/>
            <a:chOff x="0" y="0"/>
            <a:chExt cx="4081412" cy="1793621"/>
          </a:xfrm>
        </p:grpSpPr>
        <p:sp>
          <p:nvSpPr>
            <p:cNvPr id="61" name="Freeform 61" descr="/mnt/data/course_pages/valencia-01.png"/>
            <p:cNvSpPr/>
            <p:nvPr/>
          </p:nvSpPr>
          <p:spPr>
            <a:xfrm>
              <a:off x="0" y="0"/>
              <a:ext cx="4081399" cy="1793621"/>
            </a:xfrm>
            <a:custGeom>
              <a:avLst/>
              <a:gdLst/>
              <a:ahLst/>
              <a:cxnLst/>
              <a:rect l="l" t="t" r="r" b="b"/>
              <a:pathLst>
                <a:path w="4081399" h="1793621">
                  <a:moveTo>
                    <a:pt x="0" y="0"/>
                  </a:moveTo>
                  <a:lnTo>
                    <a:pt x="4081399" y="0"/>
                  </a:lnTo>
                  <a:lnTo>
                    <a:pt x="4081399" y="1793621"/>
                  </a:lnTo>
                  <a:lnTo>
                    <a:pt x="0" y="1793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14020" b="-14021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876191" y="7426557"/>
            <a:ext cx="3241034" cy="1525191"/>
            <a:chOff x="0" y="0"/>
            <a:chExt cx="4321378" cy="203358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4321429" cy="2033651"/>
            </a:xfrm>
            <a:custGeom>
              <a:avLst/>
              <a:gdLst/>
              <a:ahLst/>
              <a:cxnLst/>
              <a:rect l="l" t="t" r="r" b="b"/>
              <a:pathLst>
                <a:path w="4321429" h="2033651">
                  <a:moveTo>
                    <a:pt x="0" y="147955"/>
                  </a:moveTo>
                  <a:cubicBezTo>
                    <a:pt x="0" y="66167"/>
                    <a:pt x="66167" y="0"/>
                    <a:pt x="147955" y="0"/>
                  </a:cubicBezTo>
                  <a:lnTo>
                    <a:pt x="4173474" y="0"/>
                  </a:lnTo>
                  <a:cubicBezTo>
                    <a:pt x="4255135" y="0"/>
                    <a:pt x="4321429" y="66167"/>
                    <a:pt x="4321429" y="147955"/>
                  </a:cubicBezTo>
                  <a:lnTo>
                    <a:pt x="4321429" y="1885696"/>
                  </a:lnTo>
                  <a:cubicBezTo>
                    <a:pt x="4321429" y="1967357"/>
                    <a:pt x="4255262" y="2033651"/>
                    <a:pt x="4173474" y="2033651"/>
                  </a:cubicBezTo>
                  <a:lnTo>
                    <a:pt x="147955" y="2033651"/>
                  </a:lnTo>
                  <a:cubicBezTo>
                    <a:pt x="66167" y="2033651"/>
                    <a:pt x="0" y="1967357"/>
                    <a:pt x="0" y="1885696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7E5F5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3966174" y="7516549"/>
            <a:ext cx="3061059" cy="1345216"/>
            <a:chOff x="0" y="0"/>
            <a:chExt cx="4081412" cy="1793621"/>
          </a:xfrm>
        </p:grpSpPr>
        <p:sp>
          <p:nvSpPr>
            <p:cNvPr id="65" name="Freeform 65" descr="/mnt/data/course_pages/rome-2.png"/>
            <p:cNvSpPr/>
            <p:nvPr/>
          </p:nvSpPr>
          <p:spPr>
            <a:xfrm>
              <a:off x="0" y="0"/>
              <a:ext cx="4081399" cy="1793621"/>
            </a:xfrm>
            <a:custGeom>
              <a:avLst/>
              <a:gdLst/>
              <a:ahLst/>
              <a:cxnLst/>
              <a:rect l="l" t="t" r="r" b="b"/>
              <a:pathLst>
                <a:path w="4081399" h="1793621">
                  <a:moveTo>
                    <a:pt x="0" y="0"/>
                  </a:moveTo>
                  <a:lnTo>
                    <a:pt x="4081399" y="0"/>
                  </a:lnTo>
                  <a:lnTo>
                    <a:pt x="4081399" y="1793621"/>
                  </a:lnTo>
                  <a:lnTo>
                    <a:pt x="0" y="17936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14020" b="-14021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71" name="TextBox 71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</a:p>
        </p:txBody>
      </p:sp>
      <p:sp>
        <p:nvSpPr>
          <p:cNvPr id="72" name="Freeform 72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0" y="1913401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5610" y="2101377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САЙТ И ИНФОРМАЦИОННО ОБСЛУЖВАНЕ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10989" y="4874159"/>
            <a:ext cx="9071394" cy="3487514"/>
            <a:chOff x="0" y="0"/>
            <a:chExt cx="10212680" cy="3926284"/>
          </a:xfrm>
        </p:grpSpPr>
        <p:sp>
          <p:nvSpPr>
            <p:cNvPr id="8" name="Freeform 8" descr="/mnt/data/Бланка проект_Образование без граници 2025_2026.docx_image2.png"/>
            <p:cNvSpPr/>
            <p:nvPr/>
          </p:nvSpPr>
          <p:spPr>
            <a:xfrm>
              <a:off x="0" y="0"/>
              <a:ext cx="10212705" cy="3926250"/>
            </a:xfrm>
            <a:custGeom>
              <a:avLst/>
              <a:gdLst/>
              <a:ahLst/>
              <a:cxnLst/>
              <a:rect l="l" t="t" r="r" b="b"/>
              <a:pathLst>
                <a:path w="10212705" h="3926250">
                  <a:moveTo>
                    <a:pt x="0" y="0"/>
                  </a:moveTo>
                  <a:lnTo>
                    <a:pt x="10212705" y="0"/>
                  </a:lnTo>
                  <a:lnTo>
                    <a:pt x="10212705" y="3926250"/>
                  </a:lnTo>
                  <a:lnTo>
                    <a:pt x="0" y="3926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755" r="-7755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224692" y="4165492"/>
            <a:ext cx="7412431" cy="1283054"/>
            <a:chOff x="0" y="0"/>
            <a:chExt cx="9883242" cy="171073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83241" cy="1710729"/>
            </a:xfrm>
            <a:custGeom>
              <a:avLst/>
              <a:gdLst/>
              <a:ahLst/>
              <a:cxnLst/>
              <a:rect l="l" t="t" r="r" b="b"/>
              <a:pathLst>
                <a:path w="9883241" h="1710729">
                  <a:moveTo>
                    <a:pt x="0" y="0"/>
                  </a:moveTo>
                  <a:lnTo>
                    <a:pt x="9883241" y="0"/>
                  </a:lnTo>
                  <a:lnTo>
                    <a:pt x="9883241" y="1710729"/>
                  </a:lnTo>
                  <a:lnTo>
                    <a:pt x="0" y="17107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752" b="-4038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9525"/>
              <a:ext cx="9883242" cy="17202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Информационното обслужване подпомага публичността, видимостта и проследимостта на проектните дейности.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15157" y="5569810"/>
            <a:ext cx="705402" cy="485775"/>
            <a:chOff x="0" y="0"/>
            <a:chExt cx="940537" cy="6477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224692" y="5675424"/>
            <a:ext cx="686333" cy="429664"/>
            <a:chOff x="0" y="0"/>
            <a:chExt cx="915111" cy="57288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1295378" y="5606796"/>
            <a:ext cx="6177029" cy="411804"/>
            <a:chOff x="0" y="0"/>
            <a:chExt cx="8236039" cy="5490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36034" cy="549069"/>
            </a:xfrm>
            <a:custGeom>
              <a:avLst/>
              <a:gdLst/>
              <a:ahLst/>
              <a:cxnLst/>
              <a:rect l="l" t="t" r="r" b="b"/>
              <a:pathLst>
                <a:path w="8236034" h="549069">
                  <a:moveTo>
                    <a:pt x="0" y="0"/>
                  </a:moveTo>
                  <a:lnTo>
                    <a:pt x="8236034" y="0"/>
                  </a:lnTo>
                  <a:lnTo>
                    <a:pt x="823603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8236039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Публичност — представяне на проекта, целите и дейностите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15157" y="6338506"/>
            <a:ext cx="705402" cy="485775"/>
            <a:chOff x="0" y="0"/>
            <a:chExt cx="940537" cy="6477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224692" y="6444129"/>
            <a:ext cx="686333" cy="429664"/>
            <a:chOff x="0" y="0"/>
            <a:chExt cx="915111" cy="57288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295378" y="6375492"/>
            <a:ext cx="6177029" cy="411804"/>
            <a:chOff x="0" y="0"/>
            <a:chExt cx="8236039" cy="54907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236034" cy="549069"/>
            </a:xfrm>
            <a:custGeom>
              <a:avLst/>
              <a:gdLst/>
              <a:ahLst/>
              <a:cxnLst/>
              <a:rect l="l" t="t" r="r" b="b"/>
              <a:pathLst>
                <a:path w="8236034" h="549069">
                  <a:moveTo>
                    <a:pt x="0" y="0"/>
                  </a:moveTo>
                  <a:lnTo>
                    <a:pt x="8236034" y="0"/>
                  </a:lnTo>
                  <a:lnTo>
                    <a:pt x="823603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8236039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Документиране — съхраняване на информация за мобилностите и резултатите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0215157" y="7107203"/>
            <a:ext cx="705402" cy="485775"/>
            <a:chOff x="0" y="0"/>
            <a:chExt cx="940537" cy="6477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0224692" y="7212825"/>
            <a:ext cx="686333" cy="429664"/>
            <a:chOff x="0" y="0"/>
            <a:chExt cx="915111" cy="57288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1295378" y="7144188"/>
            <a:ext cx="6177029" cy="411804"/>
            <a:chOff x="0" y="0"/>
            <a:chExt cx="8236039" cy="5490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36034" cy="549069"/>
            </a:xfrm>
            <a:custGeom>
              <a:avLst/>
              <a:gdLst/>
              <a:ahLst/>
              <a:cxnLst/>
              <a:rect l="l" t="t" r="r" b="b"/>
              <a:pathLst>
                <a:path w="8236034" h="549069">
                  <a:moveTo>
                    <a:pt x="0" y="0"/>
                  </a:moveTo>
                  <a:lnTo>
                    <a:pt x="8236034" y="0"/>
                  </a:lnTo>
                  <a:lnTo>
                    <a:pt x="823603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8236039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Достъпност — споделяне на материали и добри практики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0215157" y="7875899"/>
            <a:ext cx="705402" cy="485775"/>
            <a:chOff x="0" y="0"/>
            <a:chExt cx="940537" cy="6477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40562" cy="647700"/>
            </a:xfrm>
            <a:custGeom>
              <a:avLst/>
              <a:gdLst/>
              <a:ahLst/>
              <a:cxnLst/>
              <a:rect l="l" t="t" r="r" b="b"/>
              <a:pathLst>
                <a:path w="940562" h="647700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788162" y="0"/>
                  </a:lnTo>
                  <a:cubicBezTo>
                    <a:pt x="872363" y="0"/>
                    <a:pt x="940562" y="68199"/>
                    <a:pt x="940562" y="152400"/>
                  </a:cubicBezTo>
                  <a:lnTo>
                    <a:pt x="940562" y="495300"/>
                  </a:lnTo>
                  <a:cubicBezTo>
                    <a:pt x="940562" y="579501"/>
                    <a:pt x="872363" y="647700"/>
                    <a:pt x="788162" y="647700"/>
                  </a:cubicBezTo>
                  <a:lnTo>
                    <a:pt x="152400" y="647700"/>
                  </a:lnTo>
                  <a:cubicBezTo>
                    <a:pt x="68199" y="647700"/>
                    <a:pt x="0" y="579501"/>
                    <a:pt x="0" y="495300"/>
                  </a:cubicBez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224692" y="7981521"/>
            <a:ext cx="686333" cy="429664"/>
            <a:chOff x="0" y="0"/>
            <a:chExt cx="915111" cy="572885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915115" cy="572888"/>
            </a:xfrm>
            <a:custGeom>
              <a:avLst/>
              <a:gdLst/>
              <a:ahLst/>
              <a:cxnLst/>
              <a:rect l="l" t="t" r="r" b="b"/>
              <a:pathLst>
                <a:path w="915115" h="572888">
                  <a:moveTo>
                    <a:pt x="0" y="0"/>
                  </a:moveTo>
                  <a:lnTo>
                    <a:pt x="915115" y="0"/>
                  </a:lnTo>
                  <a:lnTo>
                    <a:pt x="915115" y="572888"/>
                  </a:lnTo>
                  <a:lnTo>
                    <a:pt x="0" y="5728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151" b="5290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915111" cy="582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1"/>
                </a:lnSpc>
              </a:pPr>
              <a:r>
                <a:rPr lang="en-US" sz="2101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295378" y="7912884"/>
            <a:ext cx="6177029" cy="411804"/>
            <a:chOff x="0" y="0"/>
            <a:chExt cx="8236039" cy="549072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236034" cy="549069"/>
            </a:xfrm>
            <a:custGeom>
              <a:avLst/>
              <a:gdLst/>
              <a:ahLst/>
              <a:cxnLst/>
              <a:rect l="l" t="t" r="r" b="b"/>
              <a:pathLst>
                <a:path w="8236034" h="549069">
                  <a:moveTo>
                    <a:pt x="0" y="0"/>
                  </a:moveTo>
                  <a:lnTo>
                    <a:pt x="8236034" y="0"/>
                  </a:lnTo>
                  <a:lnTo>
                    <a:pt x="823603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8236039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17"/>
                </a:lnSpc>
              </a:pPr>
              <a:r>
                <a:rPr lang="en-US" sz="1681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Визуална идентичност — единен стил, лога и проектна информация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</a:p>
        </p:txBody>
      </p:sp>
      <p:sp>
        <p:nvSpPr>
          <p:cNvPr id="50" name="Freeform 50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535" y="2114702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92235" y="2302678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СЕРТИФИКАТИ И ДОКАЗАТЕЛСТВА ЗА УЧАСТИЕ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42242" y="3330831"/>
            <a:ext cx="8259690" cy="4708265"/>
            <a:chOff x="0" y="0"/>
            <a:chExt cx="11012921" cy="6277686"/>
          </a:xfrm>
        </p:grpSpPr>
        <p:sp>
          <p:nvSpPr>
            <p:cNvPr id="8" name="Freeform 8" descr="/mnt/data/course_pages/rome-8.png"/>
            <p:cNvSpPr/>
            <p:nvPr/>
          </p:nvSpPr>
          <p:spPr>
            <a:xfrm>
              <a:off x="0" y="0"/>
              <a:ext cx="11012907" cy="6277737"/>
            </a:xfrm>
            <a:custGeom>
              <a:avLst/>
              <a:gdLst/>
              <a:ahLst/>
              <a:cxnLst/>
              <a:rect l="l" t="t" r="r" b="b"/>
              <a:pathLst>
                <a:path w="11012907" h="6277737">
                  <a:moveTo>
                    <a:pt x="0" y="0"/>
                  </a:moveTo>
                  <a:lnTo>
                    <a:pt x="11012907" y="0"/>
                  </a:lnTo>
                  <a:lnTo>
                    <a:pt x="11012907" y="6277737"/>
                  </a:lnTo>
                  <a:lnTo>
                    <a:pt x="0" y="6277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52" r="-653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42352" y="3253426"/>
            <a:ext cx="7770847" cy="1456553"/>
            <a:chOff x="0" y="0"/>
            <a:chExt cx="10361130" cy="194207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361168" cy="1942084"/>
            </a:xfrm>
            <a:custGeom>
              <a:avLst/>
              <a:gdLst/>
              <a:ahLst/>
              <a:cxnLst/>
              <a:rect l="l" t="t" r="r" b="b"/>
              <a:pathLst>
                <a:path w="10361168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0213213" y="0"/>
                  </a:lnTo>
                  <a:cubicBezTo>
                    <a:pt x="10294874" y="0"/>
                    <a:pt x="10361168" y="66294"/>
                    <a:pt x="10361168" y="147955"/>
                  </a:cubicBezTo>
                  <a:lnTo>
                    <a:pt x="10361168" y="1794129"/>
                  </a:lnTo>
                  <a:cubicBezTo>
                    <a:pt x="10361168" y="1875790"/>
                    <a:pt x="10294874" y="1942084"/>
                    <a:pt x="10213213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340447" y="3251521"/>
            <a:ext cx="7774667" cy="128883"/>
            <a:chOff x="0" y="0"/>
            <a:chExt cx="10366223" cy="1718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366248" cy="171831"/>
            </a:xfrm>
            <a:custGeom>
              <a:avLst/>
              <a:gdLst/>
              <a:ahLst/>
              <a:cxnLst/>
              <a:rect l="l" t="t" r="r" b="b"/>
              <a:pathLst>
                <a:path w="10366248" h="171831">
                  <a:moveTo>
                    <a:pt x="0" y="0"/>
                  </a:moveTo>
                  <a:lnTo>
                    <a:pt x="10366248" y="0"/>
                  </a:lnTo>
                  <a:lnTo>
                    <a:pt x="10366248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597060" y="3508134"/>
            <a:ext cx="7261441" cy="329441"/>
            <a:chOff x="0" y="0"/>
            <a:chExt cx="9681921" cy="43925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81916" cy="439255"/>
            </a:xfrm>
            <a:custGeom>
              <a:avLst/>
              <a:gdLst/>
              <a:ahLst/>
              <a:cxnLst/>
              <a:rect l="l" t="t" r="r" b="b"/>
              <a:pathLst>
                <a:path w="9681916" h="439255">
                  <a:moveTo>
                    <a:pt x="0" y="0"/>
                  </a:moveTo>
                  <a:lnTo>
                    <a:pt x="9681916" y="0"/>
                  </a:lnTo>
                  <a:lnTo>
                    <a:pt x="968191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482" b="-37948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9681921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Сертификати за участие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97060" y="4057202"/>
            <a:ext cx="7261441" cy="411804"/>
            <a:chOff x="0" y="0"/>
            <a:chExt cx="9681921" cy="5490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681916" cy="549069"/>
            </a:xfrm>
            <a:custGeom>
              <a:avLst/>
              <a:gdLst/>
              <a:ahLst/>
              <a:cxnLst/>
              <a:rect l="l" t="t" r="r" b="b"/>
              <a:pathLst>
                <a:path w="9681916" h="549069">
                  <a:moveTo>
                    <a:pt x="0" y="0"/>
                  </a:moveTo>
                  <a:lnTo>
                    <a:pt x="9681916" y="0"/>
                  </a:lnTo>
                  <a:lnTo>
                    <a:pt x="968191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3586" b="-29358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9681921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обучаващите организации издават сертификати при изпълнение на изискванията за присъствие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42352" y="5106533"/>
            <a:ext cx="7770847" cy="1456553"/>
            <a:chOff x="0" y="0"/>
            <a:chExt cx="10361130" cy="194207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361168" cy="1942084"/>
            </a:xfrm>
            <a:custGeom>
              <a:avLst/>
              <a:gdLst/>
              <a:ahLst/>
              <a:cxnLst/>
              <a:rect l="l" t="t" r="r" b="b"/>
              <a:pathLst>
                <a:path w="10361168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0213213" y="0"/>
                  </a:lnTo>
                  <a:cubicBezTo>
                    <a:pt x="10294874" y="0"/>
                    <a:pt x="10361168" y="66294"/>
                    <a:pt x="10361168" y="147955"/>
                  </a:cubicBezTo>
                  <a:lnTo>
                    <a:pt x="10361168" y="1794129"/>
                  </a:lnTo>
                  <a:cubicBezTo>
                    <a:pt x="10361168" y="1875790"/>
                    <a:pt x="10294874" y="1942084"/>
                    <a:pt x="10213213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40447" y="5104628"/>
            <a:ext cx="7774667" cy="128883"/>
            <a:chOff x="0" y="0"/>
            <a:chExt cx="10366223" cy="1718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366248" cy="171831"/>
            </a:xfrm>
            <a:custGeom>
              <a:avLst/>
              <a:gdLst/>
              <a:ahLst/>
              <a:cxnLst/>
              <a:rect l="l" t="t" r="r" b="b"/>
              <a:pathLst>
                <a:path w="10366248" h="171831">
                  <a:moveTo>
                    <a:pt x="0" y="0"/>
                  </a:moveTo>
                  <a:lnTo>
                    <a:pt x="10366248" y="0"/>
                  </a:lnTo>
                  <a:lnTo>
                    <a:pt x="10366248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97060" y="5361241"/>
            <a:ext cx="7261441" cy="329441"/>
            <a:chOff x="0" y="0"/>
            <a:chExt cx="9681921" cy="439255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681916" cy="439255"/>
            </a:xfrm>
            <a:custGeom>
              <a:avLst/>
              <a:gdLst/>
              <a:ahLst/>
              <a:cxnLst/>
              <a:rect l="l" t="t" r="r" b="b"/>
              <a:pathLst>
                <a:path w="9681916" h="439255">
                  <a:moveTo>
                    <a:pt x="0" y="0"/>
                  </a:moveTo>
                  <a:lnTo>
                    <a:pt x="9681916" y="0"/>
                  </a:lnTo>
                  <a:lnTo>
                    <a:pt x="968191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482" b="-37948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9681921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Материали от обученията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97060" y="5910310"/>
            <a:ext cx="7261441" cy="411804"/>
            <a:chOff x="0" y="0"/>
            <a:chExt cx="9681921" cy="54907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681916" cy="549069"/>
            </a:xfrm>
            <a:custGeom>
              <a:avLst/>
              <a:gdLst/>
              <a:ahLst/>
              <a:cxnLst/>
              <a:rect l="l" t="t" r="r" b="b"/>
              <a:pathLst>
                <a:path w="9681916" h="549069">
                  <a:moveTo>
                    <a:pt x="0" y="0"/>
                  </a:moveTo>
                  <a:lnTo>
                    <a:pt x="9681916" y="0"/>
                  </a:lnTo>
                  <a:lnTo>
                    <a:pt x="968191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3586" b="-29358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9681921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презентации, снимки, дейности, практически задачи и създадени продукти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42352" y="6959641"/>
            <a:ext cx="7770847" cy="1456553"/>
            <a:chOff x="0" y="0"/>
            <a:chExt cx="10361130" cy="194207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361168" cy="1942084"/>
            </a:xfrm>
            <a:custGeom>
              <a:avLst/>
              <a:gdLst/>
              <a:ahLst/>
              <a:cxnLst/>
              <a:rect l="l" t="t" r="r" b="b"/>
              <a:pathLst>
                <a:path w="10361168" h="1942084">
                  <a:moveTo>
                    <a:pt x="0" y="147955"/>
                  </a:moveTo>
                  <a:cubicBezTo>
                    <a:pt x="0" y="66294"/>
                    <a:pt x="66294" y="0"/>
                    <a:pt x="147955" y="0"/>
                  </a:cubicBezTo>
                  <a:lnTo>
                    <a:pt x="10213213" y="0"/>
                  </a:lnTo>
                  <a:cubicBezTo>
                    <a:pt x="10294874" y="0"/>
                    <a:pt x="10361168" y="66294"/>
                    <a:pt x="10361168" y="147955"/>
                  </a:cubicBezTo>
                  <a:lnTo>
                    <a:pt x="10361168" y="1794129"/>
                  </a:lnTo>
                  <a:cubicBezTo>
                    <a:pt x="10361168" y="1875790"/>
                    <a:pt x="10294874" y="1942084"/>
                    <a:pt x="10213213" y="1942084"/>
                  </a:cubicBezTo>
                  <a:lnTo>
                    <a:pt x="147955" y="1942084"/>
                  </a:lnTo>
                  <a:cubicBezTo>
                    <a:pt x="66294" y="1942084"/>
                    <a:pt x="0" y="1875790"/>
                    <a:pt x="0" y="1794129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40447" y="6957736"/>
            <a:ext cx="7774667" cy="128883"/>
            <a:chOff x="0" y="0"/>
            <a:chExt cx="10366223" cy="171844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366248" cy="171831"/>
            </a:xfrm>
            <a:custGeom>
              <a:avLst/>
              <a:gdLst/>
              <a:ahLst/>
              <a:cxnLst/>
              <a:rect l="l" t="t" r="r" b="b"/>
              <a:pathLst>
                <a:path w="10366248" h="171831">
                  <a:moveTo>
                    <a:pt x="0" y="0"/>
                  </a:moveTo>
                  <a:lnTo>
                    <a:pt x="10366248" y="0"/>
                  </a:lnTo>
                  <a:lnTo>
                    <a:pt x="10366248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9597060" y="7214349"/>
            <a:ext cx="7261441" cy="329441"/>
            <a:chOff x="0" y="0"/>
            <a:chExt cx="9681921" cy="439255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681916" cy="439255"/>
            </a:xfrm>
            <a:custGeom>
              <a:avLst/>
              <a:gdLst/>
              <a:ahLst/>
              <a:cxnLst/>
              <a:rect l="l" t="t" r="r" b="b"/>
              <a:pathLst>
                <a:path w="9681916" h="439255">
                  <a:moveTo>
                    <a:pt x="0" y="0"/>
                  </a:moveTo>
                  <a:lnTo>
                    <a:pt x="9681916" y="0"/>
                  </a:lnTo>
                  <a:lnTo>
                    <a:pt x="968191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79482" b="-37948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9681921" cy="4583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Отчетност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597060" y="7763418"/>
            <a:ext cx="7261441" cy="411804"/>
            <a:chOff x="0" y="0"/>
            <a:chExt cx="9681921" cy="5490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9681916" cy="549069"/>
            </a:xfrm>
            <a:custGeom>
              <a:avLst/>
              <a:gdLst/>
              <a:ahLst/>
              <a:cxnLst/>
              <a:rect l="l" t="t" r="r" b="b"/>
              <a:pathLst>
                <a:path w="9681916" h="549069">
                  <a:moveTo>
                    <a:pt x="0" y="0"/>
                  </a:moveTo>
                  <a:lnTo>
                    <a:pt x="9681916" y="0"/>
                  </a:lnTo>
                  <a:lnTo>
                    <a:pt x="9681916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3586" b="-29358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19050"/>
              <a:ext cx="9681921" cy="56812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1"/>
                </a:lnSpc>
              </a:pPr>
              <a:r>
                <a:rPr lang="en-US" sz="17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доказателства за реализирани мобилности, споделяне на резултати и публичност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25877" y="8439145"/>
            <a:ext cx="15736167" cy="1015995"/>
            <a:chOff x="0" y="0"/>
            <a:chExt cx="20981556" cy="1354659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20981670" cy="1354723"/>
            </a:xfrm>
            <a:custGeom>
              <a:avLst/>
              <a:gdLst/>
              <a:ahLst/>
              <a:cxnLst/>
              <a:rect l="l" t="t" r="r" b="b"/>
              <a:pathLst>
                <a:path w="20981670" h="1354723">
                  <a:moveTo>
                    <a:pt x="0" y="193605"/>
                  </a:moveTo>
                  <a:cubicBezTo>
                    <a:pt x="0" y="86647"/>
                    <a:pt x="67183" y="0"/>
                    <a:pt x="150114" y="0"/>
                  </a:cubicBezTo>
                  <a:lnTo>
                    <a:pt x="20831556" y="0"/>
                  </a:lnTo>
                  <a:cubicBezTo>
                    <a:pt x="20914488" y="0"/>
                    <a:pt x="20981670" y="86647"/>
                    <a:pt x="20981670" y="193605"/>
                  </a:cubicBezTo>
                  <a:lnTo>
                    <a:pt x="20981670" y="1161137"/>
                  </a:lnTo>
                  <a:cubicBezTo>
                    <a:pt x="20981670" y="1268094"/>
                    <a:pt x="20914488" y="1354723"/>
                    <a:pt x="20831556" y="1354723"/>
                  </a:cubicBezTo>
                  <a:lnTo>
                    <a:pt x="150114" y="1354723"/>
                  </a:lnTo>
                  <a:cubicBezTo>
                    <a:pt x="67183" y="1354578"/>
                    <a:pt x="0" y="1267931"/>
                    <a:pt x="0" y="1161137"/>
                  </a:cubicBezTo>
                  <a:close/>
                </a:path>
              </a:pathLst>
            </a:custGeom>
            <a:solidFill>
              <a:srgbClr val="F6FA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09941" y="8758285"/>
            <a:ext cx="15168029" cy="391203"/>
            <a:chOff x="0" y="0"/>
            <a:chExt cx="20224039" cy="52160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224040" cy="521593"/>
            </a:xfrm>
            <a:custGeom>
              <a:avLst/>
              <a:gdLst/>
              <a:ahLst/>
              <a:cxnLst/>
              <a:rect l="l" t="t" r="r" b="b"/>
              <a:pathLst>
                <a:path w="20224040" h="521593">
                  <a:moveTo>
                    <a:pt x="0" y="0"/>
                  </a:moveTo>
                  <a:lnTo>
                    <a:pt x="20224040" y="0"/>
                  </a:lnTo>
                  <a:lnTo>
                    <a:pt x="20224040" y="521593"/>
                  </a:lnTo>
                  <a:lnTo>
                    <a:pt x="0" y="52159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2696" b="-67831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20224039" cy="540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05"/>
                </a:lnSpc>
              </a:pPr>
              <a:r>
                <a:rPr lang="en-US" sz="192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Доказателствата подкрепят финалния отчет и показват реалното участие на учителите в обученията.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</a:p>
        </p:txBody>
      </p:sp>
      <p:sp>
        <p:nvSpPr>
          <p:cNvPr id="50" name="Freeform 50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454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885315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РЕАЛИЗИРАНИ РЕЗУЛТАТИ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01890" y="3145117"/>
            <a:ext cx="4892050" cy="2352608"/>
            <a:chOff x="0" y="0"/>
            <a:chExt cx="6522733" cy="313681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522720" cy="3136773"/>
            </a:xfrm>
            <a:custGeom>
              <a:avLst/>
              <a:gdLst/>
              <a:ahLst/>
              <a:cxnLst/>
              <a:rect l="l" t="t" r="r" b="b"/>
              <a:pathLst>
                <a:path w="6522720" h="3136773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5146" y="0"/>
                  </a:lnTo>
                  <a:cubicBezTo>
                    <a:pt x="6456680" y="0"/>
                    <a:pt x="6522720" y="66040"/>
                    <a:pt x="6522720" y="147574"/>
                  </a:cubicBezTo>
                  <a:lnTo>
                    <a:pt x="6522720" y="2989199"/>
                  </a:lnTo>
                  <a:cubicBezTo>
                    <a:pt x="6522720" y="3070733"/>
                    <a:pt x="6456680" y="3136773"/>
                    <a:pt x="6375146" y="3136773"/>
                  </a:cubicBezTo>
                  <a:lnTo>
                    <a:pt x="147574" y="3136773"/>
                  </a:lnTo>
                  <a:cubicBezTo>
                    <a:pt x="66040" y="3136773"/>
                    <a:pt x="0" y="3070733"/>
                    <a:pt x="0" y="29891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101890" y="3145117"/>
            <a:ext cx="4892050" cy="142608"/>
            <a:chOff x="0" y="0"/>
            <a:chExt cx="6522733" cy="19014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522720" cy="190119"/>
            </a:xfrm>
            <a:custGeom>
              <a:avLst/>
              <a:gdLst/>
              <a:ahLst/>
              <a:cxnLst/>
              <a:rect l="l" t="t" r="r" b="b"/>
              <a:pathLst>
                <a:path w="6522720" h="190119">
                  <a:moveTo>
                    <a:pt x="0" y="0"/>
                  </a:moveTo>
                  <a:lnTo>
                    <a:pt x="6522720" y="0"/>
                  </a:lnTo>
                  <a:lnTo>
                    <a:pt x="6522720" y="190119"/>
                  </a:lnTo>
                  <a:lnTo>
                    <a:pt x="0" y="190119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413405" y="3566455"/>
            <a:ext cx="4255284" cy="469215"/>
            <a:chOff x="0" y="0"/>
            <a:chExt cx="5673712" cy="6256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673713" cy="625615"/>
            </a:xfrm>
            <a:custGeom>
              <a:avLst/>
              <a:gdLst/>
              <a:ahLst/>
              <a:cxnLst/>
              <a:rect l="l" t="t" r="r" b="b"/>
              <a:pathLst>
                <a:path w="5673713" h="625615">
                  <a:moveTo>
                    <a:pt x="0" y="0"/>
                  </a:moveTo>
                  <a:lnTo>
                    <a:pt x="5673713" y="0"/>
                  </a:lnTo>
                  <a:lnTo>
                    <a:pt x="5673713" y="625615"/>
                  </a:lnTo>
                  <a:lnTo>
                    <a:pt x="0" y="6256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29" b="-10889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673712" cy="644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Повишени компетентности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54591" y="4293965"/>
            <a:ext cx="4186647" cy="674468"/>
            <a:chOff x="0" y="0"/>
            <a:chExt cx="5582196" cy="89929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82201" cy="899295"/>
            </a:xfrm>
            <a:custGeom>
              <a:avLst/>
              <a:gdLst/>
              <a:ahLst/>
              <a:cxnLst/>
              <a:rect l="l" t="t" r="r" b="b"/>
              <a:pathLst>
                <a:path w="5582201" h="899295">
                  <a:moveTo>
                    <a:pt x="0" y="0"/>
                  </a:moveTo>
                  <a:lnTo>
                    <a:pt x="5582201" y="0"/>
                  </a:lnTo>
                  <a:lnTo>
                    <a:pt x="5582201" y="899295"/>
                  </a:lnTo>
                  <a:lnTo>
                    <a:pt x="0" y="899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210" b="-6368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5582196" cy="927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професионални, дигитални и социални умения на учителите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798478" y="3145117"/>
            <a:ext cx="4892050" cy="2352608"/>
            <a:chOff x="0" y="0"/>
            <a:chExt cx="6522733" cy="313681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522720" cy="3136773"/>
            </a:xfrm>
            <a:custGeom>
              <a:avLst/>
              <a:gdLst/>
              <a:ahLst/>
              <a:cxnLst/>
              <a:rect l="l" t="t" r="r" b="b"/>
              <a:pathLst>
                <a:path w="6522720" h="3136773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5146" y="0"/>
                  </a:lnTo>
                  <a:cubicBezTo>
                    <a:pt x="6456680" y="0"/>
                    <a:pt x="6522720" y="66040"/>
                    <a:pt x="6522720" y="147574"/>
                  </a:cubicBezTo>
                  <a:lnTo>
                    <a:pt x="6522720" y="2989199"/>
                  </a:lnTo>
                  <a:cubicBezTo>
                    <a:pt x="6522720" y="3070733"/>
                    <a:pt x="6456680" y="3136773"/>
                    <a:pt x="6375146" y="3136773"/>
                  </a:cubicBezTo>
                  <a:lnTo>
                    <a:pt x="147574" y="3136773"/>
                  </a:lnTo>
                  <a:cubicBezTo>
                    <a:pt x="66040" y="3136773"/>
                    <a:pt x="0" y="3070733"/>
                    <a:pt x="0" y="29891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98478" y="3145117"/>
            <a:ext cx="4892050" cy="142608"/>
            <a:chOff x="0" y="0"/>
            <a:chExt cx="6522733" cy="19014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522720" cy="190119"/>
            </a:xfrm>
            <a:custGeom>
              <a:avLst/>
              <a:gdLst/>
              <a:ahLst/>
              <a:cxnLst/>
              <a:rect l="l" t="t" r="r" b="b"/>
              <a:pathLst>
                <a:path w="6522720" h="190119">
                  <a:moveTo>
                    <a:pt x="0" y="0"/>
                  </a:moveTo>
                  <a:lnTo>
                    <a:pt x="6522720" y="0"/>
                  </a:lnTo>
                  <a:lnTo>
                    <a:pt x="6522720" y="190119"/>
                  </a:lnTo>
                  <a:lnTo>
                    <a:pt x="0" y="190119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034965" y="3566455"/>
            <a:ext cx="4255284" cy="469215"/>
            <a:chOff x="0" y="0"/>
            <a:chExt cx="5673712" cy="6256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673713" cy="625615"/>
            </a:xfrm>
            <a:custGeom>
              <a:avLst/>
              <a:gdLst/>
              <a:ahLst/>
              <a:cxnLst/>
              <a:rect l="l" t="t" r="r" b="b"/>
              <a:pathLst>
                <a:path w="5673713" h="625615">
                  <a:moveTo>
                    <a:pt x="0" y="0"/>
                  </a:moveTo>
                  <a:lnTo>
                    <a:pt x="5673713" y="0"/>
                  </a:lnTo>
                  <a:lnTo>
                    <a:pt x="5673713" y="625615"/>
                  </a:lnTo>
                  <a:lnTo>
                    <a:pt x="0" y="6256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29" b="-10889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5673712" cy="644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Нови методи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151179" y="4293965"/>
            <a:ext cx="4186647" cy="674468"/>
            <a:chOff x="0" y="0"/>
            <a:chExt cx="5582196" cy="89929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82201" cy="899295"/>
            </a:xfrm>
            <a:custGeom>
              <a:avLst/>
              <a:gdLst/>
              <a:ahLst/>
              <a:cxnLst/>
              <a:rect l="l" t="t" r="r" b="b"/>
              <a:pathLst>
                <a:path w="5582201" h="899295">
                  <a:moveTo>
                    <a:pt x="0" y="0"/>
                  </a:moveTo>
                  <a:lnTo>
                    <a:pt x="5582201" y="0"/>
                  </a:lnTo>
                  <a:lnTo>
                    <a:pt x="5582201" y="899295"/>
                  </a:lnTo>
                  <a:lnTo>
                    <a:pt x="0" y="899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210" b="-6368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28575"/>
              <a:ext cx="5582196" cy="927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иновативни подходи и активни форми на обучение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495066" y="3145117"/>
            <a:ext cx="4892050" cy="2352608"/>
            <a:chOff x="0" y="0"/>
            <a:chExt cx="6522733" cy="31368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6522720" cy="3136773"/>
            </a:xfrm>
            <a:custGeom>
              <a:avLst/>
              <a:gdLst/>
              <a:ahLst/>
              <a:cxnLst/>
              <a:rect l="l" t="t" r="r" b="b"/>
              <a:pathLst>
                <a:path w="6522720" h="3136773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5146" y="0"/>
                  </a:lnTo>
                  <a:cubicBezTo>
                    <a:pt x="6456680" y="0"/>
                    <a:pt x="6522720" y="66040"/>
                    <a:pt x="6522720" y="147574"/>
                  </a:cubicBezTo>
                  <a:lnTo>
                    <a:pt x="6522720" y="2989199"/>
                  </a:lnTo>
                  <a:cubicBezTo>
                    <a:pt x="6522720" y="3070733"/>
                    <a:pt x="6456680" y="3136773"/>
                    <a:pt x="6375146" y="3136773"/>
                  </a:cubicBezTo>
                  <a:lnTo>
                    <a:pt x="147574" y="3136773"/>
                  </a:lnTo>
                  <a:cubicBezTo>
                    <a:pt x="66040" y="3136773"/>
                    <a:pt x="0" y="3070733"/>
                    <a:pt x="0" y="29891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2495066" y="3145117"/>
            <a:ext cx="4892050" cy="142608"/>
            <a:chOff x="0" y="0"/>
            <a:chExt cx="6522733" cy="1901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522720" cy="190119"/>
            </a:xfrm>
            <a:custGeom>
              <a:avLst/>
              <a:gdLst/>
              <a:ahLst/>
              <a:cxnLst/>
              <a:rect l="l" t="t" r="r" b="b"/>
              <a:pathLst>
                <a:path w="6522720" h="190119">
                  <a:moveTo>
                    <a:pt x="0" y="0"/>
                  </a:moveTo>
                  <a:lnTo>
                    <a:pt x="6522720" y="0"/>
                  </a:lnTo>
                  <a:lnTo>
                    <a:pt x="6522720" y="190119"/>
                  </a:lnTo>
                  <a:lnTo>
                    <a:pt x="0" y="190119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2806591" y="3566455"/>
            <a:ext cx="4255284" cy="469215"/>
            <a:chOff x="0" y="0"/>
            <a:chExt cx="5673712" cy="6256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673713" cy="625615"/>
            </a:xfrm>
            <a:custGeom>
              <a:avLst/>
              <a:gdLst/>
              <a:ahLst/>
              <a:cxnLst/>
              <a:rect l="l" t="t" r="r" b="b"/>
              <a:pathLst>
                <a:path w="5673713" h="625615">
                  <a:moveTo>
                    <a:pt x="0" y="0"/>
                  </a:moveTo>
                  <a:lnTo>
                    <a:pt x="5673713" y="0"/>
                  </a:lnTo>
                  <a:lnTo>
                    <a:pt x="5673713" y="625615"/>
                  </a:lnTo>
                  <a:lnTo>
                    <a:pt x="0" y="6256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29" b="-10889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5673712" cy="644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AI в обучението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847768" y="4293965"/>
            <a:ext cx="4186647" cy="674468"/>
            <a:chOff x="0" y="0"/>
            <a:chExt cx="5582196" cy="899291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582201" cy="899295"/>
            </a:xfrm>
            <a:custGeom>
              <a:avLst/>
              <a:gdLst/>
              <a:ahLst/>
              <a:cxnLst/>
              <a:rect l="l" t="t" r="r" b="b"/>
              <a:pathLst>
                <a:path w="5582201" h="899295">
                  <a:moveTo>
                    <a:pt x="0" y="0"/>
                  </a:moveTo>
                  <a:lnTo>
                    <a:pt x="5582201" y="0"/>
                  </a:lnTo>
                  <a:lnTo>
                    <a:pt x="5582201" y="899295"/>
                  </a:lnTo>
                  <a:lnTo>
                    <a:pt x="0" y="899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210" b="-6368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5582196" cy="927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използване на инструменти за ресурси, идеи и мултимедия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01890" y="6164999"/>
            <a:ext cx="4892050" cy="2352608"/>
            <a:chOff x="0" y="0"/>
            <a:chExt cx="6522733" cy="3136811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6522720" cy="3136773"/>
            </a:xfrm>
            <a:custGeom>
              <a:avLst/>
              <a:gdLst/>
              <a:ahLst/>
              <a:cxnLst/>
              <a:rect l="l" t="t" r="r" b="b"/>
              <a:pathLst>
                <a:path w="6522720" h="3136773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5146" y="0"/>
                  </a:lnTo>
                  <a:cubicBezTo>
                    <a:pt x="6456680" y="0"/>
                    <a:pt x="6522720" y="66040"/>
                    <a:pt x="6522720" y="147574"/>
                  </a:cubicBezTo>
                  <a:lnTo>
                    <a:pt x="6522720" y="2989199"/>
                  </a:lnTo>
                  <a:cubicBezTo>
                    <a:pt x="6522720" y="3070733"/>
                    <a:pt x="6456680" y="3136773"/>
                    <a:pt x="6375146" y="3136773"/>
                  </a:cubicBezTo>
                  <a:lnTo>
                    <a:pt x="147574" y="3136773"/>
                  </a:lnTo>
                  <a:cubicBezTo>
                    <a:pt x="66040" y="3136773"/>
                    <a:pt x="0" y="3070733"/>
                    <a:pt x="0" y="29891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101890" y="6164999"/>
            <a:ext cx="4892050" cy="142608"/>
            <a:chOff x="0" y="0"/>
            <a:chExt cx="6522733" cy="19014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6522720" cy="190119"/>
            </a:xfrm>
            <a:custGeom>
              <a:avLst/>
              <a:gdLst/>
              <a:ahLst/>
              <a:cxnLst/>
              <a:rect l="l" t="t" r="r" b="b"/>
              <a:pathLst>
                <a:path w="6522720" h="190119">
                  <a:moveTo>
                    <a:pt x="0" y="0"/>
                  </a:moveTo>
                  <a:lnTo>
                    <a:pt x="6522720" y="0"/>
                  </a:lnTo>
                  <a:lnTo>
                    <a:pt x="6522720" y="190119"/>
                  </a:lnTo>
                  <a:lnTo>
                    <a:pt x="0" y="190119"/>
                  </a:lnTo>
                  <a:close/>
                </a:path>
              </a:pathLst>
            </a:custGeom>
            <a:solidFill>
              <a:srgbClr val="F6B300"/>
            </a:solidFill>
            <a:ln w="19065" cap="sq">
              <a:solidFill>
                <a:srgbClr val="F6B300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13405" y="6586328"/>
            <a:ext cx="4255284" cy="469215"/>
            <a:chOff x="0" y="0"/>
            <a:chExt cx="5673712" cy="62562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673713" cy="625615"/>
            </a:xfrm>
            <a:custGeom>
              <a:avLst/>
              <a:gdLst/>
              <a:ahLst/>
              <a:cxnLst/>
              <a:rect l="l" t="t" r="r" b="b"/>
              <a:pathLst>
                <a:path w="5673713" h="625615">
                  <a:moveTo>
                    <a:pt x="0" y="0"/>
                  </a:moveTo>
                  <a:lnTo>
                    <a:pt x="5673713" y="0"/>
                  </a:lnTo>
                  <a:lnTo>
                    <a:pt x="5673713" y="625615"/>
                  </a:lnTo>
                  <a:lnTo>
                    <a:pt x="0" y="6256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29" b="-10889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5673712" cy="644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F6B3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Мотивация на учениците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454591" y="7313847"/>
            <a:ext cx="4186647" cy="674468"/>
            <a:chOff x="0" y="0"/>
            <a:chExt cx="5582196" cy="899291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5582201" cy="899295"/>
            </a:xfrm>
            <a:custGeom>
              <a:avLst/>
              <a:gdLst/>
              <a:ahLst/>
              <a:cxnLst/>
              <a:rect l="l" t="t" r="r" b="b"/>
              <a:pathLst>
                <a:path w="5582201" h="899295">
                  <a:moveTo>
                    <a:pt x="0" y="0"/>
                  </a:moveTo>
                  <a:lnTo>
                    <a:pt x="5582201" y="0"/>
                  </a:lnTo>
                  <a:lnTo>
                    <a:pt x="5582201" y="899295"/>
                  </a:lnTo>
                  <a:lnTo>
                    <a:pt x="0" y="899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210" b="-6368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5582196" cy="927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по-ангажиращи задачи и по-разнообразна учебна среда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798478" y="6164999"/>
            <a:ext cx="4892050" cy="2352608"/>
            <a:chOff x="0" y="0"/>
            <a:chExt cx="6522733" cy="313681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522720" cy="3136773"/>
            </a:xfrm>
            <a:custGeom>
              <a:avLst/>
              <a:gdLst/>
              <a:ahLst/>
              <a:cxnLst/>
              <a:rect l="l" t="t" r="r" b="b"/>
              <a:pathLst>
                <a:path w="6522720" h="3136773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5146" y="0"/>
                  </a:lnTo>
                  <a:cubicBezTo>
                    <a:pt x="6456680" y="0"/>
                    <a:pt x="6522720" y="66040"/>
                    <a:pt x="6522720" y="147574"/>
                  </a:cubicBezTo>
                  <a:lnTo>
                    <a:pt x="6522720" y="2989199"/>
                  </a:lnTo>
                  <a:cubicBezTo>
                    <a:pt x="6522720" y="3070733"/>
                    <a:pt x="6456680" y="3136773"/>
                    <a:pt x="6375146" y="3136773"/>
                  </a:cubicBezTo>
                  <a:lnTo>
                    <a:pt x="147574" y="3136773"/>
                  </a:lnTo>
                  <a:cubicBezTo>
                    <a:pt x="66040" y="3136773"/>
                    <a:pt x="0" y="3070733"/>
                    <a:pt x="0" y="29891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798478" y="6164999"/>
            <a:ext cx="4892050" cy="142608"/>
            <a:chOff x="0" y="0"/>
            <a:chExt cx="6522733" cy="19014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6522720" cy="190119"/>
            </a:xfrm>
            <a:custGeom>
              <a:avLst/>
              <a:gdLst/>
              <a:ahLst/>
              <a:cxnLst/>
              <a:rect l="l" t="t" r="r" b="b"/>
              <a:pathLst>
                <a:path w="6522720" h="190119">
                  <a:moveTo>
                    <a:pt x="0" y="0"/>
                  </a:moveTo>
                  <a:lnTo>
                    <a:pt x="6522720" y="0"/>
                  </a:lnTo>
                  <a:lnTo>
                    <a:pt x="6522720" y="190119"/>
                  </a:lnTo>
                  <a:lnTo>
                    <a:pt x="0" y="190119"/>
                  </a:lnTo>
                  <a:close/>
                </a:path>
              </a:pathLst>
            </a:custGeom>
            <a:solidFill>
              <a:srgbClr val="D93682"/>
            </a:solidFill>
            <a:ln w="19065" cap="sq">
              <a:solidFill>
                <a:srgbClr val="D9368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034965" y="6586328"/>
            <a:ext cx="4255284" cy="469215"/>
            <a:chOff x="0" y="0"/>
            <a:chExt cx="5673712" cy="6256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673713" cy="625615"/>
            </a:xfrm>
            <a:custGeom>
              <a:avLst/>
              <a:gdLst/>
              <a:ahLst/>
              <a:cxnLst/>
              <a:rect l="l" t="t" r="r" b="b"/>
              <a:pathLst>
                <a:path w="5673713" h="625615">
                  <a:moveTo>
                    <a:pt x="0" y="0"/>
                  </a:moveTo>
                  <a:lnTo>
                    <a:pt x="5673713" y="0"/>
                  </a:lnTo>
                  <a:lnTo>
                    <a:pt x="5673713" y="625615"/>
                  </a:lnTo>
                  <a:lnTo>
                    <a:pt x="0" y="6256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29" b="-10889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5673712" cy="644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D9368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Добри практики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151179" y="7313847"/>
            <a:ext cx="4186647" cy="674468"/>
            <a:chOff x="0" y="0"/>
            <a:chExt cx="5582196" cy="899291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5582201" cy="899295"/>
            </a:xfrm>
            <a:custGeom>
              <a:avLst/>
              <a:gdLst/>
              <a:ahLst/>
              <a:cxnLst/>
              <a:rect l="l" t="t" r="r" b="b"/>
              <a:pathLst>
                <a:path w="5582201" h="899295">
                  <a:moveTo>
                    <a:pt x="0" y="0"/>
                  </a:moveTo>
                  <a:lnTo>
                    <a:pt x="5582201" y="0"/>
                  </a:lnTo>
                  <a:lnTo>
                    <a:pt x="5582201" y="899295"/>
                  </a:lnTo>
                  <a:lnTo>
                    <a:pt x="0" y="899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210" b="-6368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5582196" cy="927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споделен опит в училището и между колегите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2495066" y="6164999"/>
            <a:ext cx="4892050" cy="2352608"/>
            <a:chOff x="0" y="0"/>
            <a:chExt cx="6522733" cy="313681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6522720" cy="3136773"/>
            </a:xfrm>
            <a:custGeom>
              <a:avLst/>
              <a:gdLst/>
              <a:ahLst/>
              <a:cxnLst/>
              <a:rect l="l" t="t" r="r" b="b"/>
              <a:pathLst>
                <a:path w="6522720" h="3136773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375146" y="0"/>
                  </a:lnTo>
                  <a:cubicBezTo>
                    <a:pt x="6456680" y="0"/>
                    <a:pt x="6522720" y="66040"/>
                    <a:pt x="6522720" y="147574"/>
                  </a:cubicBezTo>
                  <a:lnTo>
                    <a:pt x="6522720" y="2989199"/>
                  </a:lnTo>
                  <a:cubicBezTo>
                    <a:pt x="6522720" y="3070733"/>
                    <a:pt x="6456680" y="3136773"/>
                    <a:pt x="6375146" y="3136773"/>
                  </a:cubicBezTo>
                  <a:lnTo>
                    <a:pt x="147574" y="3136773"/>
                  </a:lnTo>
                  <a:cubicBezTo>
                    <a:pt x="66040" y="3136773"/>
                    <a:pt x="0" y="3070733"/>
                    <a:pt x="0" y="2989199"/>
                  </a:cubicBezTo>
                  <a:close/>
                </a:path>
              </a:pathLst>
            </a:custGeom>
            <a:solidFill>
              <a:srgbClr val="FFFFFF"/>
            </a:solidFill>
            <a:ln w="19065" cap="sq">
              <a:solidFill>
                <a:srgbClr val="D7E4F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2495066" y="6164999"/>
            <a:ext cx="4892050" cy="142608"/>
            <a:chOff x="0" y="0"/>
            <a:chExt cx="6522733" cy="190144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6522720" cy="190119"/>
            </a:xfrm>
            <a:custGeom>
              <a:avLst/>
              <a:gdLst/>
              <a:ahLst/>
              <a:cxnLst/>
              <a:rect l="l" t="t" r="r" b="b"/>
              <a:pathLst>
                <a:path w="6522720" h="190119">
                  <a:moveTo>
                    <a:pt x="0" y="0"/>
                  </a:moveTo>
                  <a:lnTo>
                    <a:pt x="6522720" y="0"/>
                  </a:lnTo>
                  <a:lnTo>
                    <a:pt x="6522720" y="190119"/>
                  </a:lnTo>
                  <a:lnTo>
                    <a:pt x="0" y="190119"/>
                  </a:lnTo>
                  <a:close/>
                </a:path>
              </a:pathLst>
            </a:custGeom>
            <a:solidFill>
              <a:srgbClr val="2F6B2F"/>
            </a:solidFill>
            <a:ln w="19065" cap="sq">
              <a:solidFill>
                <a:srgbClr val="2F6B2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12806591" y="6586328"/>
            <a:ext cx="4255284" cy="469215"/>
            <a:chOff x="0" y="0"/>
            <a:chExt cx="5673712" cy="62562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5673713" cy="625615"/>
            </a:xfrm>
            <a:custGeom>
              <a:avLst/>
              <a:gdLst/>
              <a:ahLst/>
              <a:cxnLst/>
              <a:rect l="l" t="t" r="r" b="b"/>
              <a:pathLst>
                <a:path w="5673713" h="625615">
                  <a:moveTo>
                    <a:pt x="0" y="0"/>
                  </a:moveTo>
                  <a:lnTo>
                    <a:pt x="5673713" y="0"/>
                  </a:lnTo>
                  <a:lnTo>
                    <a:pt x="5673713" y="625615"/>
                  </a:lnTo>
                  <a:lnTo>
                    <a:pt x="0" y="62561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529" b="-108890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0" y="-19050"/>
              <a:ext cx="5673712" cy="6446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761"/>
                </a:lnSpc>
              </a:pPr>
              <a:r>
                <a:rPr lang="en-US" sz="2301" b="1">
                  <a:solidFill>
                    <a:srgbClr val="2F6B2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Качество на процеса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847768" y="7313847"/>
            <a:ext cx="4186647" cy="674468"/>
            <a:chOff x="0" y="0"/>
            <a:chExt cx="5582196" cy="89929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582201" cy="899295"/>
            </a:xfrm>
            <a:custGeom>
              <a:avLst/>
              <a:gdLst/>
              <a:ahLst/>
              <a:cxnLst/>
              <a:rect l="l" t="t" r="r" b="b"/>
              <a:pathLst>
                <a:path w="5582201" h="899295">
                  <a:moveTo>
                    <a:pt x="0" y="0"/>
                  </a:moveTo>
                  <a:lnTo>
                    <a:pt x="5582201" y="0"/>
                  </a:lnTo>
                  <a:lnTo>
                    <a:pt x="5582201" y="899295"/>
                  </a:lnTo>
                  <a:lnTo>
                    <a:pt x="0" y="8992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210" b="-6368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5582196" cy="9278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51"/>
                </a:lnSpc>
              </a:pPr>
              <a:r>
                <a:rPr lang="en-US" sz="187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устойчиво развитие на образователната практика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578569" y="8850982"/>
            <a:ext cx="15099392" cy="594228"/>
            <a:chOff x="0" y="0"/>
            <a:chExt cx="20132523" cy="792304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20132529" cy="792298"/>
            </a:xfrm>
            <a:custGeom>
              <a:avLst/>
              <a:gdLst/>
              <a:ahLst/>
              <a:cxnLst/>
              <a:rect l="l" t="t" r="r" b="b"/>
              <a:pathLst>
                <a:path w="20132529" h="792298">
                  <a:moveTo>
                    <a:pt x="0" y="0"/>
                  </a:moveTo>
                  <a:lnTo>
                    <a:pt x="20132529" y="0"/>
                  </a:lnTo>
                  <a:lnTo>
                    <a:pt x="20132529" y="792298"/>
                  </a:lnTo>
                  <a:lnTo>
                    <a:pt x="0" y="79229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69710" b="-42053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20132523" cy="8113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05"/>
                </a:lnSpc>
              </a:pPr>
              <a:r>
                <a:rPr lang="en-US" sz="192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Резултатите са свързани както с професионалното развитие на учителите, така и с подобряване на учебната среда.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</a:p>
        </p:txBody>
      </p:sp>
      <p:sp>
        <p:nvSpPr>
          <p:cNvPr id="76" name="Freeform 76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884188"/>
            <a:ext cx="18320909" cy="870118"/>
            <a:chOff x="0" y="0"/>
            <a:chExt cx="2442787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27814" cy="1160145"/>
            </a:xfrm>
            <a:custGeom>
              <a:avLst/>
              <a:gdLst/>
              <a:ahLst/>
              <a:cxnLst/>
              <a:rect l="l" t="t" r="r" b="b"/>
              <a:pathLst>
                <a:path w="24427814" h="1160145">
                  <a:moveTo>
                    <a:pt x="0" y="0"/>
                  </a:moveTo>
                  <a:lnTo>
                    <a:pt x="24427814" y="0"/>
                  </a:lnTo>
                  <a:lnTo>
                    <a:pt x="2442781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1770" y="2072164"/>
            <a:ext cx="16472068" cy="384353"/>
            <a:chOff x="0" y="0"/>
            <a:chExt cx="21962758" cy="51247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512464"/>
            </a:xfrm>
            <a:custGeom>
              <a:avLst/>
              <a:gdLst/>
              <a:ahLst/>
              <a:cxnLst/>
              <a:rect l="l" t="t" r="r" b="b"/>
              <a:pathLst>
                <a:path w="21962759" h="512464">
                  <a:moveTo>
                    <a:pt x="0" y="0"/>
                  </a:moveTo>
                  <a:lnTo>
                    <a:pt x="21962759" y="0"/>
                  </a:lnTo>
                  <a:lnTo>
                    <a:pt x="21962759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85072" b="-785073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5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УСТОЙЧИВОСТ СЛЕД КРАЯ НА ПРОЕКТА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  <p:sp>
        <p:nvSpPr>
          <p:cNvPr id="13" name="Freeform 13"/>
          <p:cNvSpPr/>
          <p:nvPr/>
        </p:nvSpPr>
        <p:spPr>
          <a:xfrm>
            <a:off x="480431" y="3170559"/>
            <a:ext cx="17558370" cy="5756802"/>
          </a:xfrm>
          <a:custGeom>
            <a:avLst/>
            <a:gdLst/>
            <a:ahLst/>
            <a:cxnLst/>
            <a:rect l="l" t="t" r="r" b="b"/>
            <a:pathLst>
              <a:path w="17558370" h="5756802">
                <a:moveTo>
                  <a:pt x="0" y="0"/>
                </a:moveTo>
                <a:lnTo>
                  <a:pt x="17558370" y="0"/>
                </a:lnTo>
                <a:lnTo>
                  <a:pt x="17558370" y="5756802"/>
                </a:lnTo>
                <a:lnTo>
                  <a:pt x="0" y="57568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45317" b="-26245"/>
            </a:stretch>
          </a:blipFill>
        </p:spPr>
        <p:txBody>
          <a:bodyPr/>
          <a:lstStyle/>
          <a:p>
            <a:endParaRPr lang="en-BG"/>
          </a:p>
        </p:txBody>
      </p:sp>
      <p:sp>
        <p:nvSpPr>
          <p:cNvPr id="14" name="TextBox 14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840" y="1884188"/>
            <a:ext cx="18414711" cy="870118"/>
            <a:chOff x="0" y="0"/>
            <a:chExt cx="24552948" cy="11601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552884" cy="1160145"/>
            </a:xfrm>
            <a:custGeom>
              <a:avLst/>
              <a:gdLst/>
              <a:ahLst/>
              <a:cxnLst/>
              <a:rect l="l" t="t" r="r" b="b"/>
              <a:pathLst>
                <a:path w="24552884" h="1160145">
                  <a:moveTo>
                    <a:pt x="0" y="0"/>
                  </a:moveTo>
                  <a:lnTo>
                    <a:pt x="24552884" y="0"/>
                  </a:lnTo>
                  <a:lnTo>
                    <a:pt x="24552884" y="1160145"/>
                  </a:lnTo>
                  <a:lnTo>
                    <a:pt x="0" y="1160145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93791" y="2027053"/>
            <a:ext cx="16472068" cy="676547"/>
            <a:chOff x="0" y="0"/>
            <a:chExt cx="21962758" cy="90206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62759" cy="902052"/>
            </a:xfrm>
            <a:custGeom>
              <a:avLst/>
              <a:gdLst/>
              <a:ahLst/>
              <a:cxnLst/>
              <a:rect l="l" t="t" r="r" b="b"/>
              <a:pathLst>
                <a:path w="21962759" h="902052">
                  <a:moveTo>
                    <a:pt x="0" y="0"/>
                  </a:moveTo>
                  <a:lnTo>
                    <a:pt x="21962759" y="0"/>
                  </a:lnTo>
                  <a:lnTo>
                    <a:pt x="21962759" y="902052"/>
                  </a:lnTo>
                  <a:lnTo>
                    <a:pt x="0" y="9020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6007" b="-40281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62758" cy="9306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3"/>
                </a:lnSpc>
              </a:pPr>
              <a:r>
                <a:rPr lang="en-US" sz="3302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ЗАКЛЮЧЕНИЕ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93275" y="3262017"/>
            <a:ext cx="16101451" cy="1894284"/>
            <a:chOff x="0" y="0"/>
            <a:chExt cx="21468601" cy="2525712"/>
          </a:xfrm>
        </p:grpSpPr>
        <p:sp>
          <p:nvSpPr>
            <p:cNvPr id="8" name="Freeform 8" descr="/mnt/data/assets/school_photo_strip.png"/>
            <p:cNvSpPr/>
            <p:nvPr/>
          </p:nvSpPr>
          <p:spPr>
            <a:xfrm>
              <a:off x="0" y="0"/>
              <a:ext cx="21468587" cy="2525776"/>
            </a:xfrm>
            <a:custGeom>
              <a:avLst/>
              <a:gdLst/>
              <a:ahLst/>
              <a:cxnLst/>
              <a:rect l="l" t="t" r="r" b="b"/>
              <a:pathLst>
                <a:path w="21468587" h="2525776">
                  <a:moveTo>
                    <a:pt x="0" y="0"/>
                  </a:moveTo>
                  <a:lnTo>
                    <a:pt x="21468587" y="0"/>
                  </a:lnTo>
                  <a:lnTo>
                    <a:pt x="21468587" y="2525776"/>
                  </a:lnTo>
                  <a:lnTo>
                    <a:pt x="0" y="2525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28801" b="-28799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272397" y="5280127"/>
            <a:ext cx="15511196" cy="1309497"/>
            <a:chOff x="0" y="0"/>
            <a:chExt cx="20681594" cy="174599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81598" cy="1745997"/>
            </a:xfrm>
            <a:custGeom>
              <a:avLst/>
              <a:gdLst/>
              <a:ahLst/>
              <a:cxnLst/>
              <a:rect l="l" t="t" r="r" b="b"/>
              <a:pathLst>
                <a:path w="20681598" h="1745997">
                  <a:moveTo>
                    <a:pt x="0" y="0"/>
                  </a:moveTo>
                  <a:lnTo>
                    <a:pt x="20681598" y="0"/>
                  </a:lnTo>
                  <a:lnTo>
                    <a:pt x="20681598" y="1745997"/>
                  </a:lnTo>
                  <a:lnTo>
                    <a:pt x="0" y="17459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5645" b="-155961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20681594" cy="177457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323"/>
                </a:lnSpc>
              </a:pPr>
              <a:r>
                <a:rPr lang="en-US" sz="3602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Проектът е стъпка към по-модерно, отворено и европейски ориентирано училище.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4591" y="7115404"/>
            <a:ext cx="4545073" cy="2142896"/>
            <a:chOff x="0" y="0"/>
            <a:chExt cx="6060097" cy="285719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060059" cy="2857119"/>
            </a:xfrm>
            <a:custGeom>
              <a:avLst/>
              <a:gdLst/>
              <a:ahLst/>
              <a:cxnLst/>
              <a:rect l="l" t="t" r="r" b="b"/>
              <a:pathLst>
                <a:path w="6060059" h="2857119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912612" y="0"/>
                  </a:lnTo>
                  <a:cubicBezTo>
                    <a:pt x="5994019" y="0"/>
                    <a:pt x="6060059" y="66040"/>
                    <a:pt x="6060059" y="147447"/>
                  </a:cubicBezTo>
                  <a:lnTo>
                    <a:pt x="6060059" y="2709672"/>
                  </a:lnTo>
                  <a:cubicBezTo>
                    <a:pt x="6060059" y="2791079"/>
                    <a:pt x="5994019" y="2857119"/>
                    <a:pt x="5912612" y="2857119"/>
                  </a:cubicBezTo>
                  <a:lnTo>
                    <a:pt x="147447" y="2857119"/>
                  </a:lnTo>
                  <a:cubicBezTo>
                    <a:pt x="66040" y="2857246"/>
                    <a:pt x="0" y="2791206"/>
                    <a:pt x="0" y="270967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372676" y="7113499"/>
            <a:ext cx="4548883" cy="128883"/>
            <a:chOff x="0" y="0"/>
            <a:chExt cx="6065177" cy="17184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065139" cy="171831"/>
            </a:xfrm>
            <a:custGeom>
              <a:avLst/>
              <a:gdLst/>
              <a:ahLst/>
              <a:cxnLst/>
              <a:rect l="l" t="t" r="r" b="b"/>
              <a:pathLst>
                <a:path w="6065139" h="171831">
                  <a:moveTo>
                    <a:pt x="0" y="0"/>
                  </a:moveTo>
                  <a:lnTo>
                    <a:pt x="6065139" y="0"/>
                  </a:lnTo>
                  <a:lnTo>
                    <a:pt x="6065139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04494"/>
            </a:solidFill>
            <a:ln w="19065" cap="sq">
              <a:solidFill>
                <a:srgbClr val="004494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629289" y="7370112"/>
            <a:ext cx="4035657" cy="521041"/>
            <a:chOff x="0" y="0"/>
            <a:chExt cx="5380876" cy="69472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380876" cy="694722"/>
            </a:xfrm>
            <a:custGeom>
              <a:avLst/>
              <a:gdLst/>
              <a:ahLst/>
              <a:cxnLst/>
              <a:rect l="l" t="t" r="r" b="b"/>
              <a:pathLst>
                <a:path w="5380876" h="694722">
                  <a:moveTo>
                    <a:pt x="0" y="0"/>
                  </a:moveTo>
                  <a:lnTo>
                    <a:pt x="5380876" y="0"/>
                  </a:lnTo>
                  <a:lnTo>
                    <a:pt x="5380876" y="694722"/>
                  </a:lnTo>
                  <a:lnTo>
                    <a:pt x="0" y="694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305" b="-8253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9525"/>
              <a:ext cx="5380876" cy="704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2551" b="1">
                  <a:solidFill>
                    <a:srgbClr val="00449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За учителите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29289" y="7919180"/>
            <a:ext cx="4035657" cy="1098138"/>
            <a:chOff x="0" y="0"/>
            <a:chExt cx="5380876" cy="1464184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380876" cy="1464185"/>
            </a:xfrm>
            <a:custGeom>
              <a:avLst/>
              <a:gdLst/>
              <a:ahLst/>
              <a:cxnLst/>
              <a:rect l="l" t="t" r="r" b="b"/>
              <a:pathLst>
                <a:path w="5380876" h="1464185">
                  <a:moveTo>
                    <a:pt x="0" y="0"/>
                  </a:moveTo>
                  <a:lnTo>
                    <a:pt x="5380876" y="0"/>
                  </a:lnTo>
                  <a:lnTo>
                    <a:pt x="5380876" y="1464185"/>
                  </a:lnTo>
                  <a:lnTo>
                    <a:pt x="0" y="1464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607" b="-2160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5380876" cy="1473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1"/>
                </a:lnSpc>
              </a:pPr>
              <a:r>
                <a:rPr lang="en-US" sz="21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нови компетентности и увереност за работа с иновативни методи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933914" y="7115404"/>
            <a:ext cx="4545073" cy="2142896"/>
            <a:chOff x="0" y="0"/>
            <a:chExt cx="6060097" cy="285719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060059" cy="2857119"/>
            </a:xfrm>
            <a:custGeom>
              <a:avLst/>
              <a:gdLst/>
              <a:ahLst/>
              <a:cxnLst/>
              <a:rect l="l" t="t" r="r" b="b"/>
              <a:pathLst>
                <a:path w="6060059" h="2857119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912612" y="0"/>
                  </a:lnTo>
                  <a:cubicBezTo>
                    <a:pt x="5994019" y="0"/>
                    <a:pt x="6060059" y="66040"/>
                    <a:pt x="6060059" y="147447"/>
                  </a:cubicBezTo>
                  <a:lnTo>
                    <a:pt x="6060059" y="2709672"/>
                  </a:lnTo>
                  <a:cubicBezTo>
                    <a:pt x="6060059" y="2791079"/>
                    <a:pt x="5994019" y="2857119"/>
                    <a:pt x="5912612" y="2857119"/>
                  </a:cubicBezTo>
                  <a:lnTo>
                    <a:pt x="147447" y="2857119"/>
                  </a:lnTo>
                  <a:cubicBezTo>
                    <a:pt x="66040" y="2857246"/>
                    <a:pt x="0" y="2791206"/>
                    <a:pt x="0" y="270967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932000" y="7113499"/>
            <a:ext cx="4548883" cy="128883"/>
            <a:chOff x="0" y="0"/>
            <a:chExt cx="6065177" cy="1718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065139" cy="171831"/>
            </a:xfrm>
            <a:custGeom>
              <a:avLst/>
              <a:gdLst/>
              <a:ahLst/>
              <a:cxnLst/>
              <a:rect l="l" t="t" r="r" b="b"/>
              <a:pathLst>
                <a:path w="6065139" h="171831">
                  <a:moveTo>
                    <a:pt x="0" y="0"/>
                  </a:moveTo>
                  <a:lnTo>
                    <a:pt x="6065139" y="0"/>
                  </a:lnTo>
                  <a:lnTo>
                    <a:pt x="6065139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32A7E2"/>
            </a:solidFill>
            <a:ln w="19065" cap="sq">
              <a:solidFill>
                <a:srgbClr val="32A7E2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188613" y="7370112"/>
            <a:ext cx="4035657" cy="521041"/>
            <a:chOff x="0" y="0"/>
            <a:chExt cx="5380876" cy="69472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80876" cy="694722"/>
            </a:xfrm>
            <a:custGeom>
              <a:avLst/>
              <a:gdLst/>
              <a:ahLst/>
              <a:cxnLst/>
              <a:rect l="l" t="t" r="r" b="b"/>
              <a:pathLst>
                <a:path w="5380876" h="694722">
                  <a:moveTo>
                    <a:pt x="0" y="0"/>
                  </a:moveTo>
                  <a:lnTo>
                    <a:pt x="5380876" y="0"/>
                  </a:lnTo>
                  <a:lnTo>
                    <a:pt x="5380876" y="694722"/>
                  </a:lnTo>
                  <a:lnTo>
                    <a:pt x="0" y="694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305" b="-8253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9525"/>
              <a:ext cx="5380876" cy="704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2551" b="1">
                  <a:solidFill>
                    <a:srgbClr val="32A7E2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За учениците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188613" y="7919180"/>
            <a:ext cx="4035657" cy="1098138"/>
            <a:chOff x="0" y="0"/>
            <a:chExt cx="5380876" cy="146418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380876" cy="1464185"/>
            </a:xfrm>
            <a:custGeom>
              <a:avLst/>
              <a:gdLst/>
              <a:ahLst/>
              <a:cxnLst/>
              <a:rect l="l" t="t" r="r" b="b"/>
              <a:pathLst>
                <a:path w="5380876" h="1464185">
                  <a:moveTo>
                    <a:pt x="0" y="0"/>
                  </a:moveTo>
                  <a:lnTo>
                    <a:pt x="5380876" y="0"/>
                  </a:lnTo>
                  <a:lnTo>
                    <a:pt x="5380876" y="1464185"/>
                  </a:lnTo>
                  <a:lnTo>
                    <a:pt x="0" y="1464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607" b="-2160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380876" cy="1473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1"/>
                </a:lnSpc>
              </a:pPr>
              <a:r>
                <a:rPr lang="en-US" sz="21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по-разнообразно, активно и ангажиращо обучение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93238" y="7115404"/>
            <a:ext cx="4545073" cy="2142896"/>
            <a:chOff x="0" y="0"/>
            <a:chExt cx="6060097" cy="285719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060059" cy="2857119"/>
            </a:xfrm>
            <a:custGeom>
              <a:avLst/>
              <a:gdLst/>
              <a:ahLst/>
              <a:cxnLst/>
              <a:rect l="l" t="t" r="r" b="b"/>
              <a:pathLst>
                <a:path w="6060059" h="2857119">
                  <a:moveTo>
                    <a:pt x="0" y="147447"/>
                  </a:moveTo>
                  <a:cubicBezTo>
                    <a:pt x="0" y="66040"/>
                    <a:pt x="66040" y="0"/>
                    <a:pt x="147447" y="0"/>
                  </a:cubicBezTo>
                  <a:lnTo>
                    <a:pt x="5912612" y="0"/>
                  </a:lnTo>
                  <a:cubicBezTo>
                    <a:pt x="5994019" y="0"/>
                    <a:pt x="6060059" y="66040"/>
                    <a:pt x="6060059" y="147447"/>
                  </a:cubicBezTo>
                  <a:lnTo>
                    <a:pt x="6060059" y="2709672"/>
                  </a:lnTo>
                  <a:cubicBezTo>
                    <a:pt x="6060059" y="2791079"/>
                    <a:pt x="5994019" y="2857119"/>
                    <a:pt x="5912612" y="2857119"/>
                  </a:cubicBezTo>
                  <a:lnTo>
                    <a:pt x="147447" y="2857119"/>
                  </a:lnTo>
                  <a:cubicBezTo>
                    <a:pt x="66040" y="2857246"/>
                    <a:pt x="0" y="2791206"/>
                    <a:pt x="0" y="2709672"/>
                  </a:cubicBezTo>
                  <a:close/>
                </a:path>
              </a:pathLst>
            </a:custGeom>
            <a:solidFill>
              <a:srgbClr val="FFFFFF"/>
            </a:solidFill>
            <a:ln w="15252" cap="sq">
              <a:solidFill>
                <a:srgbClr val="D3DFEF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2491323" y="7113499"/>
            <a:ext cx="4548883" cy="128883"/>
            <a:chOff x="0" y="0"/>
            <a:chExt cx="6065177" cy="171844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065139" cy="171831"/>
            </a:xfrm>
            <a:custGeom>
              <a:avLst/>
              <a:gdLst/>
              <a:ahLst/>
              <a:cxnLst/>
              <a:rect l="l" t="t" r="r" b="b"/>
              <a:pathLst>
                <a:path w="6065139" h="171831">
                  <a:moveTo>
                    <a:pt x="0" y="0"/>
                  </a:moveTo>
                  <a:lnTo>
                    <a:pt x="6065139" y="0"/>
                  </a:lnTo>
                  <a:lnTo>
                    <a:pt x="6065139" y="171831"/>
                  </a:lnTo>
                  <a:lnTo>
                    <a:pt x="0" y="171831"/>
                  </a:lnTo>
                  <a:close/>
                </a:path>
              </a:pathLst>
            </a:custGeom>
            <a:solidFill>
              <a:srgbClr val="0EA5A8"/>
            </a:solidFill>
            <a:ln w="19065" cap="sq">
              <a:solidFill>
                <a:srgbClr val="0EA5A8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747936" y="7370112"/>
            <a:ext cx="4035657" cy="521041"/>
            <a:chOff x="0" y="0"/>
            <a:chExt cx="5380876" cy="69472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80876" cy="694722"/>
            </a:xfrm>
            <a:custGeom>
              <a:avLst/>
              <a:gdLst/>
              <a:ahLst/>
              <a:cxnLst/>
              <a:rect l="l" t="t" r="r" b="b"/>
              <a:pathLst>
                <a:path w="5380876" h="694722">
                  <a:moveTo>
                    <a:pt x="0" y="0"/>
                  </a:moveTo>
                  <a:lnTo>
                    <a:pt x="5380876" y="0"/>
                  </a:lnTo>
                  <a:lnTo>
                    <a:pt x="5380876" y="694722"/>
                  </a:lnTo>
                  <a:lnTo>
                    <a:pt x="0" y="69472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305" b="-82532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5380876" cy="704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62"/>
                </a:lnSpc>
              </a:pPr>
              <a:r>
                <a:rPr lang="en-US" sz="2551" b="1">
                  <a:solidFill>
                    <a:srgbClr val="0EA5A8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За училището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747936" y="7919180"/>
            <a:ext cx="4035657" cy="1098138"/>
            <a:chOff x="0" y="0"/>
            <a:chExt cx="5380876" cy="146418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380876" cy="1464185"/>
            </a:xfrm>
            <a:custGeom>
              <a:avLst/>
              <a:gdLst/>
              <a:ahLst/>
              <a:cxnLst/>
              <a:rect l="l" t="t" r="r" b="b"/>
              <a:pathLst>
                <a:path w="5380876" h="1464185">
                  <a:moveTo>
                    <a:pt x="0" y="0"/>
                  </a:moveTo>
                  <a:lnTo>
                    <a:pt x="5380876" y="0"/>
                  </a:lnTo>
                  <a:lnTo>
                    <a:pt x="5380876" y="1464185"/>
                  </a:lnTo>
                  <a:lnTo>
                    <a:pt x="0" y="146418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607" b="-21607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5380876" cy="14737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51"/>
                </a:lnSpc>
              </a:pPr>
              <a:r>
                <a:rPr lang="en-US" sz="2126">
                  <a:solidFill>
                    <a:srgbClr val="102A43"/>
                  </a:solidFill>
                  <a:latin typeface="Arial"/>
                  <a:ea typeface="Arial"/>
                  <a:cs typeface="Arial"/>
                  <a:sym typeface="Arial"/>
                </a:rPr>
                <a:t>повишено качество и устойчиво развитие на образователната среда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-9535" y="9777622"/>
            <a:ext cx="18320909" cy="526952"/>
            <a:chOff x="0" y="0"/>
            <a:chExt cx="24427878" cy="702602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4427814" cy="702564"/>
            </a:xfrm>
            <a:custGeom>
              <a:avLst/>
              <a:gdLst/>
              <a:ahLst/>
              <a:cxnLst/>
              <a:rect l="l" t="t" r="r" b="b"/>
              <a:pathLst>
                <a:path w="24427814" h="702564">
                  <a:moveTo>
                    <a:pt x="0" y="0"/>
                  </a:moveTo>
                  <a:lnTo>
                    <a:pt x="24427814" y="0"/>
                  </a:lnTo>
                  <a:lnTo>
                    <a:pt x="24427814" y="702564"/>
                  </a:lnTo>
                  <a:lnTo>
                    <a:pt x="0" y="702564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80431" y="9910696"/>
            <a:ext cx="17295676" cy="192176"/>
            <a:chOff x="0" y="0"/>
            <a:chExt cx="23060901" cy="256235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3060896" cy="256232"/>
            </a:xfrm>
            <a:custGeom>
              <a:avLst/>
              <a:gdLst/>
              <a:ahLst/>
              <a:cxnLst/>
              <a:rect l="l" t="t" r="r" b="b"/>
              <a:pathLst>
                <a:path w="23060896" h="256232">
                  <a:moveTo>
                    <a:pt x="0" y="0"/>
                  </a:moveTo>
                  <a:lnTo>
                    <a:pt x="23060896" y="0"/>
                  </a:lnTo>
                  <a:lnTo>
                    <a:pt x="23060896" y="256232"/>
                  </a:lnTo>
                  <a:lnTo>
                    <a:pt x="0" y="256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03653" b="-1703654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23060901" cy="2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05"/>
                </a:lnSpc>
              </a:pPr>
              <a:r>
                <a:rPr lang="en-US" sz="1170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Проект № 2025-1-BG01-KA121-SCH-000334641 · Програма „Еразъм+“, КД1 · сектор „Училищно образование“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</a:p>
        </p:txBody>
      </p:sp>
      <p:sp>
        <p:nvSpPr>
          <p:cNvPr id="48" name="Freeform 48"/>
          <p:cNvSpPr/>
          <p:nvPr/>
        </p:nvSpPr>
        <p:spPr>
          <a:xfrm>
            <a:off x="13840" y="0"/>
            <a:ext cx="18297535" cy="1884188"/>
          </a:xfrm>
          <a:custGeom>
            <a:avLst/>
            <a:gdLst/>
            <a:ahLst/>
            <a:cxnLst/>
            <a:rect l="l" t="t" r="r" b="b"/>
            <a:pathLst>
              <a:path w="18297535" h="1884188">
                <a:moveTo>
                  <a:pt x="0" y="0"/>
                </a:moveTo>
                <a:lnTo>
                  <a:pt x="18297534" y="0"/>
                </a:lnTo>
                <a:lnTo>
                  <a:pt x="18297534" y="1884188"/>
                </a:lnTo>
                <a:lnTo>
                  <a:pt x="0" y="18841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4110" b="-119390"/>
            </a:stretch>
          </a:blipFill>
        </p:spPr>
        <p:txBody>
          <a:bodyPr/>
          <a:lstStyle/>
          <a:p>
            <a:endParaRPr lang="en-BG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301840" cy="3157147"/>
            <a:chOff x="0" y="0"/>
            <a:chExt cx="24402453" cy="4209529"/>
          </a:xfrm>
        </p:grpSpPr>
        <p:sp>
          <p:nvSpPr>
            <p:cNvPr id="3" name="Freeform 3" descr="/mnt/data/Бланка проект_Образование без граници 2025_2026.docx_image2.png"/>
            <p:cNvSpPr/>
            <p:nvPr/>
          </p:nvSpPr>
          <p:spPr>
            <a:xfrm>
              <a:off x="0" y="0"/>
              <a:ext cx="24402414" cy="4209542"/>
            </a:xfrm>
            <a:custGeom>
              <a:avLst/>
              <a:gdLst/>
              <a:ahLst/>
              <a:cxnLst/>
              <a:rect l="l" t="t" r="r" b="b"/>
              <a:pathLst>
                <a:path w="24402414" h="4209542">
                  <a:moveTo>
                    <a:pt x="0" y="0"/>
                  </a:moveTo>
                  <a:lnTo>
                    <a:pt x="24402414" y="0"/>
                  </a:lnTo>
                  <a:lnTo>
                    <a:pt x="24402414" y="4209542"/>
                  </a:lnTo>
                  <a:lnTo>
                    <a:pt x="0" y="42095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46469" b="-46468"/>
              </a:stretch>
            </a:blipFill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9535" y="3147612"/>
            <a:ext cx="18320909" cy="7156961"/>
            <a:chOff x="0" y="0"/>
            <a:chExt cx="24427878" cy="954261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27814" cy="9542653"/>
            </a:xfrm>
            <a:custGeom>
              <a:avLst/>
              <a:gdLst/>
              <a:ahLst/>
              <a:cxnLst/>
              <a:rect l="l" t="t" r="r" b="b"/>
              <a:pathLst>
                <a:path w="24427814" h="9542653">
                  <a:moveTo>
                    <a:pt x="0" y="0"/>
                  </a:moveTo>
                  <a:lnTo>
                    <a:pt x="24427814" y="0"/>
                  </a:lnTo>
                  <a:lnTo>
                    <a:pt x="24427814" y="9542653"/>
                  </a:lnTo>
                  <a:lnTo>
                    <a:pt x="0" y="9542653"/>
                  </a:lnTo>
                  <a:close/>
                </a:path>
              </a:pathLst>
            </a:custGeom>
            <a:solidFill>
              <a:srgbClr val="002B5C"/>
            </a:solidFill>
            <a:ln w="19065" cap="sq">
              <a:solidFill>
                <a:srgbClr val="002B5C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9535" y="3147612"/>
            <a:ext cx="18320909" cy="142608"/>
            <a:chOff x="0" y="0"/>
            <a:chExt cx="24427878" cy="1901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27814" cy="190119"/>
            </a:xfrm>
            <a:custGeom>
              <a:avLst/>
              <a:gdLst/>
              <a:ahLst/>
              <a:cxnLst/>
              <a:rect l="l" t="t" r="r" b="b"/>
              <a:pathLst>
                <a:path w="24427814" h="190119">
                  <a:moveTo>
                    <a:pt x="0" y="0"/>
                  </a:moveTo>
                  <a:lnTo>
                    <a:pt x="24427814" y="0"/>
                  </a:lnTo>
                  <a:lnTo>
                    <a:pt x="24427814" y="190119"/>
                  </a:lnTo>
                  <a:lnTo>
                    <a:pt x="0" y="190119"/>
                  </a:ln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6774" y="4598451"/>
            <a:ext cx="15991637" cy="754971"/>
            <a:chOff x="0" y="0"/>
            <a:chExt cx="21322182" cy="1006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22178" cy="1006626"/>
            </a:xfrm>
            <a:custGeom>
              <a:avLst/>
              <a:gdLst/>
              <a:ahLst/>
              <a:cxnLst/>
              <a:rect l="l" t="t" r="r" b="b"/>
              <a:pathLst>
                <a:path w="21322178" h="1006626">
                  <a:moveTo>
                    <a:pt x="0" y="0"/>
                  </a:moveTo>
                  <a:lnTo>
                    <a:pt x="21322178" y="0"/>
                  </a:lnTo>
                  <a:lnTo>
                    <a:pt x="2132217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62728" b="-362728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21322182" cy="10352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845"/>
                </a:lnSpc>
              </a:pPr>
              <a:r>
                <a:rPr lang="en-US" sz="5704" b="1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БЛАГОДАРИМ ЗА ВНИМАНИЕТО!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78569" y="5971127"/>
            <a:ext cx="15099392" cy="480431"/>
            <a:chOff x="0" y="0"/>
            <a:chExt cx="20132523" cy="64057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132529" cy="640580"/>
            </a:xfrm>
            <a:custGeom>
              <a:avLst/>
              <a:gdLst/>
              <a:ahLst/>
              <a:cxnLst/>
              <a:rect l="l" t="t" r="r" b="b"/>
              <a:pathLst>
                <a:path w="20132529" h="640580">
                  <a:moveTo>
                    <a:pt x="0" y="0"/>
                  </a:moveTo>
                  <a:lnTo>
                    <a:pt x="20132529" y="0"/>
                  </a:lnTo>
                  <a:lnTo>
                    <a:pt x="20132529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62387" b="-562386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20132523" cy="6596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2"/>
                </a:lnSpc>
              </a:pPr>
              <a:r>
                <a:rPr lang="en-US" sz="2702" i="1">
                  <a:solidFill>
                    <a:srgbClr val="DCEBFF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„Образование без граници – стратегии и умения за учители на новото време“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383014" y="7196995"/>
            <a:ext cx="9559138" cy="787765"/>
            <a:chOff x="0" y="0"/>
            <a:chExt cx="12745517" cy="105035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745593" cy="1050417"/>
            </a:xfrm>
            <a:custGeom>
              <a:avLst/>
              <a:gdLst/>
              <a:ahLst/>
              <a:cxnLst/>
              <a:rect l="l" t="t" r="r" b="b"/>
              <a:pathLst>
                <a:path w="12745593" h="1050417">
                  <a:moveTo>
                    <a:pt x="0" y="150114"/>
                  </a:moveTo>
                  <a:cubicBezTo>
                    <a:pt x="0" y="67183"/>
                    <a:pt x="67183" y="0"/>
                    <a:pt x="150114" y="0"/>
                  </a:cubicBezTo>
                  <a:lnTo>
                    <a:pt x="12595479" y="0"/>
                  </a:lnTo>
                  <a:cubicBezTo>
                    <a:pt x="12678411" y="0"/>
                    <a:pt x="12745593" y="67183"/>
                    <a:pt x="12745593" y="150114"/>
                  </a:cubicBezTo>
                  <a:lnTo>
                    <a:pt x="12745593" y="900303"/>
                  </a:lnTo>
                  <a:cubicBezTo>
                    <a:pt x="12745593" y="983234"/>
                    <a:pt x="12678411" y="1050417"/>
                    <a:pt x="12595479" y="1050417"/>
                  </a:cubicBezTo>
                  <a:lnTo>
                    <a:pt x="150114" y="1050417"/>
                  </a:lnTo>
                  <a:cubicBezTo>
                    <a:pt x="67183" y="1050290"/>
                    <a:pt x="0" y="983107"/>
                    <a:pt x="0" y="900303"/>
                  </a:cubicBezTo>
                  <a:close/>
                </a:path>
              </a:pathLst>
            </a:custGeom>
            <a:solidFill>
              <a:srgbClr val="FFDD57"/>
            </a:solidFill>
            <a:ln w="19065" cap="sq">
              <a:solidFill>
                <a:srgbClr val="FFDD57"/>
              </a:solidFill>
              <a:prstDash val="solid"/>
              <a:miter/>
            </a:ln>
          </p:spPr>
          <p:txBody>
            <a:bodyPr/>
            <a:lstStyle/>
            <a:p>
              <a:endParaRPr lang="en-BG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598451" y="7453608"/>
            <a:ext cx="9128274" cy="178451"/>
            <a:chOff x="0" y="0"/>
            <a:chExt cx="12171032" cy="23793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2171028" cy="237930"/>
            </a:xfrm>
            <a:custGeom>
              <a:avLst/>
              <a:gdLst/>
              <a:ahLst/>
              <a:cxnLst/>
              <a:rect l="l" t="t" r="r" b="b"/>
              <a:pathLst>
                <a:path w="12171028" h="237930">
                  <a:moveTo>
                    <a:pt x="0" y="0"/>
                  </a:moveTo>
                  <a:lnTo>
                    <a:pt x="12171028" y="0"/>
                  </a:lnTo>
                  <a:lnTo>
                    <a:pt x="12171028" y="237930"/>
                  </a:lnTo>
                  <a:lnTo>
                    <a:pt x="0" y="23793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946733" b="-946735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12171032" cy="2569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 b="1">
                  <a:solidFill>
                    <a:srgbClr val="002B5C"/>
                  </a:solidFill>
                  <a:latin typeface="Arial Bold"/>
                  <a:ea typeface="Arial Bold"/>
                  <a:cs typeface="Arial Bold"/>
                  <a:sym typeface="Arial Bold"/>
                </a:rPr>
                <a:t>Проект № 2025-1-BG01-KA121-SCH-000334641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059010" y="8716470"/>
            <a:ext cx="14207157" cy="541830"/>
            <a:chOff x="0" y="0"/>
            <a:chExt cx="18942876" cy="722439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8942879" cy="722443"/>
            </a:xfrm>
            <a:custGeom>
              <a:avLst/>
              <a:gdLst/>
              <a:ahLst/>
              <a:cxnLst/>
              <a:rect l="l" t="t" r="r" b="b"/>
              <a:pathLst>
                <a:path w="18942879" h="722443">
                  <a:moveTo>
                    <a:pt x="0" y="0"/>
                  </a:moveTo>
                  <a:lnTo>
                    <a:pt x="18942879" y="0"/>
                  </a:lnTo>
                  <a:lnTo>
                    <a:pt x="18942879" y="722443"/>
                  </a:lnTo>
                  <a:lnTo>
                    <a:pt x="0" y="7224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88108" b="-433709"/>
              </a:stretch>
            </a:blipFill>
          </p:spPr>
          <p:txBody>
            <a:bodyPr/>
            <a:lstStyle/>
            <a:p>
              <a:endParaRPr lang="en-BG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19050"/>
              <a:ext cx="18942876" cy="7414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Програма „Еразъм+“ · КД1 · сектор „Училищно образование“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7387116" y="9841278"/>
            <a:ext cx="1018061" cy="377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>
                <a:solidFill>
                  <a:srgbClr val="8A94A6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2326</Words>
  <Application>Microsoft Office PowerPoint</Application>
  <PresentationFormat>Custom</PresentationFormat>
  <Paragraphs>481</Paragraphs>
  <Slides>31</Slides>
  <Notes>31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erasmus_project_slides_1_31.pptx</dc:title>
  <cp:lastModifiedBy>Надежда Петкова</cp:lastModifiedBy>
  <cp:revision>3</cp:revision>
  <dcterms:created xsi:type="dcterms:W3CDTF">2006-08-16T00:00:00Z</dcterms:created>
  <dcterms:modified xsi:type="dcterms:W3CDTF">2026-10-29T10:57:01Z</dcterms:modified>
  <dc:identifier>DAHON7Ri4F8</dc:identifier>
</cp:coreProperties>
</file>