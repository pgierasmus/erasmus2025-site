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8" r:id="rId10"/>
    <p:sldId id="262" r:id="rId11"/>
    <p:sldId id="263" r:id="rId12"/>
    <p:sldId id="265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6EF"/>
    <a:srgbClr val="D44C53"/>
    <a:srgbClr val="83AC4A"/>
    <a:srgbClr val="1163A4"/>
    <a:srgbClr val="F0B321"/>
    <a:srgbClr val="FFFFFF"/>
    <a:srgbClr val="02538E"/>
    <a:srgbClr val="F1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8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5548B-1639-4F28-9515-860915D949AC}" type="datetimeFigureOut">
              <a:rPr lang="bg-BG" smtClean="0"/>
              <a:t>29.10.2026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A5A4B-905D-419C-B5EE-05A90B178E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27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A5A4B-905D-419C-B5EE-05A90B178E40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70980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E6786439-8289-4AF3-9C35-3EC05D38D25D}"/>
              </a:ext>
            </a:extLst>
          </p:cNvPr>
          <p:cNvSpPr txBox="1"/>
          <p:nvPr/>
        </p:nvSpPr>
        <p:spPr>
          <a:xfrm>
            <a:off x="8890000" y="2209800"/>
            <a:ext cx="6629400" cy="2585323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bg-BG" sz="5400" b="1" kern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“Четирите К: </a:t>
            </a:r>
          </a:p>
          <a:p>
            <a:pPr algn="ctr"/>
            <a:r>
              <a:rPr lang="bg-BG" sz="3400" b="1" kern="0" dirty="0">
                <a:solidFill>
                  <a:srgbClr val="F0B32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креативност</a:t>
            </a:r>
            <a:r>
              <a:rPr lang="bg-BG" sz="3400" b="1" kern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</a:t>
            </a:r>
            <a:r>
              <a:rPr lang="bg-BG" sz="3400" b="1" kern="0" dirty="0">
                <a:solidFill>
                  <a:srgbClr val="1163A4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критично мислене</a:t>
            </a:r>
            <a:r>
              <a:rPr lang="bg-BG" sz="3400" b="1" kern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</a:t>
            </a:r>
            <a:r>
              <a:rPr lang="bg-BG" sz="3400" b="1" kern="0" dirty="0">
                <a:solidFill>
                  <a:srgbClr val="83AC4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комуникация </a:t>
            </a:r>
            <a:r>
              <a:rPr lang="bg-BG" sz="3400" b="1" kern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и </a:t>
            </a:r>
            <a:r>
              <a:rPr lang="bg-BG" sz="3400" b="1" kern="0" dirty="0">
                <a:solidFill>
                  <a:srgbClr val="D44C53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колаборация</a:t>
            </a:r>
            <a:r>
              <a:rPr lang="bg-BG" sz="3400" b="1" kern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в училищата“</a:t>
            </a:r>
            <a:endParaRPr lang="bg-BG" sz="3400" dirty="0"/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7694D31D-4907-4348-B974-A43C42508535}"/>
              </a:ext>
            </a:extLst>
          </p:cNvPr>
          <p:cNvSpPr txBox="1"/>
          <p:nvPr/>
        </p:nvSpPr>
        <p:spPr>
          <a:xfrm>
            <a:off x="13081000" y="6229290"/>
            <a:ext cx="2133600" cy="400110"/>
          </a:xfrm>
          <a:prstGeom prst="rect">
            <a:avLst/>
          </a:prstGeom>
          <a:solidFill>
            <a:srgbClr val="DEE6EF"/>
          </a:solidFill>
        </p:spPr>
        <p:txBody>
          <a:bodyPr wrap="square">
            <a:spAutoFit/>
          </a:bodyPr>
          <a:lstStyle/>
          <a:p>
            <a:r>
              <a:rPr lang="bg-BG" sz="2000" b="1" kern="0" dirty="0">
                <a:latin typeface="Times New Roman" panose="02020603050405020304" pitchFamily="18" charset="0"/>
                <a:ea typeface="MS Mincho" panose="02020609040205080304" pitchFamily="49" charset="-128"/>
              </a:rPr>
              <a:t>„</a:t>
            </a:r>
            <a:r>
              <a:rPr lang="bg-BG" sz="2000" b="1" kern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Четирите К“</a:t>
            </a:r>
            <a:endParaRPr lang="bg-BG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498B0DE3-30FD-41C0-94D4-4D5FB96BF036}"/>
              </a:ext>
            </a:extLst>
          </p:cNvPr>
          <p:cNvSpPr txBox="1"/>
          <p:nvPr/>
        </p:nvSpPr>
        <p:spPr>
          <a:xfrm>
            <a:off x="203200" y="3276600"/>
            <a:ext cx="15849600" cy="5432256"/>
          </a:xfrm>
          <a:prstGeom prst="rect">
            <a:avLst/>
          </a:prstGeom>
          <a:solidFill>
            <a:srgbClr val="F1F9FC"/>
          </a:solidFill>
          <a:ln w="76200">
            <a:solidFill>
              <a:srgbClr val="02538E"/>
            </a:solidFill>
          </a:ln>
        </p:spPr>
        <p:txBody>
          <a:bodyPr wrap="square" rtlCol="0">
            <a:spAutoFit/>
          </a:bodyPr>
          <a:lstStyle/>
          <a:p>
            <a:r>
              <a:rPr lang="bg-BG" sz="3500" b="1" dirty="0"/>
              <a:t>  </a:t>
            </a:r>
            <a:r>
              <a:rPr lang="bg-BG" sz="3500" b="1" dirty="0">
                <a:solidFill>
                  <a:srgbClr val="C00000"/>
                </a:solidFill>
              </a:rPr>
              <a:t>1. </a:t>
            </a:r>
            <a:r>
              <a:rPr lang="bg-BG" sz="3500" b="1" dirty="0"/>
              <a:t>Държач за листи и документи. 		</a:t>
            </a:r>
            <a:r>
              <a:rPr lang="bg-BG" sz="3500" b="1" dirty="0">
                <a:solidFill>
                  <a:srgbClr val="C00000"/>
                </a:solidFill>
              </a:rPr>
              <a:t>9. </a:t>
            </a:r>
            <a:r>
              <a:rPr lang="bg-BG" sz="3500" b="1" dirty="0"/>
              <a:t>Временно фиксиране на подгъв.</a:t>
            </a:r>
          </a:p>
          <a:p>
            <a:r>
              <a:rPr lang="bg-BG" sz="3500" b="1" dirty="0"/>
              <a:t>  </a:t>
            </a:r>
            <a:r>
              <a:rPr lang="bg-BG" sz="3500" b="1" dirty="0">
                <a:solidFill>
                  <a:srgbClr val="C00000"/>
                </a:solidFill>
              </a:rPr>
              <a:t>2. </a:t>
            </a:r>
            <a:r>
              <a:rPr lang="bg-BG" sz="3500" b="1" dirty="0"/>
              <a:t>Щипка за пари.			 			</a:t>
            </a:r>
            <a:r>
              <a:rPr lang="bg-BG" sz="3500" b="1" dirty="0">
                <a:solidFill>
                  <a:srgbClr val="C00000"/>
                </a:solidFill>
              </a:rPr>
              <a:t>10.</a:t>
            </a:r>
            <a:r>
              <a:rPr lang="bg-BG" sz="3500" b="1" dirty="0"/>
              <a:t> Кука за коледни играчки.</a:t>
            </a:r>
          </a:p>
          <a:p>
            <a:r>
              <a:rPr lang="bg-BG" sz="3500" b="1" dirty="0"/>
              <a:t>  </a:t>
            </a:r>
            <a:r>
              <a:rPr lang="bg-BG" sz="3500" b="1" dirty="0">
                <a:solidFill>
                  <a:srgbClr val="C00000"/>
                </a:solidFill>
              </a:rPr>
              <a:t>3. </a:t>
            </a:r>
            <a:r>
              <a:rPr lang="bg-BG" sz="3500" b="1" dirty="0"/>
              <a:t>Разделител за книги.				</a:t>
            </a:r>
            <a:r>
              <a:rPr lang="bg-BG" sz="3500" b="1" dirty="0">
                <a:solidFill>
                  <a:srgbClr val="C00000"/>
                </a:solidFill>
              </a:rPr>
              <a:t>11. </a:t>
            </a:r>
            <a:r>
              <a:rPr lang="bg-BG" sz="3500" b="1" dirty="0"/>
              <a:t>Отпушване на дюзи - например </a:t>
            </a:r>
          </a:p>
          <a:p>
            <a:r>
              <a:rPr lang="bg-BG" sz="3500" b="1" dirty="0"/>
              <a:t>  </a:t>
            </a:r>
            <a:r>
              <a:rPr lang="bg-BG" sz="3500" b="1" dirty="0">
                <a:solidFill>
                  <a:srgbClr val="C00000"/>
                </a:solidFill>
              </a:rPr>
              <a:t>4.</a:t>
            </a:r>
            <a:r>
              <a:rPr lang="bg-BG" sz="3500" b="1" dirty="0"/>
              <a:t> Дръжка за счупен цип.			                кафемашината в училище.</a:t>
            </a:r>
          </a:p>
          <a:p>
            <a:r>
              <a:rPr lang="bg-BG" sz="3500" b="1" dirty="0"/>
              <a:t>  </a:t>
            </a:r>
            <a:r>
              <a:rPr lang="bg-BG" sz="3500" b="1" dirty="0">
                <a:solidFill>
                  <a:srgbClr val="C00000"/>
                </a:solidFill>
              </a:rPr>
              <a:t>5. </a:t>
            </a:r>
            <a:r>
              <a:rPr lang="bg-BG" sz="3500" b="1" dirty="0"/>
              <a:t>Отключване на ключалка. 			</a:t>
            </a:r>
            <a:r>
              <a:rPr lang="bg-BG" sz="3500" b="1" dirty="0">
                <a:solidFill>
                  <a:srgbClr val="C00000"/>
                </a:solidFill>
              </a:rPr>
              <a:t>12.</a:t>
            </a:r>
            <a:r>
              <a:rPr lang="bg-BG" sz="3500" b="1" dirty="0"/>
              <a:t> Навиване и прибиране кабели.</a:t>
            </a:r>
          </a:p>
          <a:p>
            <a:r>
              <a:rPr lang="bg-BG" sz="3500" b="1" dirty="0"/>
              <a:t>  </a:t>
            </a:r>
            <a:r>
              <a:rPr lang="bg-BG" sz="3500" b="1" dirty="0">
                <a:solidFill>
                  <a:srgbClr val="C00000"/>
                </a:solidFill>
              </a:rPr>
              <a:t>6.</a:t>
            </a:r>
            <a:r>
              <a:rPr lang="bg-BG" sz="3500" b="1" dirty="0"/>
              <a:t> Изваждане на SIM карта.		 	</a:t>
            </a:r>
            <a:r>
              <a:rPr lang="bg-BG" sz="3500" b="1" dirty="0">
                <a:solidFill>
                  <a:srgbClr val="C00000"/>
                </a:solidFill>
              </a:rPr>
              <a:t>13.</a:t>
            </a:r>
            <a:r>
              <a:rPr lang="bg-BG" sz="3500" b="1" dirty="0"/>
              <a:t> Намиране на края на тиксото.</a:t>
            </a:r>
          </a:p>
          <a:p>
            <a:r>
              <a:rPr lang="bg-BG" sz="3500" b="1" dirty="0"/>
              <a:t>  </a:t>
            </a:r>
            <a:r>
              <a:rPr lang="bg-BG" sz="3500" b="1" dirty="0">
                <a:solidFill>
                  <a:srgbClr val="C00000"/>
                </a:solidFill>
              </a:rPr>
              <a:t>7.</a:t>
            </a:r>
            <a:r>
              <a:rPr lang="bg-BG" sz="3500" b="1" dirty="0"/>
              <a:t> Рестартиране на електроника			</a:t>
            </a:r>
            <a:r>
              <a:rPr lang="bg-BG" sz="3500" b="1" dirty="0">
                <a:solidFill>
                  <a:srgbClr val="C00000"/>
                </a:solidFill>
              </a:rPr>
              <a:t>14.</a:t>
            </a:r>
            <a:r>
              <a:rPr lang="bg-BG" sz="3500" b="1" dirty="0"/>
              <a:t> Мини отвертка - например на                	натискане на вдлъбнати бутони.		       рамки за очила.</a:t>
            </a:r>
          </a:p>
          <a:p>
            <a:r>
              <a:rPr lang="bg-BG" sz="3500" b="1" dirty="0"/>
              <a:t>  </a:t>
            </a:r>
            <a:r>
              <a:rPr lang="bg-BG" sz="3500" b="1" dirty="0">
                <a:solidFill>
                  <a:srgbClr val="C00000"/>
                </a:solidFill>
              </a:rPr>
              <a:t>8. </a:t>
            </a:r>
            <a:r>
              <a:rPr lang="bg-BG" sz="3500" b="1" dirty="0"/>
              <a:t>Прибиране на презрамки на сутиен. 	</a:t>
            </a:r>
            <a:r>
              <a:rPr lang="bg-BG" sz="3500" b="1" dirty="0">
                <a:solidFill>
                  <a:srgbClr val="C00000"/>
                </a:solidFill>
              </a:rPr>
              <a:t>15. </a:t>
            </a:r>
            <a:r>
              <a:rPr lang="bg-BG" sz="3500" b="1" dirty="0"/>
              <a:t>Гривна, гердан, дръжка на чанта.</a:t>
            </a:r>
          </a:p>
          <a:p>
            <a:r>
              <a:rPr lang="ru-RU" sz="3200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05660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1400D706-08FA-4240-AF40-A34DA5CD25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245" r="10204" b="3948"/>
          <a:stretch/>
        </p:blipFill>
        <p:spPr>
          <a:xfrm>
            <a:off x="12166600" y="1295400"/>
            <a:ext cx="35052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5FE589B2-0A31-43CA-AF05-D51C33308A06}"/>
              </a:ext>
            </a:extLst>
          </p:cNvPr>
          <p:cNvSpPr txBox="1"/>
          <p:nvPr/>
        </p:nvSpPr>
        <p:spPr>
          <a:xfrm>
            <a:off x="1422400" y="226675"/>
            <a:ext cx="13639800" cy="869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bg-BG" sz="4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Преди 21 век </a:t>
            </a:r>
            <a:endParaRPr lang="bg-BG" sz="40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Запомняне на факти: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Наизустяване на дати, формули и дефиниции.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Калиграфия: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Прецизно и красиво писане на ръка с мастило.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Аритметика наум: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Смятане на сложни уравнения без калкулатор.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Линейно четене: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Извличане на информация само от един печатен източник (учебник).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Следване на инструкции: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Точно изпълнение на заповеди в строго йерархична среда.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Индивидуална изолация: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Самостоятелно учене и решаване на изпити без чужда помощ.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Тясна специализация: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Подготовка за една конкретна професия за цял живот.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Техническо чертане: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Ръчно изчертаване на схеми с молив, линия и пергел.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Стенография: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Бързо записване на говор чрез специални знаци.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Машинопис: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Работа с механична пишеща машина с правилна пръстова техника.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Конформизъм: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Асимилиране в групата и избягване на силно индивидуално изразяване.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Работа с библиотеки: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Търсене на информация чрез картотеки и каталози.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Поправка на вещи: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Основни битови умения (шиене, дърводелство, металообработване).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Публично рецитиране: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Изказване пред публика чрез предварително научен наизуст текст.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Картография: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Ориентиране по физическа хартиена карта и компас без GPS система.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509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748FC316-3F68-47FF-91CA-319BBC4A8349}"/>
              </a:ext>
            </a:extLst>
          </p:cNvPr>
          <p:cNvSpPr txBox="1"/>
          <p:nvPr/>
        </p:nvSpPr>
        <p:spPr>
          <a:xfrm>
            <a:off x="8812" y="226675"/>
            <a:ext cx="16129000" cy="869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bg-BG" sz="4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След 21 век </a:t>
            </a:r>
            <a:endParaRPr lang="bg-BG" sz="40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Дигитална грамотност: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Използване на софтуер, облачни технологии и изкуствен интелект.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Програмиране: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Разбиране на алгоритми.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Критично мислене: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Различаване на факти от дезинформация и фалшиви новини.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Медийна хигиена: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Филтриране на информационния шум в социалните мрежи.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Киберсигурност: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Защита на личните данни и дигиталната идентичност в мрежата.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Проектно мислене: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Управление на задачи по роли, срокове и ресурси.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Глобална колаборация: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Работа в екип с хора от различни култури и часови зони.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Адаптивност: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Способност за бързо преквалифициране поради изчезващи професии.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Емоционална интелигентност: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Развиване на емпатия, самоконтрол и управление на стреса.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Креативно решаване на проблеми: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Дивергентно мислене за намиране на нестандартни решения.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Финансова грамотност: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Управление на личен бюджет, инвестиции, данъци и дигитални разплащания.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Презентационни умения: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Защита на собствени идеи и проекти пред публика по увлекателен начин.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Учене през целия живот: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Самостоятелно откриване на онлайн курсове и нови знания.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Екологично съзнание: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Разбиране на устойчивото развитие и въглеродния отпечатък.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bg-BG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Интердисциплинарност:</a:t>
            </a:r>
            <a:r>
              <a:rPr lang="bg-BG" sz="2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Свързване на знания от коренно различни сфери (напр. биология и технологии).</a:t>
            </a:r>
            <a:endParaRPr lang="bg-B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91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559</Words>
  <Application>Microsoft Office PowerPoint</Application>
  <PresentationFormat>Custom</PresentationFormat>
  <Paragraphs>45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cp:lastModifiedBy>Галина Юнакова</cp:lastModifiedBy>
  <cp:revision>9</cp:revision>
  <dcterms:created xsi:type="dcterms:W3CDTF">2006-08-16T00:00:00Z</dcterms:created>
  <dcterms:modified xsi:type="dcterms:W3CDTF">2026-10-29T10:44:14Z</dcterms:modified>
</cp:coreProperties>
</file>